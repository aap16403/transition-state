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86868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3900" b="1">
                <a:solidFill>
                  <a:srgbClr val="181F2A"/>
                </a:solidFill>
                <a:latin typeface="Aptos Display"/>
              </a:defRPr>
            </a:pPr>
            <a:r>
              <a:t>PSI Transition-State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149840" cy="8229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700">
                <a:solidFill>
                  <a:srgbClr val="546070"/>
                </a:solidFill>
                <a:latin typeface="Aptos"/>
              </a:defRPr>
            </a:pPr>
            <a:r>
              <a:rPr dirty="0"/>
              <a:t>Algorithm-focused implementation review: data triplets, invariant geometry learning, EGNN coordinate </a:t>
            </a:r>
            <a:endParaRPr lang="en-US" dirty="0"/>
          </a:p>
          <a:p>
            <a:pPr>
              <a:defRPr sz="1700">
                <a:solidFill>
                  <a:srgbClr val="546070"/>
                </a:solidFill>
                <a:latin typeface="Aptos"/>
              </a:defRPr>
            </a:pPr>
            <a:r>
              <a:rPr dirty="0"/>
              <a:t>refinement, </a:t>
            </a:r>
            <a:r>
              <a:rPr dirty="0" err="1"/>
              <a:t>Ea</a:t>
            </a:r>
            <a:r>
              <a:rPr dirty="0"/>
              <a:t> regression, and inference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429000"/>
            <a:ext cx="1965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>
            <a:normAutofit/>
          </a:bodyPr>
          <a:lstStyle/>
          <a:p>
            <a:pPr algn="ctr"/>
            <a:r>
              <a:rPr sz="2300" b="1">
                <a:solidFill>
                  <a:srgbClr val="2A63B5"/>
                </a:solidFill>
                <a:latin typeface="Aptos"/>
              </a:rPr>
              <a:t>5,000</a:t>
            </a:r>
          </a:p>
          <a:p>
            <a:pPr algn="ctr">
              <a:defRPr sz="950">
                <a:solidFill>
                  <a:srgbClr val="546070"/>
                </a:solidFill>
                <a:latin typeface="Aptos"/>
              </a:defRPr>
            </a:pPr>
            <a:r>
              <a:t>evaluated reactions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3429000"/>
            <a:ext cx="1965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>
            <a:normAutofit/>
          </a:bodyPr>
          <a:lstStyle/>
          <a:p>
            <a:pPr algn="ctr"/>
            <a:r>
              <a:rPr sz="2300" b="1">
                <a:solidFill>
                  <a:srgbClr val="00897B"/>
                </a:solidFill>
                <a:latin typeface="Aptos"/>
              </a:rPr>
              <a:t>8.02</a:t>
            </a:r>
          </a:p>
          <a:p>
            <a:pPr algn="ctr">
              <a:defRPr sz="950">
                <a:solidFill>
                  <a:srgbClr val="546070"/>
                </a:solidFill>
                <a:latin typeface="Aptos"/>
              </a:defRPr>
            </a:pPr>
            <a:r>
              <a:t>val Ea MAE kcal/mol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3429000"/>
            <a:ext cx="1965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>
            <a:normAutofit/>
          </a:bodyPr>
          <a:lstStyle/>
          <a:p>
            <a:pPr algn="ctr"/>
            <a:r>
              <a:rPr sz="2300" b="1">
                <a:solidFill>
                  <a:srgbClr val="D97706"/>
                </a:solidFill>
                <a:latin typeface="Aptos"/>
              </a:rPr>
              <a:t>0.1609</a:t>
            </a:r>
          </a:p>
          <a:p>
            <a:pPr algn="ctr">
              <a:defRPr sz="950">
                <a:solidFill>
                  <a:srgbClr val="546070"/>
                </a:solidFill>
                <a:latin typeface="Aptos"/>
              </a:defRPr>
            </a:pPr>
            <a:r>
              <a:t>val distance MAE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3429000"/>
            <a:ext cx="1965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>
            <a:normAutofit/>
          </a:bodyPr>
          <a:lstStyle/>
          <a:p>
            <a:pPr algn="ctr"/>
            <a:r>
              <a:rPr sz="2300" b="1">
                <a:solidFill>
                  <a:srgbClr val="6D28D9"/>
                </a:solidFill>
                <a:latin typeface="Aptos"/>
              </a:rPr>
              <a:t>0.804</a:t>
            </a:r>
          </a:p>
          <a:p>
            <a:pPr algn="ctr">
              <a:defRPr sz="950">
                <a:solidFill>
                  <a:srgbClr val="546070"/>
                </a:solidFill>
                <a:latin typeface="Aptos"/>
              </a:defRPr>
            </a:pPr>
            <a:r>
              <a:t>val Ea R2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892040"/>
            <a:ext cx="10149840" cy="713232"/>
          </a:xfrm>
          <a:prstGeom prst="roundRect">
            <a:avLst/>
          </a:prstGeom>
          <a:solidFill>
            <a:srgbClr val="EEF4FF"/>
          </a:solidFill>
          <a:ln>
            <a:solidFill>
              <a:srgbClr val="2A6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rtlCol="0" anchor="ctr">
            <a:normAutofit/>
          </a:bodyPr>
          <a:lstStyle/>
          <a:p>
            <a:pPr algn="ctr">
              <a:defRPr sz="1320" b="1">
                <a:solidFill>
                  <a:srgbClr val="2A63B5"/>
                </a:solidFill>
                <a:latin typeface="Aptos"/>
              </a:defRPr>
            </a:pPr>
            <a:r>
              <a:t>Core idea: learn the TS distance matrix from reactant/product distances, embed it into 3D, refine coordinates equivariantly, then predict Ea from the refined TS representation.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1078992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800">
                <a:solidFill>
                  <a:srgbClr val="546070"/>
                </a:solidFill>
                <a:latin typeface="Aptos"/>
              </a:defRPr>
            </a:pPr>
            <a:r>
              <a:t>PSI Transition-State Prediction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900" b="1">
                <a:solidFill>
                  <a:srgbClr val="00897B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900" b="1">
                <a:solidFill>
                  <a:srgbClr val="181F2A"/>
                </a:solidFill>
                <a:latin typeface="Aptos Display"/>
              </a:defRPr>
            </a:pPr>
            <a:r>
              <a:t>Data Assembly and Targets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21792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just">
              <a:spcAft>
                <a:spcPts val="300"/>
              </a:spcAft>
              <a:defRPr sz="1360">
                <a:solidFill>
                  <a:srgbClr val="181F2A"/>
                </a:solidFill>
                <a:latin typeface="Aptos"/>
              </a:defRPr>
            </a:pPr>
            <a:r>
              <a:rPr dirty="0" err="1"/>
              <a:t>build_reaction_samples</a:t>
            </a:r>
            <a:r>
              <a:rPr dirty="0"/>
              <a:t> reads </a:t>
            </a:r>
            <a:r>
              <a:rPr dirty="0" err="1"/>
              <a:t>extracted_dataset.json</a:t>
            </a:r>
            <a:r>
              <a:rPr dirty="0"/>
              <a:t> once, groups filenames by reaction ID, and keeps only complete reactant/product/TS triplets.</a:t>
            </a:r>
          </a:p>
          <a:p>
            <a:pPr algn="just">
              <a:spcAft>
                <a:spcPts val="300"/>
              </a:spcAft>
              <a:defRPr sz="1360">
                <a:solidFill>
                  <a:srgbClr val="181F2A"/>
                </a:solidFill>
                <a:latin typeface="Aptos"/>
              </a:defRPr>
            </a:pPr>
            <a:r>
              <a:rPr dirty="0"/>
              <a:t>Atom order is taken from the TS entry and reused for reactant and product tensors; samples above </a:t>
            </a:r>
            <a:r>
              <a:rPr dirty="0" err="1"/>
              <a:t>max_atoms</a:t>
            </a:r>
            <a:r>
              <a:rPr dirty="0"/>
              <a:t> are skipped before padding.</a:t>
            </a:r>
          </a:p>
          <a:p>
            <a:pPr algn="just">
              <a:spcAft>
                <a:spcPts val="300"/>
              </a:spcAft>
              <a:defRPr sz="1360">
                <a:solidFill>
                  <a:srgbClr val="181F2A"/>
                </a:solidFill>
                <a:latin typeface="Aptos"/>
              </a:defRPr>
            </a:pPr>
            <a:r>
              <a:rPr dirty="0" err="1"/>
              <a:t>Ea</a:t>
            </a:r>
            <a:r>
              <a:rPr dirty="0"/>
              <a:t> target is (E_TS - max(E_R, E_P)) * 627.509 kcal/mol. Negative targets are skipped when </a:t>
            </a:r>
            <a:r>
              <a:rPr dirty="0" err="1"/>
              <a:t>skip_negative_ea</a:t>
            </a:r>
            <a:r>
              <a:rPr dirty="0"/>
              <a:t> is enabled.</a:t>
            </a:r>
          </a:p>
          <a:p>
            <a:pPr algn="just">
              <a:spcAft>
                <a:spcPts val="300"/>
              </a:spcAft>
              <a:defRPr sz="1360">
                <a:solidFill>
                  <a:srgbClr val="181F2A"/>
                </a:solidFill>
                <a:latin typeface="Aptos"/>
              </a:defRPr>
            </a:pPr>
            <a:r>
              <a:rPr dirty="0"/>
              <a:t>The true TS target is a padded D_TS pairwise distance matrix, so supervision is invariant to global rotation and translation.</a:t>
            </a:r>
          </a:p>
          <a:p>
            <a:pPr algn="just">
              <a:spcAft>
                <a:spcPts val="300"/>
              </a:spcAft>
              <a:defRPr sz="1360">
                <a:solidFill>
                  <a:srgbClr val="181F2A"/>
                </a:solidFill>
                <a:latin typeface="Aptos"/>
              </a:defRPr>
            </a:pPr>
            <a:r>
              <a:rPr dirty="0"/>
              <a:t>A TS-fragment geometry mask is precomputed from covalent-radius connectivity so loss ignores padding and disconnected cross-fragment distances.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371600"/>
            <a:ext cx="17830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>
            <a:normAutofit/>
          </a:bodyPr>
          <a:lstStyle/>
          <a:p>
            <a:pPr algn="ctr"/>
            <a:r>
              <a:rPr sz="2300" b="1">
                <a:solidFill>
                  <a:srgbClr val="2A63B5"/>
                </a:solidFill>
                <a:latin typeface="Aptos"/>
              </a:rPr>
              <a:t>16,000</a:t>
            </a:r>
          </a:p>
          <a:p>
            <a:pPr algn="ctr">
              <a:defRPr sz="950">
                <a:solidFill>
                  <a:srgbClr val="546070"/>
                </a:solidFill>
                <a:latin typeface="Aptos"/>
              </a:defRPr>
            </a:pPr>
            <a:r>
              <a:t>raw entries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1371600"/>
            <a:ext cx="17830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>
            <a:normAutofit/>
          </a:bodyPr>
          <a:lstStyle/>
          <a:p>
            <a:pPr algn="ctr"/>
            <a:r>
              <a:rPr sz="2300" b="1">
                <a:solidFill>
                  <a:srgbClr val="2E7D32"/>
                </a:solidFill>
                <a:latin typeface="Aptos"/>
              </a:rPr>
              <a:t>5,320</a:t>
            </a:r>
          </a:p>
          <a:p>
            <a:pPr algn="ctr">
              <a:defRPr sz="950">
                <a:solidFill>
                  <a:srgbClr val="546070"/>
                </a:solidFill>
                <a:latin typeface="Aptos"/>
              </a:defRPr>
            </a:pPr>
            <a:r>
              <a:t>complete triplets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78040" y="2514600"/>
          <a:ext cx="3977639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4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4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44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Split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Avg atoms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Range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defRPr sz="96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13.5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4-21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defRPr sz="96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13.6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6-21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defRPr sz="96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13.5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4-21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178040" y="4343400"/>
            <a:ext cx="3977639" cy="713232"/>
          </a:xfrm>
          <a:prstGeom prst="roundRect">
            <a:avLst/>
          </a:prstGeom>
          <a:solidFill>
            <a:srgbClr val="EEF4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rtlCol="0" anchor="ctr">
            <a:normAutofit/>
          </a:bodyPr>
          <a:lstStyle/>
          <a:p>
            <a:pPr algn="ctr">
              <a:defRPr sz="1120" b="1">
                <a:solidFill>
                  <a:srgbClr val="00897B"/>
                </a:solidFill>
                <a:latin typeface="Aptos"/>
              </a:defRPr>
            </a:pPr>
            <a:r>
              <a:t>This slide replaces broad motivation with the actual target definition and sample filtering logic used by the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37960"/>
            <a:ext cx="1078992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800">
                <a:solidFill>
                  <a:srgbClr val="546070"/>
                </a:solidFill>
                <a:latin typeface="Aptos"/>
              </a:defRPr>
            </a:pPr>
            <a:r>
              <a:t>PSI Transition-State Prediction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900" b="1">
                <a:solidFill>
                  <a:srgbClr val="00897B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900" b="1">
                <a:solidFill>
                  <a:srgbClr val="181F2A"/>
                </a:solidFill>
                <a:latin typeface="Aptos Display"/>
              </a:defRPr>
            </a:pPr>
            <a:r>
              <a:t>Feature Tensor Construction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608076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just">
              <a:spcAft>
                <a:spcPts val="300"/>
              </a:spcAft>
              <a:defRPr sz="1400">
                <a:solidFill>
                  <a:srgbClr val="181F2A"/>
                </a:solidFill>
                <a:latin typeface="Aptos"/>
              </a:defRPr>
            </a:pPr>
            <a:r>
              <a:rPr dirty="0" err="1"/>
              <a:t>ReactionDataset</a:t>
            </a:r>
            <a:r>
              <a:rPr dirty="0"/>
              <a:t> optionally adds Gaussian coordinate noise only to R/P coordinates during training; validation uses clean coordinates.</a:t>
            </a:r>
          </a:p>
          <a:p>
            <a:pPr algn="just">
              <a:spcAft>
                <a:spcPts val="300"/>
              </a:spcAft>
              <a:defRPr sz="1400">
                <a:solidFill>
                  <a:srgbClr val="181F2A"/>
                </a:solidFill>
                <a:latin typeface="Aptos"/>
              </a:defRPr>
            </a:pPr>
            <a:r>
              <a:rPr dirty="0"/>
              <a:t>D_R, D_P, and D_I are built from pairwise Euclidean distances. D_I is the midpoint distance matrix used as a stable geometric prior.</a:t>
            </a:r>
          </a:p>
          <a:p>
            <a:pPr algn="just">
              <a:spcAft>
                <a:spcPts val="300"/>
              </a:spcAft>
              <a:defRPr sz="1400">
                <a:solidFill>
                  <a:srgbClr val="181F2A"/>
                </a:solidFill>
                <a:latin typeface="Aptos"/>
              </a:defRPr>
            </a:pPr>
            <a:r>
              <a:rPr dirty="0" err="1"/>
              <a:t>atom_ids</a:t>
            </a:r>
            <a:r>
              <a:rPr dirty="0"/>
              <a:t> feed a learned embedding; </a:t>
            </a:r>
            <a:r>
              <a:rPr dirty="0" err="1"/>
              <a:t>atom_phys</a:t>
            </a:r>
            <a:r>
              <a:rPr dirty="0"/>
              <a:t> adds normalized electronegativity, atomic number, and atomic mass.</a:t>
            </a:r>
          </a:p>
          <a:p>
            <a:pPr algn="just">
              <a:spcAft>
                <a:spcPts val="300"/>
              </a:spcAft>
              <a:defRPr sz="1400">
                <a:solidFill>
                  <a:srgbClr val="181F2A"/>
                </a:solidFill>
                <a:latin typeface="Aptos"/>
              </a:defRPr>
            </a:pPr>
            <a:r>
              <a:rPr dirty="0" err="1"/>
              <a:t>energy_feats</a:t>
            </a:r>
            <a:r>
              <a:rPr dirty="0"/>
              <a:t> is a normalized 20D vector: composition, signed reaction energy, displacement statistics, and bond-angle statistics.</a:t>
            </a:r>
          </a:p>
          <a:p>
            <a:pPr algn="just">
              <a:spcAft>
                <a:spcPts val="300"/>
              </a:spcAft>
              <a:defRPr sz="1400">
                <a:solidFill>
                  <a:srgbClr val="181F2A"/>
                </a:solidFill>
                <a:latin typeface="Aptos"/>
              </a:defRPr>
            </a:pPr>
            <a:r>
              <a:rPr dirty="0"/>
              <a:t>Normalization statistics are computed only on training indices to prevent validation leakage.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086600" y="1417320"/>
          <a:ext cx="4251960" cy="24537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6165"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Tensor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Shape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>
                        <a:defRPr sz="86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D_R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[B,30,30]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Reactant distances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>
                        <a:defRPr sz="86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D_I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[B,30,30]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Midpoint/interpolation prior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>
                        <a:defRPr sz="86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D_P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[B,30,30]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Product distances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>
                        <a:defRPr sz="86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mask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[B,30]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Real atoms vs padding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>
                        <a:defRPr sz="86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geom_mask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[B,30,30]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Pairs included in geometry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170">
                <a:tc>
                  <a:txBody>
                    <a:bodyPr/>
                    <a:lstStyle/>
                    <a:p>
                      <a:pPr algn="l">
                        <a:defRPr sz="86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energy_feats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[B,20]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Global chemistry descriptor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086600" y="4251960"/>
            <a:ext cx="4251960" cy="1325880"/>
          </a:xfrm>
          <a:prstGeom prst="roundRect">
            <a:avLst/>
          </a:prstGeom>
          <a:solidFill>
            <a:srgbClr val="1C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>
            <a:normAutofit/>
          </a:bodyPr>
          <a:lstStyle/>
          <a:p>
            <a:pPr algn="ctr">
              <a:defRPr sz="1030">
                <a:solidFill>
                  <a:srgbClr val="FFFFFF"/>
                </a:solidFill>
                <a:latin typeface="Consolas"/>
              </a:defRPr>
            </a:pPr>
            <a:r>
              <a:t>D_R = pairwise(c_R)</a:t>
            </a:r>
            <a:br/>
            <a:r>
              <a:t>D_P = pairwise(c_P)</a:t>
            </a:r>
            <a:br/>
            <a:r>
              <a:t>D_I = 0.5 * (D_R + D_P)</a:t>
            </a:r>
            <a:br/>
            <a:r>
              <a:t>Ea_norm = (Ea - mean_train) / std_train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37960"/>
            <a:ext cx="1078992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800">
                <a:solidFill>
                  <a:srgbClr val="546070"/>
                </a:solidFill>
                <a:latin typeface="Aptos"/>
              </a:defRPr>
            </a:pPr>
            <a:r>
              <a:t>PSI Transition-State Prediction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900" b="1">
                <a:solidFill>
                  <a:srgbClr val="00897B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900" b="1">
                <a:solidFill>
                  <a:srgbClr val="181F2A"/>
                </a:solidFill>
                <a:latin typeface="Aptos Display"/>
              </a:defRPr>
            </a:pPr>
            <a:r>
              <a:t>End-to-End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0352" y="1481328"/>
            <a:ext cx="1627632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/>
          <a:p>
            <a:pPr algn="ctr"/>
            <a:r>
              <a:rPr sz="1200" b="1">
                <a:solidFill>
                  <a:srgbClr val="2A63B5"/>
                </a:solidFill>
                <a:latin typeface="Aptos"/>
              </a:rPr>
              <a:t>1. Logs</a:t>
            </a:r>
          </a:p>
          <a:p>
            <a:pPr>
              <a:defRPr sz="950">
                <a:solidFill>
                  <a:srgbClr val="546070"/>
                </a:solidFill>
                <a:latin typeface="Aptos"/>
              </a:defRPr>
            </a:pPr>
            <a:r>
              <a:t>Gaussian R/P/TS energies and coordinates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76272" y="1828800"/>
            <a:ext cx="182880" cy="201168"/>
          </a:xfrm>
          <a:prstGeom prst="rightArrow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331720" y="1481328"/>
            <a:ext cx="1627632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/>
          <a:p>
            <a:pPr algn="ctr"/>
            <a:r>
              <a:rPr sz="1200" b="1">
                <a:solidFill>
                  <a:srgbClr val="00897B"/>
                </a:solidFill>
                <a:latin typeface="Aptos"/>
              </a:rPr>
              <a:t>2. Triplets</a:t>
            </a:r>
          </a:p>
          <a:p>
            <a:pPr>
              <a:defRPr sz="950">
                <a:solidFill>
                  <a:srgbClr val="546070"/>
                </a:solidFill>
                <a:latin typeface="Aptos"/>
              </a:defRPr>
            </a:pPr>
            <a:r>
              <a:t>Complete reaction samples with fixed atom order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77639" y="1828800"/>
            <a:ext cx="182880" cy="201168"/>
          </a:xfrm>
          <a:prstGeom prst="rightArrow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33087" y="1481328"/>
            <a:ext cx="1627632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Aptos"/>
              </a:rPr>
              <a:t>3. Tensors</a:t>
            </a:r>
          </a:p>
          <a:p>
            <a:pPr>
              <a:defRPr sz="950">
                <a:solidFill>
                  <a:srgbClr val="546070"/>
                </a:solidFill>
                <a:latin typeface="Aptos"/>
              </a:defRPr>
            </a:pPr>
            <a:r>
              <a:t>D_R, D_I, D_P, masks, atom and energy features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79007" y="1828800"/>
            <a:ext cx="182880" cy="201168"/>
          </a:xfrm>
          <a:prstGeom prst="rightArrow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34456" y="1481328"/>
            <a:ext cx="1627632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/>
          <a:p>
            <a:pPr algn="ctr"/>
            <a:r>
              <a:rPr sz="1200" b="1">
                <a:solidFill>
                  <a:srgbClr val="6D28D9"/>
                </a:solidFill>
                <a:latin typeface="Aptos"/>
              </a:rPr>
              <a:t>4. PSI core</a:t>
            </a:r>
          </a:p>
          <a:p>
            <a:pPr>
              <a:defRPr sz="950">
                <a:solidFill>
                  <a:srgbClr val="546070"/>
                </a:solidFill>
                <a:latin typeface="Aptos"/>
              </a:defRPr>
            </a:pPr>
            <a:r>
              <a:t>Temporal R/I/P encoding plus atom attention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580375" y="1828800"/>
            <a:ext cx="182880" cy="201168"/>
          </a:xfrm>
          <a:prstGeom prst="rightArrow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735823" y="1481328"/>
            <a:ext cx="1627632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/>
          <a:p>
            <a:pPr algn="ctr"/>
            <a:r>
              <a:rPr sz="1200" b="1">
                <a:solidFill>
                  <a:srgbClr val="D97706"/>
                </a:solidFill>
                <a:latin typeface="Aptos"/>
              </a:rPr>
              <a:t>5. Geometry</a:t>
            </a:r>
          </a:p>
          <a:p>
            <a:pPr>
              <a:defRPr sz="950">
                <a:solidFill>
                  <a:srgbClr val="546070"/>
                </a:solidFill>
                <a:latin typeface="Aptos"/>
              </a:defRPr>
            </a:pPr>
            <a:r>
              <a:t>Alpha interpolation and clamped pair delta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381744" y="1828800"/>
            <a:ext cx="182880" cy="201168"/>
          </a:xfrm>
          <a:prstGeom prst="rightArrow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537192" y="1481328"/>
            <a:ext cx="1627632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/>
          <a:p>
            <a:pPr algn="ctr"/>
            <a:r>
              <a:rPr sz="1200" b="1">
                <a:solidFill>
                  <a:srgbClr val="B91C1C"/>
                </a:solidFill>
                <a:latin typeface="Aptos"/>
              </a:rPr>
              <a:t>6. 3D/Ea</a:t>
            </a:r>
          </a:p>
          <a:p>
            <a:pPr>
              <a:defRPr sz="950">
                <a:solidFill>
                  <a:srgbClr val="546070"/>
                </a:solidFill>
                <a:latin typeface="Aptos"/>
              </a:defRPr>
            </a:pPr>
            <a:r>
              <a:t>MDS, EGNN refinement, learned barrier head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63240"/>
            <a:ext cx="9875520" cy="18745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20">
                <a:solidFill>
                  <a:srgbClr val="181F2A"/>
                </a:solidFill>
                <a:latin typeface="Aptos"/>
              </a:defRPr>
            </a:pPr>
            <a:r>
              <a:t>Training path: predict D_TS, embed to coordinates, refine with EGNN, compute geometry losses, and add Ea loss after warmup.</a:t>
            </a:r>
          </a:p>
          <a:p>
            <a:pPr>
              <a:spcAft>
                <a:spcPts val="400"/>
              </a:spcAft>
              <a:defRPr sz="1420">
                <a:solidFill>
                  <a:srgbClr val="181F2A"/>
                </a:solidFill>
                <a:latin typeface="Aptos"/>
              </a:defRPr>
            </a:pPr>
            <a:r>
              <a:t>Evaluation path: post-process the predicted distance matrix, recover fragment-aware coordinates, score geometry and Ea, and store detailed_analysis.json.</a:t>
            </a:r>
          </a:p>
          <a:p>
            <a:pPr>
              <a:spcAft>
                <a:spcPts val="400"/>
              </a:spcAft>
              <a:defRPr sz="1420">
                <a:solidFill>
                  <a:srgbClr val="181F2A"/>
                </a:solidFill>
                <a:latin typeface="Aptos"/>
              </a:defRPr>
            </a:pPr>
            <a:r>
              <a:t>Inference path: reuse the same normalization metadata from the checkpoint, then write JSON plus optional XYZ for quantum-chemistry follow-up.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5394960"/>
            <a:ext cx="9875520" cy="585216"/>
          </a:xfrm>
          <a:prstGeom prst="roundRect">
            <a:avLst/>
          </a:prstGeom>
          <a:solidFill>
            <a:srgbClr val="EEF4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rtlCol="0" anchor="ctr">
            <a:normAutofit/>
          </a:bodyPr>
          <a:lstStyle/>
          <a:p>
            <a:pPr algn="ctr">
              <a:defRPr sz="1230" b="1">
                <a:solidFill>
                  <a:srgbClr val="00897B"/>
                </a:solidFill>
                <a:latin typeface="Aptos"/>
              </a:defRPr>
            </a:pPr>
            <a:r>
              <a:t>The model is not a direct coordinate regressor: it learns invariant distances first, then converts to coordinates only after the pairwise geometry is stable.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37960"/>
            <a:ext cx="1078992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800">
                <a:solidFill>
                  <a:srgbClr val="546070"/>
                </a:solidFill>
                <a:latin typeface="Aptos"/>
              </a:defRPr>
            </a:pPr>
            <a:r>
              <a:t>PSI Transition-State Prediction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900" b="1">
                <a:solidFill>
                  <a:srgbClr val="00897B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900" b="1">
                <a:solidFill>
                  <a:srgbClr val="181F2A"/>
                </a:solidFill>
                <a:latin typeface="Aptos Display"/>
              </a:defRPr>
            </a:pPr>
            <a:r>
              <a:t>PSI Core Encoder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126480" cy="4434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1340">
                <a:solidFill>
                  <a:srgbClr val="181F2A"/>
                </a:solidFill>
                <a:latin typeface="Aptos"/>
              </a:defRPr>
            </a:pPr>
            <a:r>
              <a:t>Each atom row sees all pairwise distances to the other 30 padded positions through 32 Gaussian radial basis channels.</a:t>
            </a:r>
          </a:p>
          <a:p>
            <a:pPr>
              <a:spcAft>
                <a:spcPts val="300"/>
              </a:spcAft>
              <a:defRPr sz="1340">
                <a:solidFill>
                  <a:srgbClr val="181F2A"/>
                </a:solidFill>
                <a:latin typeface="Aptos"/>
              </a:defRPr>
            </a:pPr>
            <a:r>
              <a:t>For every atom, the model builds three state embeddings: reactant, midpoint, and product. Each state also includes atom embedding and physical descriptors.</a:t>
            </a:r>
          </a:p>
          <a:p>
            <a:pPr>
              <a:spcAft>
                <a:spcPts val="300"/>
              </a:spcAft>
              <a:defRPr sz="1340">
                <a:solidFill>
                  <a:srgbClr val="181F2A"/>
                </a:solidFill>
                <a:latin typeface="Aptos"/>
              </a:defRPr>
            </a:pPr>
            <a:r>
              <a:t>A 2-layer bidirectional GRU runs over the R -&gt; I -&gt; P sequence per atom; the midpoint hidden state becomes the atom context.</a:t>
            </a:r>
          </a:p>
          <a:p>
            <a:pPr>
              <a:spcAft>
                <a:spcPts val="300"/>
              </a:spcAft>
              <a:defRPr sz="1340">
                <a:solidFill>
                  <a:srgbClr val="181F2A"/>
                </a:solidFill>
                <a:latin typeface="Aptos"/>
              </a:defRPr>
            </a:pPr>
            <a:r>
              <a:t>Three pre-norm Transformer encoder layers then let atoms exchange global context through self-attention while honoring the padding mask.</a:t>
            </a:r>
          </a:p>
          <a:p>
            <a:pPr>
              <a:spcAft>
                <a:spcPts val="300"/>
              </a:spcAft>
              <a:defRPr sz="1340">
                <a:solidFill>
                  <a:srgbClr val="181F2A"/>
                </a:solidFill>
                <a:latin typeface="Aptos"/>
              </a:defRPr>
            </a:pPr>
            <a:r>
              <a:t>The output is a per-atom latent vector used by the pairwise geometry head.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1417320"/>
            <a:ext cx="388620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/>
          <a:p>
            <a:pPr algn="ctr"/>
            <a:r>
              <a:rPr sz="1200" b="1">
                <a:solidFill>
                  <a:srgbClr val="2A63B5"/>
                </a:solidFill>
                <a:latin typeface="Aptos"/>
              </a:rPr>
              <a:t>GaussianEmbedding</a:t>
            </a:r>
          </a:p>
          <a:p>
            <a:pPr>
              <a:defRPr sz="950">
                <a:solidFill>
                  <a:srgbClr val="546070"/>
                </a:solidFill>
                <a:latin typeface="Aptos"/>
              </a:defRPr>
            </a:pPr>
            <a:r>
              <a:t>32 radial basis channels from 0.4-6.0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2331720"/>
            <a:ext cx="388620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/>
          <a:p>
            <a:pPr algn="ctr"/>
            <a:r>
              <a:rPr sz="1200" b="1">
                <a:solidFill>
                  <a:srgbClr val="00897B"/>
                </a:solidFill>
                <a:latin typeface="Aptos"/>
              </a:rPr>
              <a:t>BiGRU</a:t>
            </a:r>
          </a:p>
          <a:p>
            <a:pPr>
              <a:defRPr sz="950">
                <a:solidFill>
                  <a:srgbClr val="546070"/>
                </a:solidFill>
                <a:latin typeface="Aptos"/>
              </a:defRPr>
            </a:pPr>
            <a:r>
              <a:t>2 layers, hidden=128, reads R/I/P as a short geometry trajectory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3246120"/>
            <a:ext cx="388620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/>
          <a:p>
            <a:pPr algn="ctr"/>
            <a:r>
              <a:rPr sz="1200" b="1">
                <a:solidFill>
                  <a:srgbClr val="6D28D9"/>
                </a:solidFill>
                <a:latin typeface="Aptos"/>
              </a:rPr>
              <a:t>Transformer</a:t>
            </a:r>
          </a:p>
          <a:p>
            <a:pPr>
              <a:defRPr sz="950">
                <a:solidFill>
                  <a:srgbClr val="546070"/>
                </a:solidFill>
                <a:latin typeface="Aptos"/>
              </a:defRPr>
            </a:pPr>
            <a:r>
              <a:t>3 layers, 8 heads, ff_dim=512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4343400"/>
            <a:ext cx="3886200" cy="1051560"/>
          </a:xfrm>
          <a:prstGeom prst="roundRect">
            <a:avLst/>
          </a:prstGeom>
          <a:solidFill>
            <a:srgbClr val="1C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>
            <a:normAutofit/>
          </a:bodyPr>
          <a:lstStyle/>
          <a:p>
            <a:pPr algn="ctr">
              <a:defRPr sz="950">
                <a:solidFill>
                  <a:srgbClr val="FFFFFF"/>
                </a:solidFill>
                <a:latin typeface="Consolas"/>
              </a:defRPr>
            </a:pPr>
            <a:r>
              <a:t>state_seq = [emb_R, emb_I, emb_P]</a:t>
            </a:r>
            <a:br/>
            <a:r>
              <a:t>context = BiGRU(state_seq)[:, midpoint]</a:t>
            </a:r>
            <a:br/>
            <a:r>
              <a:t>node_feats = Transformer(context, pad_mask)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37960"/>
            <a:ext cx="1078992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800">
                <a:solidFill>
                  <a:srgbClr val="546070"/>
                </a:solidFill>
                <a:latin typeface="Aptos"/>
              </a:defRPr>
            </a:pPr>
            <a:r>
              <a:t>PSI Transition-State Prediction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900" b="1">
                <a:solidFill>
                  <a:srgbClr val="00897B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900" b="1">
                <a:solidFill>
                  <a:srgbClr val="181F2A"/>
                </a:solidFill>
                <a:latin typeface="Aptos Display"/>
              </a:defRPr>
            </a:pPr>
            <a:r>
              <a:t>Pairwise Geometry 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08076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1340">
                <a:solidFill>
                  <a:srgbClr val="181F2A"/>
                </a:solidFill>
                <a:latin typeface="Aptos"/>
              </a:defRPr>
            </a:pPr>
            <a:r>
              <a:t>For each atom pair (i,j), the head concatenates node context for i and j, atom features for i and j, and raw distances D_R, D_I, D_P.</a:t>
            </a:r>
          </a:p>
          <a:p>
            <a:pPr>
              <a:spcAft>
                <a:spcPts val="300"/>
              </a:spcAft>
              <a:defRPr sz="1340">
                <a:solidFill>
                  <a:srgbClr val="181F2A"/>
                </a:solidFill>
                <a:latin typeface="Aptos"/>
              </a:defRPr>
            </a:pPr>
            <a:r>
              <a:t>The MLP predicts alpha_logit and delta. alpha = sigmoid(alpha_logit) forces interpolation weight into [0,1].</a:t>
            </a:r>
          </a:p>
          <a:p>
            <a:pPr>
              <a:spcAft>
                <a:spcPts val="300"/>
              </a:spcAft>
              <a:defRPr sz="1340">
                <a:solidFill>
                  <a:srgbClr val="181F2A"/>
                </a:solidFill>
                <a:latin typeface="Aptos"/>
              </a:defRPr>
            </a:pPr>
            <a:r>
              <a:t>The initial final layer is zeroed, so the first prediction starts at the endpoint midpoint with no learned correction.</a:t>
            </a:r>
          </a:p>
          <a:p>
            <a:pPr>
              <a:spcAft>
                <a:spcPts val="300"/>
              </a:spcAft>
              <a:defRPr sz="1340">
                <a:solidFill>
                  <a:srgbClr val="181F2A"/>
                </a:solidFill>
                <a:latin typeface="Aptos"/>
              </a:defRPr>
            </a:pPr>
            <a:r>
              <a:t>delta is clipped before addition, which prevents a single pairwise prediction from creating an extreme unphysical distance.</a:t>
            </a:r>
          </a:p>
          <a:p>
            <a:pPr>
              <a:spcAft>
                <a:spcPts val="300"/>
              </a:spcAft>
              <a:defRPr sz="1340">
                <a:solidFill>
                  <a:srgbClr val="181F2A"/>
                </a:solidFill>
                <a:latin typeface="Aptos"/>
              </a:defRPr>
            </a:pPr>
            <a:r>
              <a:t>The matrix is symmetrized, diagonal-zeroed, non-negative clamped, and multiplied by the valid atom mask.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1417320"/>
            <a:ext cx="411480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900" b="1">
                <a:solidFill>
                  <a:srgbClr val="00897B"/>
                </a:solidFill>
                <a:latin typeface="Aptos"/>
              </a:defRPr>
            </a:pPr>
            <a:r>
              <a:t>DISTANCE FORMULA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1783080"/>
            <a:ext cx="4251960" cy="1828800"/>
          </a:xfrm>
          <a:prstGeom prst="roundRect">
            <a:avLst/>
          </a:prstGeom>
          <a:solidFill>
            <a:srgbClr val="1C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>
            <a:normAutofit/>
          </a:bodyPr>
          <a:lstStyle/>
          <a:p>
            <a:pPr algn="ctr">
              <a:defRPr sz="1000">
                <a:solidFill>
                  <a:srgbClr val="FFFFFF"/>
                </a:solidFill>
                <a:latin typeface="Consolas"/>
              </a:defRPr>
            </a:pPr>
            <a:r>
              <a:t>alpha = sigmoid(alpha_logit)</a:t>
            </a:r>
            <a:br/>
            <a:r>
              <a:t>delta = clamp(delta, -3.0, +3.0)</a:t>
            </a:r>
            <a:br/>
            <a:r>
              <a:t>D_base = alpha*D_R + (1-alpha)*D_P</a:t>
            </a:r>
            <a:br/>
            <a:r>
              <a:t>D_TS = symmetrize(clamp(D_base + delta, 0))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086600" y="4160520"/>
          <a:ext cx="4251960" cy="1291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Part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Implementation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node_i, node_j, atom_i, atom_j, D_R, D_I, D_P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coarse TS distance matrix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Aux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Huber(coarse D_TS, true D_TS)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6537960"/>
            <a:ext cx="1078992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800">
                <a:solidFill>
                  <a:srgbClr val="546070"/>
                </a:solidFill>
                <a:latin typeface="Aptos"/>
              </a:defRPr>
            </a:pPr>
            <a:r>
              <a:t>PSI Transition-State Prediction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900" b="1">
                <a:solidFill>
                  <a:srgbClr val="00897B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900" b="1">
                <a:solidFill>
                  <a:srgbClr val="181F2A"/>
                </a:solidFill>
                <a:latin typeface="Aptos Display"/>
              </a:defRPr>
            </a:pPr>
            <a:r>
              <a:t>MDS and EGNN Refinement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263640" cy="4526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1320">
                <a:solidFill>
                  <a:srgbClr val="181F2A"/>
                </a:solidFill>
                <a:latin typeface="Aptos"/>
              </a:defRPr>
            </a:pPr>
            <a:r>
              <a:t>torch_mds_coords turns the coarse distance matrix into 3D coordinates using masked classical MDS and the top three non-negative eigen-components.</a:t>
            </a:r>
          </a:p>
          <a:p>
            <a:pPr>
              <a:spcAft>
                <a:spcPts val="300"/>
              </a:spcAft>
              <a:defRPr sz="1320">
                <a:solidFill>
                  <a:srgbClr val="181F2A"/>
                </a:solidFill>
                <a:latin typeface="Aptos"/>
              </a:defRPr>
            </a:pPr>
            <a:r>
              <a:t>The EGNN consumes atom chemical features plus the initial MDS coordinates. Messages depend on squared pairwise distances, so feature updates remain invariant.</a:t>
            </a:r>
          </a:p>
          <a:p>
            <a:pPr>
              <a:spcAft>
                <a:spcPts val="300"/>
              </a:spcAft>
              <a:defRPr sz="1320">
                <a:solidFill>
                  <a:srgbClr val="181F2A"/>
                </a:solidFill>
                <a:latin typeface="Aptos"/>
              </a:defRPr>
            </a:pPr>
            <a:r>
              <a:t>Coordinate updates are equivariant: if the input geometry is rotated or translated, the output rotates or translates consistently.</a:t>
            </a:r>
          </a:p>
          <a:p>
            <a:pPr>
              <a:spcAft>
                <a:spcPts val="300"/>
              </a:spcAft>
              <a:defRPr sz="1320">
                <a:solidFill>
                  <a:srgbClr val="181F2A"/>
                </a:solidFill>
                <a:latin typeface="Aptos"/>
              </a:defRPr>
            </a:pPr>
            <a:r>
              <a:t>Each EGNN layer clips coordinate displacement messages and normalizes by node degree, preventing unstable geometry jumps.</a:t>
            </a:r>
          </a:p>
          <a:p>
            <a:pPr>
              <a:spcAft>
                <a:spcPts val="300"/>
              </a:spcAft>
              <a:defRPr sz="1320">
                <a:solidFill>
                  <a:srgbClr val="181F2A"/>
                </a:solidFill>
                <a:latin typeface="Aptos"/>
              </a:defRPr>
            </a:pPr>
            <a:r>
              <a:t>The final training distance matrix is recomputed from refined coordinates, so the main geometry loss supervises the actual 3D refinement.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17320"/>
            <a:ext cx="38862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/>
          <a:p>
            <a:pPr algn="ctr"/>
            <a:r>
              <a:rPr sz="1200" b="1">
                <a:solidFill>
                  <a:srgbClr val="2A63B5"/>
                </a:solidFill>
                <a:latin typeface="Aptos"/>
              </a:rPr>
              <a:t>1. Coarse D_TS</a:t>
            </a:r>
          </a:p>
          <a:p>
            <a:pPr>
              <a:defRPr sz="950">
                <a:solidFill>
                  <a:srgbClr val="546070"/>
                </a:solidFill>
                <a:latin typeface="Aptos"/>
              </a:defRPr>
            </a:pPr>
            <a:r>
              <a:t>Pairwise output from geometry head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240280"/>
            <a:ext cx="38862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/>
          <a:p>
            <a:pPr algn="ctr"/>
            <a:r>
              <a:rPr sz="1200" b="1">
                <a:solidFill>
                  <a:srgbClr val="00897B"/>
                </a:solidFill>
                <a:latin typeface="Aptos"/>
              </a:rPr>
              <a:t>2. Classical MDS</a:t>
            </a:r>
          </a:p>
          <a:p>
            <a:pPr>
              <a:defRPr sz="950">
                <a:solidFill>
                  <a:srgbClr val="546070"/>
                </a:solidFill>
                <a:latin typeface="Aptos"/>
              </a:defRPr>
            </a:pPr>
            <a:r>
              <a:t>Double-center D^2 and keep top 3 components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3063240"/>
            <a:ext cx="38862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/>
          <a:p>
            <a:pPr algn="ctr"/>
            <a:r>
              <a:rPr sz="1200" b="1">
                <a:solidFill>
                  <a:srgbClr val="6D28D9"/>
                </a:solidFill>
                <a:latin typeface="Aptos"/>
              </a:rPr>
              <a:t>3. EGNN layers</a:t>
            </a:r>
          </a:p>
          <a:p>
            <a:pPr>
              <a:defRPr sz="950">
                <a:solidFill>
                  <a:srgbClr val="546070"/>
                </a:solidFill>
                <a:latin typeface="Aptos"/>
              </a:defRPr>
            </a:pPr>
            <a:r>
              <a:t>4 layers, hidden=128, coord clamp=2.0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886200"/>
            <a:ext cx="38862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/>
          <a:p>
            <a:pPr algn="ctr"/>
            <a:r>
              <a:rPr sz="1200" b="1">
                <a:solidFill>
                  <a:srgbClr val="D97706"/>
                </a:solidFill>
                <a:latin typeface="Aptos"/>
              </a:rPr>
              <a:t>4. Refined D_TS</a:t>
            </a:r>
          </a:p>
          <a:p>
            <a:pPr>
              <a:defRPr sz="950">
                <a:solidFill>
                  <a:srgbClr val="546070"/>
                </a:solidFill>
                <a:latin typeface="Aptos"/>
              </a:defRPr>
            </a:pPr>
            <a:r>
              <a:t>Recomputed from x_TS for loss, metrics, and Ea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4892040"/>
            <a:ext cx="3886200" cy="676656"/>
          </a:xfrm>
          <a:prstGeom prst="roundRect">
            <a:avLst/>
          </a:prstGeom>
          <a:solidFill>
            <a:srgbClr val="EEF4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rtlCol="0" anchor="ctr">
            <a:normAutofit/>
          </a:bodyPr>
          <a:lstStyle/>
          <a:p>
            <a:pPr algn="ctr">
              <a:defRPr sz="1120" b="1">
                <a:solidFill>
                  <a:srgbClr val="00897B"/>
                </a:solidFill>
                <a:latin typeface="Aptos"/>
              </a:defRPr>
            </a:pPr>
            <a:r>
              <a:t>This is the technical reason the pipeline can learn geometry without depending on an arbitrary Cartesian frame.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1078992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800">
                <a:solidFill>
                  <a:srgbClr val="546070"/>
                </a:solidFill>
                <a:latin typeface="Aptos"/>
              </a:defRPr>
            </a:pPr>
            <a:r>
              <a:t>PSI Transition-State Prediction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900" b="1">
                <a:solidFill>
                  <a:srgbClr val="00897B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900" b="1">
                <a:solidFill>
                  <a:srgbClr val="181F2A"/>
                </a:solidFill>
                <a:latin typeface="Aptos Display"/>
              </a:defRPr>
            </a:pPr>
            <a:r>
              <a:t>Activation Energy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30936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1330">
                <a:solidFill>
                  <a:srgbClr val="181F2A"/>
                </a:solidFill>
                <a:latin typeface="Aptos"/>
              </a:defRPr>
            </a:pPr>
            <a:r>
              <a:t>EaHead uses EGNN-refined per-atom features, masked mean pooling, z-scored signed reaction energy, and normalized 20D energy features.</a:t>
            </a:r>
          </a:p>
          <a:p>
            <a:pPr>
              <a:spcAft>
                <a:spcPts val="300"/>
              </a:spcAft>
              <a:defRPr sz="1330">
                <a:solidFill>
                  <a:srgbClr val="181F2A"/>
                </a:solidFill>
                <a:latin typeface="Aptos"/>
              </a:defRPr>
            </a:pPr>
            <a:r>
              <a:t>The head predicts normalized Ea. Reporting denormalizes with ea_mean and ea_std saved inside the checkpoint metadata.</a:t>
            </a:r>
          </a:p>
          <a:p>
            <a:pPr>
              <a:spcAft>
                <a:spcPts val="300"/>
              </a:spcAft>
              <a:defRPr sz="1330">
                <a:solidFill>
                  <a:srgbClr val="181F2A"/>
                </a:solidFill>
                <a:latin typeface="Aptos"/>
              </a:defRPr>
            </a:pPr>
            <a:r>
              <a:t>Ea loss starts after ea_warmup_epochs so early poor geometries do not dominate the shared EGNN representation.</a:t>
            </a:r>
          </a:p>
          <a:p>
            <a:pPr>
              <a:spcAft>
                <a:spcPts val="300"/>
              </a:spcAft>
              <a:defRPr sz="1330">
                <a:solidFill>
                  <a:srgbClr val="181F2A"/>
                </a:solidFill>
                <a:latin typeface="Aptos"/>
              </a:defRPr>
            </a:pPr>
            <a:r>
              <a:t>A Marcus/Hammond/OLS physics baseline is fit after geometry prediction and saved for comparison, not used as the primary prediction when the neural head exists.</a:t>
            </a:r>
          </a:p>
          <a:p>
            <a:pPr>
              <a:spcAft>
                <a:spcPts val="300"/>
              </a:spcAft>
              <a:defRPr sz="1330">
                <a:solidFill>
                  <a:srgbClr val="181F2A"/>
                </a:solidFill>
                <a:latin typeface="Aptos"/>
              </a:defRPr>
            </a:pPr>
            <a:r>
              <a:t>The baseline features include geometric reorganization energy, Hammond index, signed reaction energy, and a fitted intercept.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0" y="1508760"/>
          <a:ext cx="3886200" cy="1789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Neural Ea 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Val MAE 8.02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Primary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Physics baseline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Val MAE 16.02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Comparator/sanity check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Warmup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200 epochs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Geometry first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Selection weight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Blends Ea into checkpoint score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3794760"/>
            <a:ext cx="3886200" cy="1325880"/>
          </a:xfrm>
          <a:prstGeom prst="roundRect">
            <a:avLst/>
          </a:prstGeom>
          <a:solidFill>
            <a:srgbClr val="1C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>
            <a:normAutofit/>
          </a:bodyPr>
          <a:lstStyle/>
          <a:p>
            <a:pPr algn="ctr">
              <a:defRPr sz="980">
                <a:solidFill>
                  <a:srgbClr val="FFFFFF"/>
                </a:solidFill>
                <a:latin typeface="Consolas"/>
              </a:defRPr>
            </a:pPr>
            <a:r>
              <a:t>mol = masked_mean(h_ts)</a:t>
            </a:r>
            <a:br/>
            <a:r>
              <a:t>feat = concat(mol, de_rxn_norm, energy_feats)</a:t>
            </a:r>
            <a:br/>
            <a:r>
              <a:t>Ea = ea_head(feat) * ea_std + ea_mean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37960"/>
            <a:ext cx="1078992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800">
                <a:solidFill>
                  <a:srgbClr val="546070"/>
                </a:solidFill>
                <a:latin typeface="Aptos"/>
              </a:defRPr>
            </a:pPr>
            <a:r>
              <a:t>PSI Transition-State Prediction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900" b="1">
                <a:solidFill>
                  <a:srgbClr val="00897B"/>
                </a:solidFill>
                <a:latin typeface="Aptos"/>
              </a:defRPr>
            </a:pPr>
            <a:r>
              <a:t>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900" b="1">
                <a:solidFill>
                  <a:srgbClr val="181F2A"/>
                </a:solidFill>
                <a:latin typeface="Aptos Display"/>
              </a:defRPr>
            </a:pPr>
            <a:r>
              <a:t>Training 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635508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50"/>
              </a:spcAft>
              <a:defRPr sz="1280">
                <a:solidFill>
                  <a:srgbClr val="181F2A"/>
                </a:solidFill>
                <a:latin typeface="Aptos"/>
              </a:defRPr>
            </a:pPr>
            <a:r>
              <a:t>Main geometry loss: Huber(delta=0.5) between EGNN-refined predicted distances and true TS distances over valid non-diagonal atom pairs.</a:t>
            </a:r>
          </a:p>
          <a:p>
            <a:pPr>
              <a:spcAft>
                <a:spcPts val="250"/>
              </a:spcAft>
              <a:defRPr sz="1280">
                <a:solidFill>
                  <a:srgbClr val="181F2A"/>
                </a:solidFill>
                <a:latin typeface="Aptos"/>
              </a:defRPr>
            </a:pPr>
            <a:r>
              <a:t>Coarse auxiliary loss: same Huber loss on the pre-EGNN distance head, weighted by geom_coarse_weight, so the MDS seed improves directly.</a:t>
            </a:r>
          </a:p>
          <a:p>
            <a:pPr>
              <a:spcAft>
                <a:spcPts val="250"/>
              </a:spcAft>
              <a:defRPr sz="1280">
                <a:solidFill>
                  <a:srgbClr val="181F2A"/>
                </a:solidFill>
                <a:latin typeface="Aptos"/>
              </a:defRPr>
            </a:pPr>
            <a:r>
              <a:t>Spectator physics term: pairs with abs(D_R - D_P) below the threshold are pulled toward D_I because those distances should remain nearly unchanged.</a:t>
            </a:r>
          </a:p>
          <a:p>
            <a:pPr>
              <a:spcAft>
                <a:spcPts val="250"/>
              </a:spcAft>
              <a:defRPr sz="1280">
                <a:solidFill>
                  <a:srgbClr val="181F2A"/>
                </a:solidFill>
                <a:latin typeface="Aptos"/>
              </a:defRPr>
            </a:pPr>
            <a:r>
              <a:t>Active-pair bounds term: penalizes predicted distances outside the endpoint interval plus a 0.2 A margin using squared ReLU violations.</a:t>
            </a:r>
          </a:p>
          <a:p>
            <a:pPr>
              <a:spcAft>
                <a:spcPts val="250"/>
              </a:spcAft>
              <a:defRPr sz="1280">
                <a:solidFill>
                  <a:srgbClr val="181F2A"/>
                </a:solidFill>
                <a:latin typeface="Aptos"/>
              </a:defRPr>
            </a:pPr>
            <a:r>
              <a:t>Ea term: SmoothL1 on normalized Ea, added after warmup, with gradient flowing through the shared EGNN features.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9480" y="1371600"/>
            <a:ext cx="4251960" cy="2514600"/>
          </a:xfrm>
          <a:prstGeom prst="roundRect">
            <a:avLst/>
          </a:prstGeom>
          <a:solidFill>
            <a:srgbClr val="1C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>
            <a:normAutofit/>
          </a:bodyPr>
          <a:lstStyle/>
          <a:p>
            <a:pPr algn="ctr">
              <a:defRPr sz="890">
                <a:solidFill>
                  <a:srgbClr val="FFFFFF"/>
                </a:solidFill>
                <a:latin typeface="Consolas"/>
              </a:defRPr>
            </a:pPr>
            <a:r>
              <a:t>L_main   = Huber(D_refined, D_TS)</a:t>
            </a:r>
            <a:br/>
            <a:r>
              <a:t>L_coarse = Huber(D_coarse, D_TS)</a:t>
            </a:r>
            <a:br/>
            <a:r>
              <a:t>L_spec   = MSE(D_refined, D_I) on spectator pairs</a:t>
            </a:r>
            <a:br/>
            <a:r>
              <a:t>L_bounds = ReLU(endpoint interval violation)^2</a:t>
            </a:r>
            <a:br/>
            <a:br/>
            <a:r>
              <a:t>L = L_main + w_coarse*L_coarse + 0.2*(L_spec + 0.5*L_bounds)</a:t>
            </a:r>
            <a:br/>
            <a:r>
              <a:t>if epoch &gt; ea_warmup: L += w_ea*SmoothL1(Ea_norm)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69480" y="4343400"/>
          <a:ext cx="4251960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37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374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geom_coarse_weight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374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spectator_threshold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0.15 A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374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ea_loss_weight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37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grad_clip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6537960"/>
            <a:ext cx="1078992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800">
                <a:solidFill>
                  <a:srgbClr val="546070"/>
                </a:solidFill>
                <a:latin typeface="Aptos"/>
              </a:defRPr>
            </a:pPr>
            <a:r>
              <a:t>PSI Transition-State Prediction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900" b="1">
                <a:solidFill>
                  <a:srgbClr val="00897B"/>
                </a:solidFill>
                <a:latin typeface="Aptos"/>
              </a:defRPr>
            </a:pPr>
            <a:r>
              <a:t>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900" b="1">
                <a:solidFill>
                  <a:srgbClr val="181F2A"/>
                </a:solidFill>
                <a:latin typeface="Aptos Display"/>
              </a:defRPr>
            </a:pPr>
            <a:r>
              <a:t>Training Configuration and Dynamics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pic>
        <p:nvPicPr>
          <p:cNvPr id="5" name="Picture 4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852160" cy="352044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903720" y="1234440"/>
          <a:ext cx="41605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Setting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Target reactions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Train / validation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4,000 / 1,000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Batch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Learning rate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0.00015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Weight decay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0.002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Epoch cap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1500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Patience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AMP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03720" y="4251960"/>
            <a:ext cx="406908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sz="1140">
                <a:solidFill>
                  <a:srgbClr val="181F2A"/>
                </a:solidFill>
                <a:latin typeface="Aptos"/>
              </a:defRPr>
            </a:pPr>
            <a:r>
              <a:t>Best validation geometry: epoch 1012 with loss 0.03817.</a:t>
            </a:r>
          </a:p>
          <a:p>
            <a:pPr>
              <a:spcAft>
                <a:spcPts val="200"/>
              </a:spcAft>
              <a:defRPr sz="1140">
                <a:solidFill>
                  <a:srgbClr val="181F2A"/>
                </a:solidFill>
                <a:latin typeface="Aptos"/>
              </a:defRPr>
            </a:pPr>
            <a:r>
              <a:t>Best validation Ea: epoch 918 with MAE 7.92 kcal/mol.</a:t>
            </a:r>
          </a:p>
          <a:p>
            <a:pPr>
              <a:spcAft>
                <a:spcPts val="200"/>
              </a:spcAft>
              <a:defRPr sz="1140">
                <a:solidFill>
                  <a:srgbClr val="181F2A"/>
                </a:solidFill>
                <a:latin typeface="Aptos"/>
              </a:defRPr>
            </a:pPr>
            <a:r>
              <a:t>Final recorded validation geometry loss: 0.03838; final validation Ea MAE: 8.06 kcal/mol.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37960"/>
            <a:ext cx="1078992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800">
                <a:solidFill>
                  <a:srgbClr val="546070"/>
                </a:solidFill>
                <a:latin typeface="Aptos"/>
              </a:defRPr>
            </a:pPr>
            <a:r>
              <a:t>PSI Transition-State Prediction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900" b="1">
                <a:solidFill>
                  <a:srgbClr val="00897B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900" b="1">
                <a:solidFill>
                  <a:srgbClr val="181F2A"/>
                </a:solidFill>
                <a:latin typeface="Aptos Display"/>
              </a:defRPr>
            </a:pPr>
            <a:r>
              <a:t>Evaluation Readout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25880"/>
          <a:ext cx="1092708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1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10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10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10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10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610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147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Split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Ea MAE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Ea RMSE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Ea R2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Pearson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Dist MAE A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2.17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2.78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0.989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0.995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0.0394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8.02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11.26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0.804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0.897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0.1609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3.34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5.62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0.953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0.977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0.0637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Picture 5" descr="ea_p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71800"/>
            <a:ext cx="466344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0" y="3063240"/>
            <a:ext cx="5257800" cy="2377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81F2A"/>
                </a:solidFill>
                <a:latin typeface="Aptos"/>
              </a:defRPr>
            </a:pPr>
            <a:r>
              <a:t>Validation Ea MAE is 8.02 kcal/mol with R2=0.804; validation distance MAE is 0.1609 A.</a:t>
            </a:r>
          </a:p>
          <a:p>
            <a:pPr>
              <a:spcAft>
                <a:spcPts val="300"/>
              </a:spcAft>
              <a:defRPr sz="1300">
                <a:solidFill>
                  <a:srgbClr val="181F2A"/>
                </a:solidFill>
                <a:latin typeface="Aptos"/>
              </a:defRPr>
            </a:pPr>
            <a:r>
              <a:t>Train/validation Ea gap: 2.17 vs 8.02 kcal/mol, so generalization analysis is still required.</a:t>
            </a:r>
          </a:p>
          <a:p>
            <a:pPr>
              <a:spcAft>
                <a:spcPts val="300"/>
              </a:spcAft>
              <a:defRPr sz="1300">
                <a:solidFill>
                  <a:srgbClr val="181F2A"/>
                </a:solidFill>
                <a:latin typeface="Aptos"/>
              </a:defRPr>
            </a:pPr>
            <a:r>
              <a:t>The evaluation file keeps both D_true and D_pred, so geometry errors can be diagnosed pair-by-pair instead of only through scalar summaries.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37960"/>
            <a:ext cx="1078992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800">
                <a:solidFill>
                  <a:srgbClr val="546070"/>
                </a:solidFill>
                <a:latin typeface="Aptos"/>
              </a:defRPr>
            </a:pPr>
            <a:r>
              <a:t>PSI Transition-State Prediction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900" b="1">
                <a:solidFill>
                  <a:srgbClr val="00897B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900" b="1">
                <a:solidFill>
                  <a:srgbClr val="181F2A"/>
                </a:solidFill>
                <a:latin typeface="Aptos Display"/>
              </a:defRPr>
            </a:pPr>
            <a:r>
              <a:t>Error Structure and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pic>
        <p:nvPicPr>
          <p:cNvPr id="5" name="Picture 4" descr="ea_error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3657600" cy="2651760"/>
          </a:xfrm>
          <a:prstGeom prst="rect">
            <a:avLst/>
          </a:prstGeom>
        </p:spPr>
      </p:pic>
      <p:pic>
        <p:nvPicPr>
          <p:cNvPr id="6" name="Picture 5" descr="dist_error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234440"/>
            <a:ext cx="3657600" cy="2651760"/>
          </a:xfrm>
          <a:prstGeom prst="rect">
            <a:avLst/>
          </a:prstGeom>
        </p:spPr>
      </p:pic>
      <p:pic>
        <p:nvPicPr>
          <p:cNvPr id="7" name="Picture 6" descr="baseline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234440"/>
            <a:ext cx="3337560" cy="26517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60120" y="4343400"/>
          <a:ext cx="39319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Statistic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Val Ea p90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17.65 kcal/mol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Val dist p90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0.2875 A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Neural val 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8.02 kcal/mol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Physics val MAE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16.02 kcal/mol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0" y="4389120"/>
            <a:ext cx="544068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sz="1160">
                <a:solidFill>
                  <a:srgbClr val="181F2A"/>
                </a:solidFill>
                <a:latin typeface="Aptos"/>
              </a:defRPr>
            </a:pPr>
            <a:r>
              <a:t>Energy and geometry errors are complementary diagnostics: a barrier can look acceptable while the predicted TS structure is poor.</a:t>
            </a:r>
          </a:p>
          <a:p>
            <a:pPr>
              <a:spcAft>
                <a:spcPts val="200"/>
              </a:spcAft>
              <a:defRPr sz="1160">
                <a:solidFill>
                  <a:srgbClr val="181F2A"/>
                </a:solidFill>
                <a:latin typeface="Aptos"/>
              </a:defRPr>
            </a:pPr>
            <a:r>
              <a:t>The physics baseline is intentionally simple; it is useful because it exposes whether the learned head is doing more than fitting reaction energy trends.</a:t>
            </a:r>
          </a:p>
          <a:p>
            <a:pPr>
              <a:spcAft>
                <a:spcPts val="200"/>
              </a:spcAft>
              <a:defRPr sz="1160">
                <a:solidFill>
                  <a:srgbClr val="181F2A"/>
                </a:solidFill>
                <a:latin typeface="Aptos"/>
              </a:defRPr>
            </a:pPr>
            <a:r>
              <a:t>The p90 metrics highlight the tail cases that should drive the next round of stratified evaluation.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37960"/>
            <a:ext cx="1078992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800">
                <a:solidFill>
                  <a:srgbClr val="546070"/>
                </a:solidFill>
                <a:latin typeface="Aptos"/>
              </a:defRPr>
            </a:pPr>
            <a:r>
              <a:t>PSI Transition-State Prediction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900" b="1">
                <a:solidFill>
                  <a:srgbClr val="00897B"/>
                </a:solidFill>
                <a:latin typeface="Aptos"/>
              </a:defRPr>
            </a:pPr>
            <a:r>
              <a:t>USAGE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900" b="1">
                <a:solidFill>
                  <a:srgbClr val="181F2A"/>
                </a:solidFill>
                <a:latin typeface="Aptos Display"/>
              </a:defRPr>
            </a:pPr>
            <a:r>
              <a:t>Inference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126480" cy="4526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just">
              <a:spcAft>
                <a:spcPts val="300"/>
              </a:spcAft>
              <a:defRPr sz="1330">
                <a:solidFill>
                  <a:srgbClr val="181F2A"/>
                </a:solidFill>
                <a:latin typeface="Aptos"/>
              </a:defRPr>
            </a:pPr>
            <a:r>
              <a:rPr dirty="0" err="1"/>
              <a:t>predict_transition_state</a:t>
            </a:r>
            <a:r>
              <a:rPr dirty="0"/>
              <a:t> loads reactant and product Gaussian logs, then checks atom count and atom type/order consistency.</a:t>
            </a:r>
          </a:p>
          <a:p>
            <a:pPr algn="just">
              <a:spcAft>
                <a:spcPts val="300"/>
              </a:spcAft>
              <a:defRPr sz="1330">
                <a:solidFill>
                  <a:srgbClr val="181F2A"/>
                </a:solidFill>
                <a:latin typeface="Aptos"/>
              </a:defRPr>
            </a:pPr>
            <a:r>
              <a:rPr dirty="0"/>
              <a:t>It rebuilds D_R, D_I, D_P, atom physical features, signed reaction energy, and </a:t>
            </a:r>
            <a:r>
              <a:rPr dirty="0" err="1"/>
              <a:t>energy_feats</a:t>
            </a:r>
            <a:r>
              <a:rPr dirty="0"/>
              <a:t> using the checkpoint's saved normalization statistics.</a:t>
            </a:r>
          </a:p>
          <a:p>
            <a:pPr algn="just">
              <a:spcAft>
                <a:spcPts val="300"/>
              </a:spcAft>
              <a:defRPr sz="1330">
                <a:solidFill>
                  <a:srgbClr val="181F2A"/>
                </a:solidFill>
                <a:latin typeface="Aptos"/>
              </a:defRPr>
            </a:pPr>
            <a:r>
              <a:rPr dirty="0"/>
              <a:t>The model outputs a predicted distance matrix and normalized neural </a:t>
            </a:r>
            <a:r>
              <a:rPr dirty="0" err="1"/>
              <a:t>Ea</a:t>
            </a:r>
            <a:r>
              <a:rPr dirty="0"/>
              <a:t>; </a:t>
            </a:r>
            <a:r>
              <a:rPr dirty="0" err="1"/>
              <a:t>Ea</a:t>
            </a:r>
            <a:r>
              <a:rPr dirty="0"/>
              <a:t> is denormalized from checkpoint metadata.</a:t>
            </a:r>
          </a:p>
          <a:p>
            <a:pPr algn="just">
              <a:spcAft>
                <a:spcPts val="300"/>
              </a:spcAft>
              <a:defRPr sz="1330">
                <a:solidFill>
                  <a:srgbClr val="181F2A"/>
                </a:solidFill>
                <a:latin typeface="Aptos"/>
              </a:defRPr>
            </a:pPr>
            <a:r>
              <a:rPr dirty="0"/>
              <a:t>Post-processing applies spectator clamps, triangle inequality checks, fragment-aware MDS, and optional XYZ export.</a:t>
            </a:r>
          </a:p>
          <a:p>
            <a:pPr algn="just">
              <a:spcAft>
                <a:spcPts val="300"/>
              </a:spcAft>
              <a:defRPr sz="1330">
                <a:solidFill>
                  <a:srgbClr val="181F2A"/>
                </a:solidFill>
                <a:latin typeface="Aptos"/>
              </a:defRPr>
            </a:pPr>
            <a:r>
              <a:rPr dirty="0"/>
              <a:t>The JSON output includes </a:t>
            </a:r>
            <a:r>
              <a:rPr dirty="0" err="1"/>
              <a:t>Ea_pred</a:t>
            </a:r>
            <a:r>
              <a:rPr dirty="0"/>
              <a:t>, </a:t>
            </a:r>
            <a:r>
              <a:rPr dirty="0" err="1"/>
              <a:t>Ea_pred_physics</a:t>
            </a:r>
            <a:r>
              <a:rPr dirty="0"/>
              <a:t>, </a:t>
            </a:r>
            <a:r>
              <a:rPr dirty="0" err="1"/>
              <a:t>Ea_source</a:t>
            </a:r>
            <a:r>
              <a:rPr dirty="0"/>
              <a:t>, </a:t>
            </a:r>
            <a:r>
              <a:rPr dirty="0" err="1"/>
              <a:t>D_pred</a:t>
            </a:r>
            <a:r>
              <a:rPr dirty="0"/>
              <a:t>, validation issues, </a:t>
            </a:r>
            <a:r>
              <a:rPr dirty="0" err="1"/>
              <a:t>geom_mask</a:t>
            </a:r>
            <a:r>
              <a:rPr dirty="0"/>
              <a:t>, and predicted coordinates.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1554480"/>
            <a:ext cx="4160520" cy="1371600"/>
          </a:xfrm>
          <a:prstGeom prst="roundRect">
            <a:avLst/>
          </a:prstGeom>
          <a:solidFill>
            <a:srgbClr val="1C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>
            <a:normAutofit/>
          </a:bodyPr>
          <a:lstStyle/>
          <a:p>
            <a:pPr algn="ctr">
              <a:defRPr sz="1050">
                <a:solidFill>
                  <a:srgbClr val="FFFFFF"/>
                </a:solidFill>
                <a:latin typeface="Consolas"/>
              </a:defRPr>
            </a:pPr>
            <a:r>
              <a:t>python psi_cloud_pipeline.py predict \</a:t>
            </a:r>
            <a:br/>
            <a:r>
              <a:t>  -r reactant.log \</a:t>
            </a:r>
            <a:br/>
            <a:r>
              <a:t>  -p product.log \</a:t>
            </a:r>
            <a:br/>
            <a:r>
              <a:t>  -o prediction.json \</a:t>
            </a:r>
            <a:br/>
            <a:r>
              <a:t>  --xyz predicted_ts.xyz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3520440"/>
            <a:ext cx="4160520" cy="6949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/>
          <a:p>
            <a:pPr algn="ctr"/>
            <a:r>
              <a:rPr sz="1200" b="1">
                <a:solidFill>
                  <a:srgbClr val="00897B"/>
                </a:solidFill>
                <a:latin typeface="Aptos"/>
              </a:rPr>
              <a:t>Same feature path</a:t>
            </a:r>
          </a:p>
          <a:p>
            <a:pPr>
              <a:defRPr sz="950">
                <a:solidFill>
                  <a:srgbClr val="546070"/>
                </a:solidFill>
                <a:latin typeface="Aptos"/>
              </a:defRPr>
            </a:pPr>
            <a:r>
              <a:t>Inference reuses training-time tensor construction and normalization.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4434840"/>
            <a:ext cx="4160520" cy="6949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/>
          <a:p>
            <a:pPr algn="ctr"/>
            <a:r>
              <a:rPr sz="1200" b="1">
                <a:solidFill>
                  <a:srgbClr val="D97706"/>
                </a:solidFill>
                <a:latin typeface="Aptos"/>
              </a:rPr>
              <a:t>Downstream use</a:t>
            </a:r>
          </a:p>
          <a:p>
            <a:pPr>
              <a:defRPr sz="950">
                <a:solidFill>
                  <a:srgbClr val="546070"/>
                </a:solidFill>
                <a:latin typeface="Aptos"/>
              </a:defRPr>
            </a:pPr>
            <a:r>
              <a:t>predicted_ts.xyz is an initial guess, not a replacement for quantum validation.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37960"/>
            <a:ext cx="1078992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800">
                <a:solidFill>
                  <a:srgbClr val="546070"/>
                </a:solidFill>
                <a:latin typeface="Aptos"/>
              </a:defRPr>
            </a:pPr>
            <a:r>
              <a:t>PSI Transition-State Prediction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900" b="1">
                <a:solidFill>
                  <a:srgbClr val="00897B"/>
                </a:solidFill>
                <a:latin typeface="Aptos"/>
              </a:defRPr>
            </a:pPr>
            <a:r>
              <a:t>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900" b="1">
                <a:solidFill>
                  <a:srgbClr val="181F2A"/>
                </a:solidFill>
                <a:latin typeface="Aptos Display"/>
              </a:defRPr>
            </a:pPr>
            <a:r>
              <a:t>Post-Processing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6263640" cy="4617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50"/>
              </a:spcAft>
              <a:defRPr sz="1290">
                <a:solidFill>
                  <a:srgbClr val="181F2A"/>
                </a:solidFill>
                <a:latin typeface="Aptos"/>
              </a:defRPr>
            </a:pPr>
            <a:r>
              <a:t>Spectator pairs are distances with little endpoint change: abs(D_R - D_P) &lt; spectator_threshold. In inference they are clamped near the endpoint midpoint.</a:t>
            </a:r>
          </a:p>
          <a:p>
            <a:pPr>
              <a:spcAft>
                <a:spcPts val="250"/>
              </a:spcAft>
              <a:defRPr sz="1290">
                <a:solidFill>
                  <a:srgbClr val="181F2A"/>
                </a:solidFill>
                <a:latin typeface="Aptos"/>
              </a:defRPr>
            </a:pPr>
            <a:r>
              <a:t>Steric floor prevents atom overlap by enforcing a covalent-radius lower bound for non-diagonal pairs.</a:t>
            </a:r>
          </a:p>
          <a:p>
            <a:pPr>
              <a:spcAft>
                <a:spcPts val="250"/>
              </a:spcAft>
              <a:defRPr sz="1290">
                <a:solidFill>
                  <a:srgbClr val="181F2A"/>
                </a:solidFill>
                <a:latin typeface="Aptos"/>
              </a:defRPr>
            </a:pPr>
            <a:r>
              <a:t>Triangle inequality is enforced within fragments by shortening impossible direct distances to the best two-edge shortcut.</a:t>
            </a:r>
          </a:p>
          <a:p>
            <a:pPr>
              <a:spcAft>
                <a:spcPts val="250"/>
              </a:spcAft>
              <a:defRPr sz="1290">
                <a:solidFill>
                  <a:srgbClr val="181F2A"/>
                </a:solidFill>
                <a:latin typeface="Aptos"/>
              </a:defRPr>
            </a:pPr>
            <a:r>
              <a:t>Fragment-aware MDS reconstructs disconnected systems block-by-block and Kabsch-aligns fragments to the midpoint reference.</a:t>
            </a:r>
          </a:p>
          <a:p>
            <a:pPr>
              <a:spcAft>
                <a:spcPts val="250"/>
              </a:spcAft>
              <a:defRPr sz="1290">
                <a:solidFill>
                  <a:srgbClr val="181F2A"/>
                </a:solidFill>
                <a:latin typeface="Aptos"/>
              </a:defRPr>
            </a:pPr>
            <a:r>
              <a:t>validate_ts_geometry reports suspicious active-bond lengths and spectator violations so bad predictions are visible to the caller.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9480" y="1371600"/>
            <a:ext cx="4096512" cy="2331720"/>
          </a:xfrm>
          <a:prstGeom prst="roundRect">
            <a:avLst/>
          </a:prstGeom>
          <a:solidFill>
            <a:srgbClr val="1C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>
            <a:normAutofit/>
          </a:bodyPr>
          <a:lstStyle/>
          <a:p>
            <a:pPr algn="ctr">
              <a:defRPr sz="940">
                <a:solidFill>
                  <a:srgbClr val="FFFFFF"/>
                </a:solidFill>
                <a:latin typeface="Consolas"/>
              </a:defRPr>
            </a:pPr>
            <a:r>
              <a:t>spectator = abs(D_R - D_P) &lt; threshold</a:t>
            </a:r>
            <a:br/>
            <a:r>
              <a:t>D_ref = 0.5 * (D_R + D_P)</a:t>
            </a:r>
            <a:br/>
            <a:r>
              <a:t>D[spectator] = clip(D, D_ref*(1-tol), D_ref*(1+tol))</a:t>
            </a:r>
            <a:br/>
            <a:br/>
            <a:r>
              <a:t>if D[i,j] &gt; D[i,k] + D[k,j] + tri_tol:</a:t>
            </a:r>
            <a:br/>
            <a:r>
              <a:t>    D[i,j] = D[i,k] + D[k,j]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69480" y="4206240"/>
          <a:ext cx="4096512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8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Constraint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Spectator threshold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0.15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Spectator tolerance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Triangle tolerance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0.05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Fragment bond scale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1.45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6537960"/>
            <a:ext cx="1078992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800">
                <a:solidFill>
                  <a:srgbClr val="546070"/>
                </a:solidFill>
                <a:latin typeface="Aptos"/>
              </a:defRPr>
            </a:pPr>
            <a:r>
              <a:t>PSI Transition-State Prediction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900" b="1">
                <a:solidFill>
                  <a:srgbClr val="00897B"/>
                </a:solidFill>
                <a:latin typeface="Aptos"/>
              </a:defRPr>
            </a:pPr>
            <a:r>
              <a:t>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900" b="1">
                <a:solidFill>
                  <a:srgbClr val="181F2A"/>
                </a:solidFill>
                <a:latin typeface="Aptos Display"/>
              </a:defRPr>
            </a:pPr>
            <a:r>
              <a:t>Kabsch Alignment and Fragments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6263640" cy="4617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50"/>
              </a:spcAft>
              <a:defRPr sz="1280">
                <a:solidFill>
                  <a:srgbClr val="181F2A"/>
                </a:solidFill>
                <a:latin typeface="Aptos"/>
              </a:defRPr>
            </a:pPr>
            <a:r>
              <a:t>Connectivity is inferred with covalent radii and fragment_bond_scale. The fragment set is chosen from the side with more fragments so association/dissociation cases remain separated.</a:t>
            </a:r>
          </a:p>
          <a:p>
            <a:pPr>
              <a:spcAft>
                <a:spcPts val="250"/>
              </a:spcAft>
              <a:defRPr sz="1280">
                <a:solidFill>
                  <a:srgbClr val="181F2A"/>
                </a:solidFill>
                <a:latin typeface="Aptos"/>
              </a:defRPr>
            </a:pPr>
            <a:r>
              <a:t>For each fragment, reactant coordinates are rigidly aligned onto product coordinates before building midpoint references for energy features and coordinate recovery.</a:t>
            </a:r>
          </a:p>
          <a:p>
            <a:pPr>
              <a:spcAft>
                <a:spcPts val="250"/>
              </a:spcAft>
              <a:defRPr sz="1280">
                <a:solidFill>
                  <a:srgbClr val="181F2A"/>
                </a:solidFill>
                <a:latin typeface="Aptos"/>
              </a:defRPr>
            </a:pPr>
            <a:r>
              <a:t>Kabsch alignment centers both point sets, decomposes the covariance matrix with SVD, fixes reflection if det(VW) &lt; 0, and applies the rotation plus product centroid.</a:t>
            </a:r>
          </a:p>
          <a:p>
            <a:pPr>
              <a:spcAft>
                <a:spcPts val="250"/>
              </a:spcAft>
              <a:defRPr sz="1280">
                <a:solidFill>
                  <a:srgbClr val="181F2A"/>
                </a:solidFill>
                <a:latin typeface="Aptos"/>
              </a:defRPr>
            </a:pPr>
            <a:r>
              <a:t>Single-atom fragments are copied directly because rotation is undefined for one point.</a:t>
            </a:r>
          </a:p>
          <a:p>
            <a:pPr>
              <a:spcAft>
                <a:spcPts val="250"/>
              </a:spcAft>
              <a:defRPr sz="1280">
                <a:solidFill>
                  <a:srgbClr val="181F2A"/>
                </a:solidFill>
                <a:latin typeface="Aptos"/>
              </a:defRPr>
            </a:pPr>
            <a:r>
              <a:t>This preserves internal geometry while removing arbitrary global orientation before midpoint and MDS alignment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9480" y="1417320"/>
            <a:ext cx="4160520" cy="2377440"/>
          </a:xfrm>
          <a:prstGeom prst="roundRect">
            <a:avLst/>
          </a:prstGeom>
          <a:solidFill>
            <a:srgbClr val="1C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>
            <a:normAutofit/>
          </a:bodyPr>
          <a:lstStyle/>
          <a:p>
            <a:pPr algn="ctr">
              <a:defRPr sz="1000">
                <a:solidFill>
                  <a:srgbClr val="FFFFFF"/>
                </a:solidFill>
                <a:latin typeface="Consolas"/>
              </a:defRPr>
            </a:pPr>
            <a:r>
              <a:t>P0 = P - mean(P)</a:t>
            </a:r>
            <a:br/>
            <a:r>
              <a:t>Q0 = Q - mean(Q)</a:t>
            </a:r>
            <a:br/>
            <a:r>
              <a:t>C = P0.T @ Q0</a:t>
            </a:r>
            <a:br/>
            <a:r>
              <a:t>V, S, W = svd(C)</a:t>
            </a:r>
            <a:br/>
            <a:r>
              <a:t>if det(V @ W) &lt; 0: V[:, -1] *= -1</a:t>
            </a:r>
            <a:br/>
            <a:r>
              <a:t>R = V @ W</a:t>
            </a:r>
            <a:br/>
            <a:r>
              <a:t>P_aligned = P0 @ R + mean(Q)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9480" y="4343400"/>
            <a:ext cx="4160520" cy="749808"/>
          </a:xfrm>
          <a:prstGeom prst="roundRect">
            <a:avLst/>
          </a:prstGeom>
          <a:solidFill>
            <a:srgbClr val="EEF4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rtlCol="0" anchor="ctr">
            <a:normAutofit/>
          </a:bodyPr>
          <a:lstStyle/>
          <a:p>
            <a:pPr algn="ctr">
              <a:defRPr sz="1130" b="1">
                <a:solidFill>
                  <a:srgbClr val="00897B"/>
                </a:solidFill>
                <a:latin typeface="Aptos"/>
              </a:defRPr>
            </a:pPr>
            <a:r>
              <a:t>This is a rigid transform, so it changes coordinate frame but not reactant fragment bond lengths.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37960"/>
            <a:ext cx="1078992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800">
                <a:solidFill>
                  <a:srgbClr val="546070"/>
                </a:solidFill>
                <a:latin typeface="Aptos"/>
              </a:defRPr>
            </a:pPr>
            <a:r>
              <a:t>PSI Transition-State Prediction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900" b="1">
                <a:solidFill>
                  <a:srgbClr val="00897B"/>
                </a:solidFill>
                <a:latin typeface="Aptos"/>
              </a:defRPr>
            </a:pPr>
            <a:r>
              <a:t>TECHNICAL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900" b="1">
                <a:solidFill>
                  <a:srgbClr val="181F2A"/>
                </a:solidFill>
                <a:latin typeface="Aptos Display"/>
              </a:defRPr>
            </a:pPr>
            <a:r>
              <a:t>Part 1: Data Contract and Target Semantics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6309360" cy="4617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t>The code uses complete reactant/product/TS triplets because supervised TS learning needs endpoint inputs and a true TS target for the same reaction ID.</a:t>
            </a:r>
          </a:p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t>Atom ordering is treated as already matched across R, P, and TS. This keeps tensor construction simple, but it makes atom mapping an input contract.</a:t>
            </a:r>
          </a:p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t>The current Ea target is E_TS minus the higher-energy endpoint, not always the forward barrier from the reactant. This avoids requiring an explicit reaction direction label, but the semantics must be stated clearly.</a:t>
            </a:r>
          </a:p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t>Negative barriers are skipped when skip_negative_ea is enabled because they usually signal extraction, labeling, or endpoint-definition problems for this training objective.</a:t>
            </a:r>
          </a:p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t>Only C/H/N/O are present in the evaluated checkpoint, so the trained atom vocabulary is intentionally narrow.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78040" y="1325880"/>
          <a:ext cx="4297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Choice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Implementation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Triplet grouping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Require R, P, and TS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Gives one supervised sample per reaction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Atom order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Reuse TS order for tensors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Avoids solving atom mapping inside training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Ea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E_TS - max(E_R,E_P)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Direction-free high-side barrier used by this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Filtering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max_atoms and negative Ea checks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Keeps padded tensors bounded and labels sane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Vocabulary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C/H/N/O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Checkpoint cannot handle unseen atom 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178040" y="4663440"/>
            <a:ext cx="4297680" cy="749808"/>
          </a:xfrm>
          <a:prstGeom prst="roundRect">
            <a:avLst/>
          </a:prstGeom>
          <a:solidFill>
            <a:srgbClr val="EEF4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rtlCol="0" anchor="ctr">
            <a:normAutofit/>
          </a:bodyPr>
          <a:lstStyle/>
          <a:p>
            <a:pPr algn="ctr">
              <a:defRPr sz="1100" b="1">
                <a:solidFill>
                  <a:srgbClr val="D97706"/>
                </a:solidFill>
                <a:latin typeface="Aptos"/>
              </a:defRPr>
            </a:pPr>
            <a:r>
              <a:t>This is the slide to use when someone asks what the labels mean and what assumptions the dataset makes.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37960"/>
            <a:ext cx="1078992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800">
                <a:solidFill>
                  <a:srgbClr val="546070"/>
                </a:solidFill>
                <a:latin typeface="Aptos"/>
              </a:defRPr>
            </a:pPr>
            <a:r>
              <a:t>PSI Transition-State Prediction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900" b="1">
                <a:solidFill>
                  <a:srgbClr val="00897B"/>
                </a:solidFill>
                <a:latin typeface="Aptos"/>
              </a:defRPr>
            </a:pPr>
            <a:r>
              <a:t>TECHNICAL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900" b="1">
                <a:solidFill>
                  <a:srgbClr val="181F2A"/>
                </a:solidFill>
                <a:latin typeface="Aptos Display"/>
              </a:defRPr>
            </a:pPr>
            <a:r>
              <a:t>Part 2: Why Distances, Masks, and Fragments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6309360" cy="4617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t>The supervised geometry target is D_TS, a pairwise distance matrix, because distances do not change under global translation or rotation.</a:t>
            </a:r>
          </a:p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t>The 30-atom padded tensor shape keeps batching simple; atom masks prevent padded rows and columns from contributing to attention, loss, or metrics.</a:t>
            </a:r>
          </a:p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t>The geometry mask is derived from TS fragments so disconnected cross-fragment distances do not dominate the loss with arbitrary relative placement.</a:t>
            </a:r>
          </a:p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t>Fragment-aware processing matters for association and dissociation reactions: one global rigid alignment can create a false midpoint for separated species.</a:t>
            </a:r>
          </a:p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t>D_I is a midpoint prior between endpoints, giving the model a chemically plausible starting distance scale instead of asking it to predict from scratch.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325880"/>
            <a:ext cx="4160520" cy="1234440"/>
          </a:xfrm>
          <a:prstGeom prst="roundRect">
            <a:avLst/>
          </a:prstGeom>
          <a:solidFill>
            <a:srgbClr val="1C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>
            <a:normAutofit/>
          </a:bodyPr>
          <a:lstStyle/>
          <a:p>
            <a:pPr algn="ctr">
              <a:defRPr sz="940">
                <a:solidFill>
                  <a:srgbClr val="FFFFFF"/>
                </a:solidFill>
                <a:latin typeface="Consolas"/>
              </a:defRPr>
            </a:pPr>
            <a:r>
              <a:t>D_R  = pairwise(c_R)</a:t>
            </a:r>
            <a:br/>
            <a:r>
              <a:t>D_P  = pairwise(c_P)</a:t>
            </a:r>
            <a:br/>
            <a:r>
              <a:t>D_I  = 0.5 * (D_R + D_P)</a:t>
            </a:r>
            <a:br/>
            <a:r>
              <a:t>loss = loss * geom_mask * valid_atom_mask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23760" y="3063240"/>
          <a:ext cx="4160520" cy="1648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defRPr sz="9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Mechanism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Reason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91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Distance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Removes frame dependence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91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Atom mask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Ignores zero-padding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91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Fragment mask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Ignores arbitrary disconnected placement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91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Midpoint prior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Stabilizes early geometry prediction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223760" y="5074920"/>
            <a:ext cx="4160520" cy="603504"/>
          </a:xfrm>
          <a:prstGeom prst="roundRect">
            <a:avLst/>
          </a:prstGeom>
          <a:solidFill>
            <a:srgbClr val="EEF4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rtlCol="0" anchor="ctr">
            <a:normAutofit/>
          </a:bodyPr>
          <a:lstStyle/>
          <a:p>
            <a:pPr algn="ctr">
              <a:defRPr sz="1150" b="1">
                <a:solidFill>
                  <a:srgbClr val="00897B"/>
                </a:solidFill>
                <a:latin typeface="Aptos"/>
              </a:defRPr>
            </a:pPr>
            <a:r>
              <a:t>The model learns reaction geometry, not coordinate-frame bookkeeping.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37960"/>
            <a:ext cx="1078992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800">
                <a:solidFill>
                  <a:srgbClr val="546070"/>
                </a:solidFill>
                <a:latin typeface="Aptos"/>
              </a:defRPr>
            </a:pPr>
            <a:r>
              <a:t>PSI Transition-State Prediction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900" b="1">
                <a:solidFill>
                  <a:srgbClr val="00897B"/>
                </a:solidFill>
                <a:latin typeface="Aptos"/>
              </a:defRPr>
            </a:pPr>
            <a:r>
              <a:t>TECHNICAL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900" b="1">
                <a:solidFill>
                  <a:srgbClr val="181F2A"/>
                </a:solidFill>
                <a:latin typeface="Aptos Display"/>
              </a:defRPr>
            </a:pPr>
            <a:r>
              <a:t>Part 3: Why the R -&gt; I -&gt; P Encoder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6309360" cy="4617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t>For each atom, the model reads three distance-based states: reactant, midpoint, and product.</a:t>
            </a:r>
          </a:p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t>Gaussian radial basis features turn raw distances into smooth local channels, so small distance changes produce smooth feature changes.</a:t>
            </a:r>
          </a:p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t>The bidirectional GRU treats R/I/P as a short reaction-coordinate sequence and extracts the midpoint context after seeing both endpoints.</a:t>
            </a:r>
          </a:p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t>Transformer layers then let all atoms exchange information globally, which is needed because a bond change in one region can shift the TS geometry elsewhere.</a:t>
            </a:r>
          </a:p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t>Pre-norm residual Transformer layers make deep attention blocks easier to optimize under long training.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371600"/>
            <a:ext cx="38862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/>
          <a:p>
            <a:pPr algn="ctr"/>
            <a:r>
              <a:rPr sz="1200" b="1">
                <a:solidFill>
                  <a:srgbClr val="2A63B5"/>
                </a:solidFill>
                <a:latin typeface="Aptos"/>
              </a:rPr>
              <a:t>Gaussian RBF</a:t>
            </a:r>
          </a:p>
          <a:p>
            <a:pPr>
              <a:defRPr sz="950">
                <a:solidFill>
                  <a:srgbClr val="546070"/>
                </a:solidFill>
                <a:latin typeface="Aptos"/>
              </a:defRPr>
            </a:pPr>
            <a:r>
              <a:t>32 channels over 0.4-6.0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212848"/>
            <a:ext cx="38862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/>
          <a:p>
            <a:pPr algn="ctr"/>
            <a:r>
              <a:rPr sz="1200" b="1">
                <a:solidFill>
                  <a:srgbClr val="00897B"/>
                </a:solidFill>
                <a:latin typeface="Aptos"/>
              </a:rPr>
              <a:t>BiGRU</a:t>
            </a:r>
          </a:p>
          <a:p>
            <a:pPr>
              <a:defRPr sz="950">
                <a:solidFill>
                  <a:srgbClr val="546070"/>
                </a:solidFill>
                <a:latin typeface="Aptos"/>
              </a:defRPr>
            </a:pPr>
            <a:r>
              <a:t>Reads R, I, and P as a 3-step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3054096"/>
            <a:ext cx="38862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/>
          <a:p>
            <a:pPr algn="ctr"/>
            <a:r>
              <a:rPr sz="1200" b="1">
                <a:solidFill>
                  <a:srgbClr val="6D28D9"/>
                </a:solidFill>
                <a:latin typeface="Aptos"/>
              </a:rPr>
              <a:t>Transformer</a:t>
            </a:r>
          </a:p>
          <a:p>
            <a:pPr>
              <a:defRPr sz="950">
                <a:solidFill>
                  <a:srgbClr val="546070"/>
                </a:solidFill>
                <a:latin typeface="Aptos"/>
              </a:defRPr>
            </a:pPr>
            <a:r>
              <a:t>Global atom-to-atom context with padding mask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4069080"/>
            <a:ext cx="3886200" cy="960120"/>
          </a:xfrm>
          <a:prstGeom prst="roundRect">
            <a:avLst/>
          </a:prstGeom>
          <a:solidFill>
            <a:srgbClr val="1C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>
            <a:normAutofit/>
          </a:bodyPr>
          <a:lstStyle/>
          <a:p>
            <a:pPr algn="ctr">
              <a:defRPr sz="900">
                <a:solidFill>
                  <a:srgbClr val="FFFFFF"/>
                </a:solidFill>
                <a:latin typeface="Consolas"/>
              </a:defRPr>
            </a:pPr>
            <a:r>
              <a:t>emb = [RBF(D_R), RBF(D_I), RBF(D_P)]</a:t>
            </a:r>
            <a:br/>
            <a:r>
              <a:t>h_mid = BiGRU(emb)[:, midpoint]</a:t>
            </a:r>
            <a:br/>
            <a:r>
              <a:t>node = Transformer(h_mid)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5349240"/>
            <a:ext cx="3886200" cy="438912"/>
          </a:xfrm>
          <a:prstGeom prst="roundRect">
            <a:avLst/>
          </a:prstGeom>
          <a:solidFill>
            <a:srgbClr val="EEF4FF"/>
          </a:solidFill>
          <a:ln>
            <a:solidFill>
              <a:srgbClr val="2A6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rtlCol="0" anchor="ctr">
            <a:normAutofit/>
          </a:bodyPr>
          <a:lstStyle/>
          <a:p>
            <a:pPr algn="ctr">
              <a:defRPr sz="1060" b="1">
                <a:solidFill>
                  <a:srgbClr val="2A63B5"/>
                </a:solidFill>
                <a:latin typeface="Aptos"/>
              </a:defRPr>
            </a:pPr>
            <a:r>
              <a:t>This is why the architecture sees both endpoints before predicting the 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1078992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800">
                <a:solidFill>
                  <a:srgbClr val="546070"/>
                </a:solidFill>
                <a:latin typeface="Aptos"/>
              </a:defRPr>
            </a:pPr>
            <a:r>
              <a:t>PSI Transition-State Prediction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900" b="1">
                <a:solidFill>
                  <a:srgbClr val="00897B"/>
                </a:solidFill>
                <a:latin typeface="Aptos"/>
              </a:defRPr>
            </a:pPr>
            <a:r>
              <a:t>TECHNICAL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900" b="1">
                <a:solidFill>
                  <a:srgbClr val="181F2A"/>
                </a:solidFill>
                <a:latin typeface="Aptos Display"/>
              </a:defRPr>
            </a:pPr>
            <a:r>
              <a:t>Part 4: Why Alpha Interpolation Plus Delta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6309360" cy="4617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t>The geometry head does not directly emit arbitrary distances. It starts from an endpoint interpolation and learns a bounded correction.</a:t>
            </a:r>
          </a:p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t>alpha is passed through sigmoid, so each pair starts between reactant-like and product-like distances.</a:t>
            </a:r>
          </a:p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t>The final layer is initialized to zero, making alpha=0.5 and delta=0 at initialization. The first prediction is therefore the endpoint midpoint.</a:t>
            </a:r>
          </a:p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t>delta is clamped to +/-3.0 A so a single bad pairwise output cannot create a huge unphysical distance.</a:t>
            </a:r>
          </a:p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t>A coarse auxiliary loss supervises this pre-EGNN distance matrix directly, which gives MDS and EGNN a better seed.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353312"/>
            <a:ext cx="4206240" cy="1600200"/>
          </a:xfrm>
          <a:prstGeom prst="roundRect">
            <a:avLst/>
          </a:prstGeom>
          <a:solidFill>
            <a:srgbClr val="1C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>
            <a:normAutofit/>
          </a:bodyPr>
          <a:lstStyle/>
          <a:p>
            <a:pPr algn="ctr">
              <a:defRPr sz="910">
                <a:solidFill>
                  <a:srgbClr val="FFFFFF"/>
                </a:solidFill>
                <a:latin typeface="Consolas"/>
              </a:defRPr>
            </a:pPr>
            <a:r>
              <a:t>alpha = sigmoid(alpha_logit)</a:t>
            </a:r>
            <a:br/>
            <a:r>
              <a:t>delta = clamp(delta, -3.0, +3.0)</a:t>
            </a:r>
            <a:br/>
            <a:r>
              <a:t>D_base = alpha*D_R + (1-alpha)*D_P</a:t>
            </a:r>
            <a:br/>
            <a:r>
              <a:t>D_TS   = symmetrize(clamp(D_base + delta, 0))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23760" y="3401568"/>
          <a:ext cx="4206240" cy="1730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526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Design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526"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Midpoint init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Stable first epoch behavior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526"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Sigmoid alpha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Pairwise TS position is endpoint-bounded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526"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Clamped delta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Allows chemistry-specific correction without explosions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528"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Symmetry/diagonal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Keeps output a valid distance matrix shape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223760" y="5394960"/>
            <a:ext cx="4206240" cy="438912"/>
          </a:xfrm>
          <a:prstGeom prst="roundRect">
            <a:avLst/>
          </a:prstGeom>
          <a:solidFill>
            <a:srgbClr val="EEF4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rtlCol="0" anchor="ctr">
            <a:normAutofit/>
          </a:bodyPr>
          <a:lstStyle/>
          <a:p>
            <a:pPr algn="ctr">
              <a:defRPr sz="1080" b="1">
                <a:solidFill>
                  <a:srgbClr val="D97706"/>
                </a:solidFill>
                <a:latin typeface="Aptos"/>
              </a:defRPr>
            </a:pPr>
            <a:r>
              <a:t>This turns geometry prediction into correction of a physical prior.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37960"/>
            <a:ext cx="1078992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800">
                <a:solidFill>
                  <a:srgbClr val="546070"/>
                </a:solidFill>
                <a:latin typeface="Aptos"/>
              </a:defRPr>
            </a:pPr>
            <a:r>
              <a:t>PSI Transition-State Prediction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900" b="1">
                <a:solidFill>
                  <a:srgbClr val="00897B"/>
                </a:solidFill>
                <a:latin typeface="Aptos"/>
              </a:defRPr>
            </a:pPr>
            <a:r>
              <a:t>TECHNICAL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900" b="1">
                <a:solidFill>
                  <a:srgbClr val="181F2A"/>
                </a:solidFill>
                <a:latin typeface="Aptos Display"/>
              </a:defRPr>
            </a:pPr>
            <a:r>
              <a:t>Part 5: Why MDS Then EGNN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6309360" cy="4617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t>MDS converts the predicted distance matrix into a concrete 3D seed, which is necessary before a coordinate refiner can operate.</a:t>
            </a:r>
          </a:p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t>The MDS seed is detached in the forward pass. This avoids relying on the unstable backward path through eigendecomposition.</a:t>
            </a:r>
          </a:p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t>The code runs eigendecomposition on CPU with float64 and diagonal jitter because padded molecules create repeated zero eigenvalues.</a:t>
            </a:r>
          </a:p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t>EGNN refinement then updates coordinates with E(n)-equivariant message passing, so rotations and translations are handled consistently.</a:t>
            </a:r>
          </a:p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t>The final distance loss is computed after EGNN refinement, meaning the supervised geometry is the actual refined TS 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353312"/>
            <a:ext cx="38862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/>
          <a:p>
            <a:pPr algn="ctr"/>
            <a:r>
              <a:rPr sz="1200" b="1">
                <a:solidFill>
                  <a:srgbClr val="2A63B5"/>
                </a:solidFill>
                <a:latin typeface="Aptos"/>
              </a:rPr>
              <a:t>Coarse D_TS</a:t>
            </a:r>
          </a:p>
          <a:p>
            <a:pPr>
              <a:defRPr sz="950">
                <a:solidFill>
                  <a:srgbClr val="546070"/>
                </a:solidFill>
                <a:latin typeface="Aptos"/>
              </a:defRPr>
            </a:pPr>
            <a:r>
              <a:t>Distance head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139696"/>
            <a:ext cx="38862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/>
          <a:p>
            <a:pPr algn="ctr"/>
            <a:r>
              <a:rPr sz="1200" b="1">
                <a:solidFill>
                  <a:srgbClr val="00897B"/>
                </a:solidFill>
                <a:latin typeface="Aptos"/>
              </a:rPr>
              <a:t>Masked MDS</a:t>
            </a:r>
          </a:p>
          <a:p>
            <a:pPr>
              <a:defRPr sz="950">
                <a:solidFill>
                  <a:srgbClr val="546070"/>
                </a:solidFill>
                <a:latin typeface="Aptos"/>
              </a:defRPr>
            </a:pPr>
            <a:r>
              <a:t>Double-center D^2; keep top 3 components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926080"/>
            <a:ext cx="38862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/>
          <a:p>
            <a:pPr algn="ctr"/>
            <a:r>
              <a:rPr sz="1200" b="1">
                <a:solidFill>
                  <a:srgbClr val="6D28D9"/>
                </a:solidFill>
                <a:latin typeface="Aptos"/>
              </a:rPr>
              <a:t>EGNN</a:t>
            </a:r>
          </a:p>
          <a:p>
            <a:pPr>
              <a:defRPr sz="950">
                <a:solidFill>
                  <a:srgbClr val="546070"/>
                </a:solidFill>
                <a:latin typeface="Aptos"/>
              </a:defRPr>
            </a:pPr>
            <a:r>
              <a:t>4 equivariant layers, clipped coordinate updates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712463"/>
            <a:ext cx="38862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/>
          <a:p>
            <a:pPr algn="ctr"/>
            <a:r>
              <a:rPr sz="1200" b="1">
                <a:solidFill>
                  <a:srgbClr val="D97706"/>
                </a:solidFill>
                <a:latin typeface="Aptos"/>
              </a:rPr>
              <a:t>Refined D_TS</a:t>
            </a:r>
          </a:p>
          <a:p>
            <a:pPr>
              <a:defRPr sz="950">
                <a:solidFill>
                  <a:srgbClr val="546070"/>
                </a:solidFill>
                <a:latin typeface="Aptos"/>
              </a:defRPr>
            </a:pPr>
            <a:r>
              <a:t>Recomputed from coordinates for loss and Ea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4754880"/>
            <a:ext cx="3886200" cy="841248"/>
          </a:xfrm>
          <a:prstGeom prst="roundRect">
            <a:avLst/>
          </a:prstGeom>
          <a:solidFill>
            <a:srgbClr val="EEF4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rtlCol="0" anchor="ctr">
            <a:normAutofit/>
          </a:bodyPr>
          <a:lstStyle/>
          <a:p>
            <a:pPr algn="ctr">
              <a:defRPr sz="1100" b="1">
                <a:solidFill>
                  <a:srgbClr val="00897B"/>
                </a:solidFill>
                <a:latin typeface="Aptos"/>
              </a:defRPr>
            </a:pPr>
            <a:r>
              <a:t>MDS provides a coordinate seed; EGNN makes chemically local adjustments without breaking rigid-motion consistency.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1078992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800">
                <a:solidFill>
                  <a:srgbClr val="546070"/>
                </a:solidFill>
                <a:latin typeface="Aptos"/>
              </a:defRPr>
            </a:pPr>
            <a:r>
              <a:t>PSI Transition-State Prediction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900" b="1">
                <a:solidFill>
                  <a:srgbClr val="00897B"/>
                </a:solidFill>
                <a:latin typeface="Aptos"/>
              </a:defRPr>
            </a:pPr>
            <a:r>
              <a:t>TECHNICAL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900" b="1">
                <a:solidFill>
                  <a:srgbClr val="181F2A"/>
                </a:solidFill>
                <a:latin typeface="Aptos Display"/>
              </a:defRPr>
            </a:pPr>
            <a:r>
              <a:t>Part 6: Why the Energy Head Is Warmed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6309360" cy="4617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t>The learned Ea head depends on EGNN-refined TS features, so early geometry mistakes would otherwise dominate the shared representation.</a:t>
            </a:r>
          </a:p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t>The training loop monitors Ea every epoch but adds Ea loss only after the warmup period.</a:t>
            </a:r>
          </a:p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t>Ea is z-scored for training because raw kcal/mol targets are much larger than geometry losses and would otherwise dominate optimization.</a:t>
            </a:r>
          </a:p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t>The head also receives signed reaction energy and a 20D descriptor vector so it can learn BEP-like trends and composition/displacement context.</a:t>
            </a:r>
          </a:p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t>The Marcus/Hammond/OLS calculation remains a baseline, giving a sanity check against a simpler chemistry-inspired model.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78040" y="1371600"/>
          <a:ext cx="4297680" cy="2212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Part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Implementation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Geometry warmup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200 epochs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Avoids learning energy from poor early TS guesses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Ea target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z-scored kcal/mol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Keeps scale compatible with geometry losses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Inputs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pooled EGNN + de_rxn + 20D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Combines local TS environment with global reaction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Marcus/Hammond/OLS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Tests whether learned head adds value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178040" y="3977639"/>
            <a:ext cx="4297680" cy="1097280"/>
          </a:xfrm>
          <a:prstGeom prst="roundRect">
            <a:avLst/>
          </a:prstGeom>
          <a:solidFill>
            <a:srgbClr val="1C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>
            <a:normAutofit/>
          </a:bodyPr>
          <a:lstStyle/>
          <a:p>
            <a:pPr algn="ctr">
              <a:defRPr sz="900">
                <a:solidFill>
                  <a:srgbClr val="FFFFFF"/>
                </a:solidFill>
                <a:latin typeface="Consolas"/>
              </a:defRPr>
            </a:pPr>
            <a:r>
              <a:t>if epoch &gt; ea_warmup:</a:t>
            </a:r>
            <a:br/>
            <a:r>
              <a:t>    loss += w_ea * SmoothL1(Ea_norm)</a:t>
            </a:r>
            <a:br/>
            <a:br/>
            <a:r>
              <a:t>Ea = Ea_norm * ea_std + ea_mean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5376672"/>
            <a:ext cx="4297680" cy="438912"/>
          </a:xfrm>
          <a:prstGeom prst="roundRect">
            <a:avLst/>
          </a:prstGeom>
          <a:solidFill>
            <a:srgbClr val="EEF4FF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rtlCol="0" anchor="ctr">
            <a:normAutofit/>
          </a:bodyPr>
          <a:lstStyle/>
          <a:p>
            <a:pPr algn="ctr">
              <a:defRPr sz="1080" b="1">
                <a:solidFill>
                  <a:srgbClr val="B91C1C"/>
                </a:solidFill>
                <a:latin typeface="Aptos"/>
              </a:defRPr>
            </a:pPr>
            <a:r>
              <a:t>The head is deliberately downstream of geometry quality.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37960"/>
            <a:ext cx="1078992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800">
                <a:solidFill>
                  <a:srgbClr val="546070"/>
                </a:solidFill>
                <a:latin typeface="Aptos"/>
              </a:defRPr>
            </a:pPr>
            <a:r>
              <a:t>PSI Transition-State Prediction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900" b="1">
                <a:solidFill>
                  <a:srgbClr val="00897B"/>
                </a:solidFill>
                <a:latin typeface="Aptos"/>
              </a:defRPr>
            </a:pPr>
            <a:r>
              <a:t>TECHNICAL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900" b="1">
                <a:solidFill>
                  <a:srgbClr val="181F2A"/>
                </a:solidFill>
                <a:latin typeface="Aptos Display"/>
              </a:defRPr>
            </a:pPr>
            <a:r>
              <a:t>Part 7: Why the Physics Loss Terms Exist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6309360" cy="4617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rPr dirty="0"/>
              <a:t>Huber geometry loss is less sensitive than MSE to a few difficult atom pairs while still rewarding small-distance accuracy.</a:t>
            </a:r>
          </a:p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rPr dirty="0"/>
              <a:t>The coarse loss trains the pairwise head even though the final loss is measured after EGNN refinement.</a:t>
            </a:r>
          </a:p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rPr dirty="0"/>
              <a:t>Spectator loss encodes the assumption that pairs with little endpoint change should stay near the endpoint midpoint.</a:t>
            </a:r>
          </a:p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rPr dirty="0"/>
              <a:t>Active-pair bounds allow bond-forming and bond-breaking distances to move, but penalize values far outside the endpoint range plus margin.</a:t>
            </a:r>
          </a:p>
          <a:p>
            <a:pPr>
              <a:spcAft>
                <a:spcPts val="240"/>
              </a:spcAft>
              <a:defRPr sz="1260">
                <a:solidFill>
                  <a:srgbClr val="181F2A"/>
                </a:solidFill>
                <a:latin typeface="Aptos"/>
              </a:defRPr>
            </a:pPr>
            <a:r>
              <a:rPr dirty="0"/>
              <a:t>Gradient clipping keeps rare bad batches from producing a large optimizer step during long training.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325880"/>
            <a:ext cx="4160520" cy="1965960"/>
          </a:xfrm>
          <a:prstGeom prst="roundRect">
            <a:avLst/>
          </a:prstGeom>
          <a:solidFill>
            <a:srgbClr val="1C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>
            <a:normAutofit/>
          </a:bodyPr>
          <a:lstStyle/>
          <a:p>
            <a:pPr algn="ctr">
              <a:defRPr sz="890">
                <a:solidFill>
                  <a:srgbClr val="FFFFFF"/>
                </a:solidFill>
                <a:latin typeface="Consolas"/>
              </a:defRPr>
            </a:pPr>
            <a:r>
              <a:t>L = Huber(D_refined, D_true)</a:t>
            </a:r>
            <a:br/>
            <a:r>
              <a:t>  + w_coarse * Huber(D_coarse, D_true)</a:t>
            </a:r>
            <a:br/>
            <a:r>
              <a:t>  + 0.2 * (L_spectator + 0.5*L_bounds)</a:t>
            </a:r>
            <a:br/>
            <a:br/>
            <a:r>
              <a:t>clip_grad_norm_(model.parameters(), 1.0)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23760" y="3703320"/>
          <a:ext cx="416052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Setting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spectator_threshold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0.15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bounds margin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0.2 A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geom_coarse_weight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grad_clip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223760" y="5349240"/>
            <a:ext cx="4160520" cy="438912"/>
          </a:xfrm>
          <a:prstGeom prst="roundRect">
            <a:avLst/>
          </a:prstGeom>
          <a:solidFill>
            <a:srgbClr val="EEF4FF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rtlCol="0" anchor="ctr">
            <a:normAutofit/>
          </a:bodyPr>
          <a:lstStyle/>
          <a:p>
            <a:pPr algn="ctr">
              <a:defRPr sz="1080" b="1">
                <a:solidFill>
                  <a:srgbClr val="6D28D9"/>
                </a:solidFill>
                <a:latin typeface="Aptos"/>
              </a:defRPr>
            </a:pPr>
            <a:r>
              <a:t>The loss mixes supervised data fit with simple chemistry constraints.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37960"/>
            <a:ext cx="1078992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800">
                <a:solidFill>
                  <a:srgbClr val="546070"/>
                </a:solidFill>
                <a:latin typeface="Aptos"/>
              </a:defRPr>
            </a:pPr>
            <a:r>
              <a:t>PSI Transition-State Prediction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900" b="1">
                <a:solidFill>
                  <a:srgbClr val="00897B"/>
                </a:solidFill>
                <a:latin typeface="Aptos"/>
              </a:defRPr>
            </a:pPr>
            <a:r>
              <a:t>TECHNICAL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900" b="1">
                <a:solidFill>
                  <a:srgbClr val="181F2A"/>
                </a:solidFill>
                <a:latin typeface="Aptos Display"/>
              </a:defRPr>
            </a:pPr>
            <a:r>
              <a:t>Part 8: Artifact Contract and Reproducibility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6309360" cy="4617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40"/>
              </a:spcAft>
              <a:defRPr sz="1240">
                <a:solidFill>
                  <a:srgbClr val="181F2A"/>
                </a:solidFill>
                <a:latin typeface="Aptos"/>
              </a:defRPr>
            </a:pPr>
            <a:r>
              <a:t>The checkpoint is more than weights: it stores atom vocabulary and normalization statistics that inference must reuse exactly.</a:t>
            </a:r>
          </a:p>
          <a:p>
            <a:pPr>
              <a:spcAft>
                <a:spcPts val="240"/>
              </a:spcAft>
              <a:defRPr sz="1240">
                <a:solidFill>
                  <a:srgbClr val="181F2A"/>
                </a:solidFill>
                <a:latin typeface="Aptos"/>
              </a:defRPr>
            </a:pPr>
            <a:r>
              <a:t>Training/validation splits use split_seed, and normalization statistics are computed only from train indices to avoid validation leakage.</a:t>
            </a:r>
          </a:p>
          <a:p>
            <a:pPr>
              <a:spcAft>
                <a:spcPts val="240"/>
              </a:spcAft>
              <a:defRPr sz="1240">
                <a:solidFill>
                  <a:srgbClr val="181F2A"/>
                </a:solidFill>
                <a:latin typeface="Aptos"/>
              </a:defRPr>
            </a:pPr>
            <a:r>
              <a:t>Coordinate augmentation improves robustness, but the current dataset noise path uses random sampling and should be seeded per worker for exact reproducibility.</a:t>
            </a:r>
          </a:p>
          <a:p>
            <a:pPr>
              <a:spcAft>
                <a:spcPts val="240"/>
              </a:spcAft>
              <a:defRPr sz="1240">
                <a:solidFill>
                  <a:srgbClr val="181F2A"/>
                </a:solidFill>
                <a:latin typeface="Aptos"/>
              </a:defRPr>
            </a:pPr>
            <a:r>
              <a:t>The current source expects physics_ea_coeffs for prediction-time physics baseline; older checkpoints may not contain that metadata and should be regenerated or guarded.</a:t>
            </a:r>
          </a:p>
          <a:p>
            <a:pPr>
              <a:spcAft>
                <a:spcPts val="240"/>
              </a:spcAft>
              <a:defRPr sz="1240">
                <a:solidFill>
                  <a:srgbClr val="181F2A"/>
                </a:solidFill>
                <a:latin typeface="Aptos"/>
              </a:defRPr>
            </a:pPr>
            <a:r>
              <a:t>Post-processing should be centralized because training evaluation and prediction currently apply slightly different constraint sequences.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78040" y="1325880"/>
          <a:ext cx="4297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Artifact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84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atom_vocab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Maps atom symbols to model 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84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aphys/efeat stats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Recreates training normalization at inference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84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ea_mean/ea_std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Denormalizes learned Ea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84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config_snapshot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Records key architecture and training settings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84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physics_ea_coeffs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Needed by current predict baseline 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178040" y="4251960"/>
            <a:ext cx="4297680" cy="841248"/>
          </a:xfrm>
          <a:prstGeom prst="roundRect">
            <a:avLst/>
          </a:prstGeom>
          <a:solidFill>
            <a:srgbClr val="EEF4FF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rtlCol="0" anchor="ctr">
            <a:normAutofit/>
          </a:bodyPr>
          <a:lstStyle/>
          <a:p>
            <a:pPr algn="ctr">
              <a:defRPr sz="1100" b="1">
                <a:solidFill>
                  <a:srgbClr val="B91C1C"/>
                </a:solidFill>
                <a:latin typeface="Aptos"/>
              </a:defRPr>
            </a:pPr>
            <a:r>
              <a:t>Practical rule: a prediction run must use the same feature construction, normalization, and post-processing contract as 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5349240"/>
            <a:ext cx="4297680" cy="438912"/>
          </a:xfrm>
          <a:prstGeom prst="roundRect">
            <a:avLst/>
          </a:prstGeom>
          <a:solidFill>
            <a:srgbClr val="EEF4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rtlCol="0" anchor="ctr">
            <a:normAutofit/>
          </a:bodyPr>
          <a:lstStyle/>
          <a:p>
            <a:pPr algn="ctr">
              <a:defRPr sz="1080" b="1">
                <a:solidFill>
                  <a:srgbClr val="D97706"/>
                </a:solidFill>
                <a:latin typeface="Aptos"/>
              </a:defRPr>
            </a:pPr>
            <a:r>
              <a:t>This is the main engineering risk to fix before benchmark claims.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37960"/>
            <a:ext cx="1078992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800">
                <a:solidFill>
                  <a:srgbClr val="546070"/>
                </a:solidFill>
                <a:latin typeface="Aptos"/>
              </a:defRPr>
            </a:pPr>
            <a:r>
              <a:t>PSI Transition-State Prediction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900" b="1">
                <a:solidFill>
                  <a:srgbClr val="00897B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900" b="1">
                <a:solidFill>
                  <a:srgbClr val="181F2A"/>
                </a:solidFill>
                <a:latin typeface="Aptos Display"/>
              </a:defRPr>
            </a:pPr>
            <a:r>
              <a:t>Known Limits and Next Technical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298448"/>
          <a:ext cx="108356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4765"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Current behavior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Technique-focused next step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>
                        <a:defRPr sz="96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Generalization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Train/validation gap remains large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Stratify by reaction family and molecular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>
                        <a:defRPr sz="96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Target definition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Ea is TS minus higher-energy endpoint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Clarify forward/reverse barrier semantics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>
                        <a:defRPr sz="96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Inference assumption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Requires matched atom ordering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Add atom-mapping validation or mapping 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>
                        <a:defRPr sz="96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Chemistry scope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Observed atom types: C/H/N/O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Expand data and validate larger vocabularies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>
                        <a:defRPr sz="96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Post-processing drift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Training/eval/inference constraints differ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Centralize one shared post-processing function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770">
                <a:tc>
                  <a:txBody>
                    <a:bodyPr/>
                    <a:lstStyle/>
                    <a:p>
                      <a:pPr algn="l">
                        <a:defRPr sz="96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Calibration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Negative Ea predictions can occur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0">
                          <a:solidFill>
                            <a:srgbClr val="181F2A"/>
                          </a:solidFill>
                          <a:latin typeface="Aptos"/>
                        </a:defRPr>
                      </a:pPr>
                      <a:r>
                        <a:t>Add calibrated non-negative handling if required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60120" y="5623560"/>
            <a:ext cx="10195560" cy="566928"/>
          </a:xfrm>
          <a:prstGeom prst="roundRect">
            <a:avLst/>
          </a:prstGeom>
          <a:solidFill>
            <a:srgbClr val="EEF4FF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rtlCol="0" anchor="ctr">
            <a:normAutofit/>
          </a:bodyPr>
          <a:lstStyle/>
          <a:p>
            <a:pPr algn="ctr">
              <a:defRPr sz="1200" b="1">
                <a:solidFill>
                  <a:srgbClr val="B91C1C"/>
                </a:solidFill>
                <a:latin typeface="Aptos"/>
              </a:defRPr>
            </a:pPr>
            <a:r>
              <a:t>The next highest-value work is not another summary figure; it is correctness alignment, stratified validation, and uncertainty/calibration around the learned Ea head.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1078992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800">
                <a:solidFill>
                  <a:srgbClr val="546070"/>
                </a:solidFill>
                <a:latin typeface="Aptos"/>
              </a:defRPr>
            </a:pPr>
            <a:r>
              <a:t>PSI Transition-State Prediction |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4587</Words>
  <Application>Microsoft Office PowerPoint</Application>
  <PresentationFormat>Widescreen</PresentationFormat>
  <Paragraphs>492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2102075 - Shahriar Sultan</cp:lastModifiedBy>
  <cp:revision>2</cp:revision>
  <dcterms:created xsi:type="dcterms:W3CDTF">2013-01-27T09:14:16Z</dcterms:created>
  <dcterms:modified xsi:type="dcterms:W3CDTF">2026-07-03T14:24:26Z</dcterms:modified>
  <cp:category/>
</cp:coreProperties>
</file>