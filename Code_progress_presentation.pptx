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this is a status talk on the PSI transition-state model — where the project stands today and where it can realistically go. Two threads: geometry prediction and activation-energy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transition state is the bottleneck of a reaction. Locating it with DFT saddle-point search is expensive and fragile — many restarts, frequent failures. We want to skip straight to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task precisely. Inputs are the two padded 3D structures. Outputs are the predicted TS distance matrix (reconstructed to coordinates) and the scalar activation energy in kcal/mol. Everything downstream serves these two heads.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stages, end to end. Point out that everything from parsing to normalization is deterministic data engineering; the learned model is stages 6 and 7. The split is stratified and leakage-checked — flag that we will return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moved off the early b97d3 extraction and onto RGD1 — a much larger, more varied transition-state dataset. The move roughly tripled usable reactions and shifted the barrier distribution upward, which is what exposed the high-barrier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is stratified on barrier, size, complexity and risk — so validation looks like training. Crucially, no reaction id leaks across the boundary. This clean split is what makes the metrics trustworthy; it was not always the case, as we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modeling decision: the network never sees raw coordinates. It works in pairwise distance space, which is invariant to rotation and translation. Coordinate updates in the EGNN are equivariant. So rotating the input rotates the output exactly — no arbitrary alignment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forward pass left to right. Distances get a Gaussian radial-basis embedding, a GRU reads each atom's R-to-I-to-P sequence, a Transformer mixes atoms, we predict a coarse TS distance matrix, embed it to 3D via MDS, then eight EGNN layers refine the geometry. The refined node features feed the energy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backbone is the geometry engine. Message passing uses invariant pairwise distances and node features — atomic number, electronegativity, covalent radius. Coordinates update as a weighted sum of relative displacement vectors, which is what guarantees equivariance.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energy head is deliberately decoupled. During warmup the geometry features are detached before entering the head, so energy training never distorts the graph. The head cross-attends over node features to find the reaction center that dominates the barrier.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is multi-term and physics-informed. Huber replaced MSE and Gaussian NLL to kill outlier spikes and variance collapse. Inverse-distance weighting fixes fragment melting. A triangle term enforces metric consistency, and a risk term forces attention onto the bonds that actually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instructive failure. Uniform loss over the distance matrix means a 10% error on a 10-angstrom inter-fragment distance dominates a 10% error on a 1.5-angstrom bond. The network places fragments correctly but melts local structure — and the energy head cheats off the thermodynamic scalar. Inverse-distance weighting equalizes the gradients.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blunt but critical fix. Evaluation had been using a random shuffle instead of the training split, so up to 90% of training reactions leaked into the reported validation set — flattering every metric. Switching evaluation to the same stratified sampler restored an honest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path. Several runs failed productively: a doomed NLL run collapsed its variance, one checkpoint corrupted, a July 15 restart died at three epochs. The pre-28d run and the current RGD1 run are the ones that matter. Each failure taught a specific fix now baked into the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comparison. Where we started with the physics baseline, where the completed b97d3 model landed, and where the live RGD1 run is now — on a harder, larger, higher-barrier dataset. Note the current run is still improving.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energy-learning curve for the current run. Validation Ea MAE falls from 12.4 at epoch 1 to 4.8 and is still trending down. The train-validation gap is modest — the tail-weighted, detach-warmup schedule is holding generalization.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geometry curve for the same run. Validation TS distance MAE sits around 0.167 angstrom. It is above the smaller-dataset 0.113 because RGD1 reactions are larger and more complex — this is the number the intra-fragment penalty in the roadmap is meant to push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Quantify the value of learning over physics. On the same validation set, the neural head cuts Ea MAE by roughly 3x and more than doubles R². The physics model is retained only as a fallback for legacy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error actually lives. The model is reliable up to about 80 kcal/mol, then grows increasingly conservative — it regresses rare high barriers toward the common range. The 120-plus bin is underpredicted every time. This tail dominates RMSE and is the primary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Energy error is not a pure energy-head problem. When TS geometry is good, sub 0.05 angstrom, Ea MAE is 2.7. When geometry exceeds 0.30 angstrom, Ea MAE blows up to 15. Better geometry supervision is therefore also an energy fix — the two heads are coupled.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north star. Chemical accuracy is 1 kcal/mol. We are at 4.8 on a hard dataset. The gap is real but the trajectory is favorable, and most of the remaining error is a well-characterized tail rather than a broad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concrete, code-scoped phases. Tail weighting is already active. Reaction-class weighting targets the hard C-C skeletal and C-N/N-N families. The intra-fragment penalty attacks geometry directly. Error-tail focus reweights the worst residuals. Each phase produces a saved history and summary before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concrete code change to make once the run finishes. We already store formed/broken bond counts and risky bond types per reaction — reuse them as class weights inside the Ea loss only, leaving geometry loss untouched. Target the families that stay underpredicted: C-C skeletal and heteroatom rearrangements.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geometry-coupling slide told us where to push. Cases with geometry MAE above 0.30 angstrom carry Ea MAE of 15; under 0.05 they carry 2.7. So Phase 4 spends its effort on geometry, not energy: heavier weight on active and risk pairs, complex-reaction geometry weighting, and checkpoint selection that watches P90/P95 rather than the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escalation, only if inverse-distance weighting alone leaves melted geometries. Add an explicit, heavily-weighted Huber term on intra-fragment bonds using the geometry mask we already build. It forces rigid fragments to stay intact while the network translates and rotates them. Expected outcome: no TS geometry above 0.30 angstrom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decide whether any of these changes stays in. Keep it if it clears one improvement bar and breaks none of the guardrails — geometry must not regress past 0.115 angstrom, bias must not get more negative, P95 must not worsen. Reject it if the gain is just train-Ea overfitting or if it damages geometry. This discipline is what kept the doomed runs from becoming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loss, three scaling levers. More and more varied reaction data. Cloud training to lift the CPU featurization and batch-size ceiling we hit locally. And a Swarm mixture-of-experts direction to specialize experts per reaction family. Each is scoped in the code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62D"/>
        </a:solidFill>
      </p:bgPr>
    </p:bg>
    <p:spTree>
      <p:nvGrpSpPr>
        <p:cNvPr id="1" name=""/>
        <p:cNvGrpSpPr/>
        <p:nvPr/>
      </p:nvGrpSpPr>
      <p:grpSpPr>
        <a:xfrm>
          <a:off x="0" y="0"/>
          <a:ext cx="0" cy="0"/>
          <a:chOff x="0" y="0"/>
          <a:chExt cx="0" cy="0"/>
        </a:xfrm>
      </p:grpSpPr>
      <p:sp>
        <p:nvSpPr>
          <p:cNvPr id="2" name="Text 0"/>
          <p:cNvSpPr/>
          <p:nvPr/>
        </p:nvSpPr>
        <p:spPr>
          <a:xfrm>
            <a:off x="1047750" y="2836664"/>
            <a:ext cx="17811750" cy="342900"/>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C08A3E"/>
                </a:solidFill>
                <a:latin typeface="Courier New" pitchFamily="34" charset="0"/>
                <a:ea typeface="Courier New" pitchFamily="34" charset="-122"/>
                <a:cs typeface="Courier New" pitchFamily="34" charset="-120"/>
              </a:rPr>
              <a:t>PROJECT PSI · RESEARCH REVIEW · JULY 2026</a:t>
            </a:r>
            <a:endParaRPr lang="en-US" sz="1800" dirty="0"/>
          </a:p>
        </p:txBody>
      </p:sp>
      <p:sp>
        <p:nvSpPr>
          <p:cNvPr id="3" name="Text 1"/>
          <p:cNvSpPr/>
          <p:nvPr/>
        </p:nvSpPr>
        <p:spPr>
          <a:xfrm>
            <a:off x="1047750" y="3465314"/>
            <a:ext cx="11568714" cy="2175272"/>
          </a:xfrm>
          <a:prstGeom prst="rect">
            <a:avLst/>
          </a:prstGeom>
          <a:noFill/>
          <a:ln/>
        </p:spPr>
        <p:txBody>
          <a:bodyPr wrap="square" lIns="25400" tIns="25400" rIns="25400" bIns="25400" rtlCol="0" anchor="t">
            <a:normAutofit/>
          </a:bodyPr>
          <a:lstStyle/>
          <a:p>
            <a:pPr algn="l" indent="0" marL="0">
              <a:lnSpc>
                <a:spcPct val="89760"/>
              </a:lnSpc>
              <a:buNone/>
            </a:pPr>
            <a:r>
              <a:rPr lang="en-US" sz="8250" b="1" spc="-124" kern="0" dirty="0">
                <a:solidFill>
                  <a:srgbClr val="F2EDE1"/>
                </a:solidFill>
                <a:latin typeface="Georgia" pitchFamily="34" charset="0"/>
                <a:ea typeface="Georgia" pitchFamily="34" charset="-122"/>
                <a:cs typeface="Georgia" pitchFamily="34" charset="-120"/>
              </a:rPr>
              <a:t>Machine-Learned Transition States</a:t>
            </a:r>
            <a:endParaRPr lang="en-US" sz="8250" dirty="0"/>
          </a:p>
        </p:txBody>
      </p:sp>
      <p:sp>
        <p:nvSpPr>
          <p:cNvPr id="4" name="Text 2"/>
          <p:cNvSpPr/>
          <p:nvPr/>
        </p:nvSpPr>
        <p:spPr>
          <a:xfrm>
            <a:off x="1047750" y="5964436"/>
            <a:ext cx="8005572" cy="1638300"/>
          </a:xfrm>
          <a:prstGeom prst="rect">
            <a:avLst/>
          </a:prstGeom>
          <a:noFill/>
          <a:ln/>
        </p:spPr>
        <p:txBody>
          <a:bodyPr wrap="square" lIns="25400" tIns="25400" rIns="25400" bIns="25400" rtlCol="0" anchor="t">
            <a:normAutofit/>
          </a:bodyPr>
          <a:lstStyle/>
          <a:p>
            <a:pPr algn="l" indent="0" marL="0">
              <a:lnSpc>
                <a:spcPct val="124444"/>
              </a:lnSpc>
              <a:buNone/>
            </a:pPr>
            <a:r>
              <a:rPr lang="en-US" sz="3000" dirty="0">
                <a:solidFill>
                  <a:srgbClr val="A9A396"/>
                </a:solidFill>
                <a:latin typeface="Arial" pitchFamily="34" charset="0"/>
                <a:ea typeface="Arial" pitchFamily="34" charset="-122"/>
                <a:cs typeface="Arial" pitchFamily="34" charset="-120"/>
              </a:rPr>
              <a:t>Predicting reaction geometries and activation energies from reactants and products — how far we have come, and how far we can go.</a:t>
            </a:r>
            <a:endParaRPr lang="en-US" sz="3000" dirty="0"/>
          </a:p>
        </p:txBody>
      </p:sp>
      <p:sp>
        <p:nvSpPr>
          <p:cNvPr id="5" name="Text 3"/>
          <p:cNvSpPr/>
          <p:nvPr/>
        </p:nvSpPr>
        <p:spPr>
          <a:xfrm>
            <a:off x="14785628" y="876300"/>
            <a:ext cx="2454622" cy="457200"/>
          </a:xfrm>
          <a:prstGeom prst="rect">
            <a:avLst/>
          </a:prstGeom>
          <a:noFill/>
          <a:ln/>
        </p:spPr>
        <p:txBody>
          <a:bodyPr wrap="square" lIns="25400" tIns="25400" rIns="25400" bIns="25400" rtlCol="0" anchor="t">
            <a:normAutofit/>
          </a:bodyPr>
          <a:lstStyle/>
          <a:p>
            <a:pPr algn="r" indent="0" marL="0">
              <a:lnSpc>
                <a:spcPct val="176000"/>
              </a:lnSpc>
              <a:buNone/>
            </a:pPr>
            <a:r>
              <a:rPr lang="en-US" sz="1650" dirty="0">
                <a:solidFill>
                  <a:srgbClr val="A9A396"/>
                </a:solidFill>
                <a:latin typeface="Courier New" pitchFamily="34" charset="0"/>
                <a:ea typeface="Courier New" pitchFamily="34" charset="-122"/>
                <a:cs typeface="Courier New" pitchFamily="34" charset="-120"/>
              </a:rPr>
              <a:t>reactant + product</a:t>
            </a:r>
            <a:endParaRPr lang="en-US" sz="1650" dirty="0"/>
          </a:p>
        </p:txBody>
      </p:sp>
      <p:sp>
        <p:nvSpPr>
          <p:cNvPr id="6" name="Text 4"/>
          <p:cNvSpPr/>
          <p:nvPr/>
        </p:nvSpPr>
        <p:spPr>
          <a:xfrm>
            <a:off x="14785628" y="1295400"/>
            <a:ext cx="2454622" cy="457200"/>
          </a:xfrm>
          <a:prstGeom prst="rect">
            <a:avLst/>
          </a:prstGeom>
          <a:noFill/>
          <a:ln/>
        </p:spPr>
        <p:txBody>
          <a:bodyPr wrap="square" lIns="25400" tIns="25400" rIns="25400" bIns="25400" rtlCol="0" anchor="t">
            <a:normAutofit/>
          </a:bodyPr>
          <a:lstStyle/>
          <a:p>
            <a:pPr algn="r" indent="0" marL="0">
              <a:lnSpc>
                <a:spcPct val="176000"/>
              </a:lnSpc>
              <a:buNone/>
            </a:pPr>
            <a:r>
              <a:rPr lang="en-US" sz="1650" dirty="0">
                <a:solidFill>
                  <a:srgbClr val="2F7A6F"/>
                </a:solidFill>
                <a:latin typeface="Courier New" pitchFamily="34" charset="0"/>
                <a:ea typeface="Courier New" pitchFamily="34" charset="-122"/>
                <a:cs typeface="Courier New" pitchFamily="34" charset="-120"/>
              </a:rPr>
              <a:t>→ transition state</a:t>
            </a:r>
            <a:endParaRPr lang="en-US" sz="1650" dirty="0"/>
          </a:p>
        </p:txBody>
      </p:sp>
      <p:sp>
        <p:nvSpPr>
          <p:cNvPr id="7" name="Text 5"/>
          <p:cNvSpPr/>
          <p:nvPr/>
        </p:nvSpPr>
        <p:spPr>
          <a:xfrm>
            <a:off x="14785628" y="1714500"/>
            <a:ext cx="2454622" cy="457200"/>
          </a:xfrm>
          <a:prstGeom prst="rect">
            <a:avLst/>
          </a:prstGeom>
          <a:noFill/>
          <a:ln/>
        </p:spPr>
        <p:txBody>
          <a:bodyPr wrap="square" lIns="25400" tIns="25400" rIns="25400" bIns="25400" rtlCol="0" anchor="t">
            <a:normAutofit/>
          </a:bodyPr>
          <a:lstStyle/>
          <a:p>
            <a:pPr algn="r" indent="0" marL="0">
              <a:lnSpc>
                <a:spcPct val="176000"/>
              </a:lnSpc>
              <a:buNone/>
            </a:pPr>
            <a:r>
              <a:rPr lang="en-US" sz="1650" dirty="0">
                <a:solidFill>
                  <a:srgbClr val="C08A3E"/>
                </a:solidFill>
                <a:latin typeface="Courier New" pitchFamily="34" charset="0"/>
                <a:ea typeface="Courier New" pitchFamily="34" charset="-122"/>
                <a:cs typeface="Courier New" pitchFamily="34" charset="-120"/>
              </a:rPr>
              <a:t>→ activation energy</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THE PROBLEM</a:t>
            </a:r>
            <a:endParaRPr lang="en-US" sz="1800" dirty="0"/>
          </a:p>
        </p:txBody>
      </p:sp>
      <p:sp>
        <p:nvSpPr>
          <p:cNvPr id="3" name="Text 1"/>
          <p:cNvSpPr/>
          <p:nvPr/>
        </p:nvSpPr>
        <p:spPr>
          <a:xfrm>
            <a:off x="1047750" y="1428750"/>
            <a:ext cx="10117336" cy="2237036"/>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Transition states are the bottleneck of reaction modeling</a:t>
            </a:r>
            <a:endParaRPr lang="en-US" sz="5550" dirty="0"/>
          </a:p>
        </p:txBody>
      </p:sp>
      <p:sp>
        <p:nvSpPr>
          <p:cNvPr id="4" name="Text 2"/>
          <p:cNvSpPr/>
          <p:nvPr/>
        </p:nvSpPr>
        <p:spPr>
          <a:xfrm>
            <a:off x="1047750" y="4237286"/>
            <a:ext cx="7083362" cy="1495425"/>
          </a:xfrm>
          <a:prstGeom prst="rect">
            <a:avLst/>
          </a:prstGeom>
          <a:noFill/>
          <a:ln/>
        </p:spPr>
        <p:txBody>
          <a:bodyPr wrap="square" lIns="25400" tIns="25400" rIns="25400" bIns="25400" rtlCol="0" anchor="t">
            <a:normAutofit/>
          </a:bodyPr>
          <a:lstStyle/>
          <a:p>
            <a:pPr algn="l" indent="0" marL="0">
              <a:lnSpc>
                <a:spcPct val="130769"/>
              </a:lnSpc>
              <a:buNone/>
            </a:pPr>
            <a:r>
              <a:rPr lang="en-US" sz="2550" dirty="0">
                <a:solidFill>
                  <a:srgbClr val="20262D"/>
                </a:solidFill>
                <a:latin typeface="Arial" pitchFamily="34" charset="0"/>
                <a:ea typeface="Arial" pitchFamily="34" charset="-122"/>
                <a:cs typeface="Arial" pitchFamily="34" charset="-120"/>
              </a:rPr>
              <a:t>The transition state (TS) is the highest-energy point on the path from reactant to product. Its geometry and energy set the reaction rate.</a:t>
            </a:r>
            <a:endParaRPr lang="en-US" sz="2550" dirty="0"/>
          </a:p>
        </p:txBody>
      </p:sp>
      <p:sp>
        <p:nvSpPr>
          <p:cNvPr id="5" name="Text 3"/>
          <p:cNvSpPr/>
          <p:nvPr/>
        </p:nvSpPr>
        <p:spPr>
          <a:xfrm>
            <a:off x="8458200" y="4237286"/>
            <a:ext cx="7083362" cy="1495425"/>
          </a:xfrm>
          <a:prstGeom prst="rect">
            <a:avLst/>
          </a:prstGeom>
          <a:noFill/>
          <a:ln/>
        </p:spPr>
        <p:txBody>
          <a:bodyPr wrap="square" lIns="25400" tIns="25400" rIns="25400" bIns="25400" rtlCol="0" anchor="t">
            <a:normAutofit/>
          </a:bodyPr>
          <a:lstStyle/>
          <a:p>
            <a:pPr algn="l" indent="0" marL="0">
              <a:lnSpc>
                <a:spcPct val="130769"/>
              </a:lnSpc>
              <a:buNone/>
            </a:pPr>
            <a:r>
              <a:rPr lang="en-US" sz="2550" dirty="0">
                <a:solidFill>
                  <a:srgbClr val="20262D"/>
                </a:solidFill>
                <a:latin typeface="Arial" pitchFamily="34" charset="0"/>
                <a:ea typeface="Arial" pitchFamily="34" charset="-122"/>
                <a:cs typeface="Arial" pitchFamily="34" charset="-120"/>
              </a:rPr>
              <a:t>Finding it by DFT saddle-point search is slow, needs a good initial guess, and often fails to converge for complex rearrangements.</a:t>
            </a:r>
            <a:endParaRPr lang="en-US" sz="2550" dirty="0"/>
          </a:p>
        </p:txBody>
      </p:sp>
      <p:sp>
        <p:nvSpPr>
          <p:cNvPr id="6" name="Shape 4"/>
          <p:cNvSpPr/>
          <p:nvPr/>
        </p:nvSpPr>
        <p:spPr>
          <a:xfrm>
            <a:off x="1047750" y="7569994"/>
            <a:ext cx="14287500" cy="1955006"/>
          </a:xfrm>
          <a:prstGeom prst="roundRect">
            <a:avLst>
              <a:gd name="adj" fmla="val 1949"/>
            </a:avLst>
          </a:prstGeom>
          <a:ln w="9525">
            <a:solidFill>
              <a:srgbClr val="DDD6C7"/>
            </a:solidFill>
            <a:prstDash val="solid"/>
          </a:ln>
        </p:spPr>
      </p:sp>
      <p:sp>
        <p:nvSpPr>
          <p:cNvPr id="7" name="Shape 5"/>
          <p:cNvSpPr/>
          <p:nvPr/>
        </p:nvSpPr>
        <p:spPr>
          <a:xfrm>
            <a:off x="1057275" y="7579519"/>
            <a:ext cx="7134225" cy="1935956"/>
          </a:xfrm>
          <a:prstGeom prst="rect">
            <a:avLst/>
          </a:prstGeom>
          <a:solidFill>
            <a:srgbClr val="FFFFFF"/>
          </a:solidFill>
          <a:ln/>
        </p:spPr>
      </p:sp>
      <p:sp>
        <p:nvSpPr>
          <p:cNvPr id="8" name="Text 6"/>
          <p:cNvSpPr/>
          <p:nvPr/>
        </p:nvSpPr>
        <p:spPr>
          <a:xfrm>
            <a:off x="1438275" y="7941469"/>
            <a:ext cx="7009448" cy="314325"/>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6F6A5F"/>
                </a:solidFill>
                <a:latin typeface="Courier New" pitchFamily="34" charset="0"/>
                <a:ea typeface="Courier New" pitchFamily="34" charset="-122"/>
                <a:cs typeface="Courier New" pitchFamily="34" charset="-120"/>
              </a:rPr>
              <a:t>CLASSICAL</a:t>
            </a:r>
            <a:endParaRPr lang="en-US" sz="1650" dirty="0"/>
          </a:p>
        </p:txBody>
      </p:sp>
      <p:sp>
        <p:nvSpPr>
          <p:cNvPr id="9" name="Text 7"/>
          <p:cNvSpPr/>
          <p:nvPr/>
        </p:nvSpPr>
        <p:spPr>
          <a:xfrm>
            <a:off x="1438275" y="8331994"/>
            <a:ext cx="6563392" cy="809625"/>
          </a:xfrm>
          <a:prstGeom prst="rect">
            <a:avLst/>
          </a:prstGeom>
          <a:noFill/>
          <a:ln/>
        </p:spPr>
        <p:txBody>
          <a:bodyPr wrap="square" lIns="25400" tIns="25400" rIns="25400" bIns="25400" rtlCol="0" anchor="t">
            <a:normAutofit/>
          </a:bodyPr>
          <a:lstStyle/>
          <a:p>
            <a:pPr algn="l" indent="0" marL="0">
              <a:lnSpc>
                <a:spcPct val="119118"/>
              </a:lnSpc>
              <a:buNone/>
            </a:pPr>
            <a:r>
              <a:rPr lang="en-US" sz="2250" dirty="0">
                <a:solidFill>
                  <a:srgbClr val="20262D"/>
                </a:solidFill>
                <a:latin typeface="Arial" pitchFamily="34" charset="0"/>
                <a:ea typeface="Arial" pitchFamily="34" charset="-122"/>
                <a:cs typeface="Arial" pitchFamily="34" charset="-120"/>
              </a:rPr>
              <a:t>Guess TS → optimize saddle → verify frequencies → often restart</a:t>
            </a:r>
            <a:endParaRPr lang="en-US" sz="2250" dirty="0"/>
          </a:p>
        </p:txBody>
      </p:sp>
      <p:sp>
        <p:nvSpPr>
          <p:cNvPr id="10" name="Shape 8"/>
          <p:cNvSpPr/>
          <p:nvPr/>
        </p:nvSpPr>
        <p:spPr>
          <a:xfrm>
            <a:off x="8191500" y="7579519"/>
            <a:ext cx="7134225" cy="1935956"/>
          </a:xfrm>
          <a:prstGeom prst="rect">
            <a:avLst/>
          </a:prstGeom>
          <a:solidFill>
            <a:srgbClr val="20262D"/>
          </a:solidFill>
          <a:ln/>
        </p:spPr>
      </p:sp>
      <p:sp>
        <p:nvSpPr>
          <p:cNvPr id="11" name="Text 9"/>
          <p:cNvSpPr/>
          <p:nvPr/>
        </p:nvSpPr>
        <p:spPr>
          <a:xfrm>
            <a:off x="8572500" y="7941469"/>
            <a:ext cx="7009448" cy="314325"/>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C08A3E"/>
                </a:solidFill>
                <a:latin typeface="Courier New" pitchFamily="34" charset="0"/>
                <a:ea typeface="Courier New" pitchFamily="34" charset="-122"/>
                <a:cs typeface="Courier New" pitchFamily="34" charset="-120"/>
              </a:rPr>
              <a:t>PSI</a:t>
            </a:r>
            <a:endParaRPr lang="en-US" sz="1650" dirty="0"/>
          </a:p>
        </p:txBody>
      </p:sp>
      <p:sp>
        <p:nvSpPr>
          <p:cNvPr id="12" name="Text 10"/>
          <p:cNvSpPr/>
          <p:nvPr/>
        </p:nvSpPr>
        <p:spPr>
          <a:xfrm>
            <a:off x="8572500" y="8331994"/>
            <a:ext cx="6563392" cy="859631"/>
          </a:xfrm>
          <a:prstGeom prst="rect">
            <a:avLst/>
          </a:prstGeom>
          <a:noFill/>
          <a:ln/>
        </p:spPr>
        <p:txBody>
          <a:bodyPr wrap="square" lIns="25400" tIns="25400" rIns="25400" bIns="25400" rtlCol="0" anchor="t">
            <a:normAutofit/>
          </a:bodyPr>
          <a:lstStyle/>
          <a:p>
            <a:pPr algn="l" indent="0" marL="0">
              <a:lnSpc>
                <a:spcPct val="119118"/>
              </a:lnSpc>
              <a:buNone/>
            </a:pPr>
            <a:r>
              <a:rPr lang="en-US" sz="2250" dirty="0">
                <a:solidFill>
                  <a:srgbClr val="F2EDE1"/>
                </a:solidFill>
                <a:latin typeface="Arial" pitchFamily="34" charset="0"/>
                <a:ea typeface="Arial" pitchFamily="34" charset="-122"/>
                <a:cs typeface="Arial" pitchFamily="34" charset="-120"/>
              </a:rPr>
              <a:t>Read R and P geometries → predict TS geometry and E </a:t>
            </a:r>
            <a:pPr algn="l" indent="0" marL="0">
              <a:lnSpc>
                <a:spcPct val="119118"/>
              </a:lnSpc>
              <a:buNone/>
            </a:pPr>
            <a:r>
              <a:rPr lang="en-US" sz="1875" baseline="-40000" dirty="0">
                <a:solidFill>
                  <a:srgbClr val="F2EDE1"/>
                </a:solidFill>
                <a:latin typeface="Arial" pitchFamily="34" charset="0"/>
                <a:ea typeface="Arial" pitchFamily="34" charset="-122"/>
                <a:cs typeface="Arial" pitchFamily="34" charset="-120"/>
              </a:rPr>
              <a:t>a </a:t>
            </a:r>
            <a:pPr algn="l" indent="0" marL="0">
              <a:lnSpc>
                <a:spcPct val="119118"/>
              </a:lnSpc>
              <a:buNone/>
            </a:pPr>
            <a:r>
              <a:rPr lang="en-US" sz="2250" dirty="0">
                <a:solidFill>
                  <a:srgbClr val="F2EDE1"/>
                </a:solidFill>
                <a:latin typeface="Arial" pitchFamily="34" charset="0"/>
                <a:ea typeface="Arial" pitchFamily="34" charset="-122"/>
                <a:cs typeface="Arial" pitchFamily="34" charset="-120"/>
              </a:rPr>
              <a:t>directly</a:t>
            </a:r>
            <a:endParaRPr lang="en-US" sz="2250" dirty="0"/>
          </a:p>
        </p:txBody>
      </p:sp>
      <p:sp>
        <p:nvSpPr>
          <p:cNvPr id="13" name="Text 11"/>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14" name="Text 12"/>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02</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TASK DEFINITION</a:t>
            </a:r>
            <a:endParaRPr lang="en-US" sz="1800" dirty="0"/>
          </a:p>
        </p:txBody>
      </p:sp>
      <p:sp>
        <p:nvSpPr>
          <p:cNvPr id="3" name="Text 1"/>
          <p:cNvSpPr/>
          <p:nvPr/>
        </p:nvSpPr>
        <p:spPr>
          <a:xfrm>
            <a:off x="1047750" y="1428750"/>
            <a:ext cx="8560799" cy="2237036"/>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Two geometries in, one geometry and one energy out</a:t>
            </a:r>
            <a:endParaRPr lang="en-US" sz="5550" dirty="0"/>
          </a:p>
        </p:txBody>
      </p:sp>
      <p:sp>
        <p:nvSpPr>
          <p:cNvPr id="4" name="Shape 2"/>
          <p:cNvSpPr/>
          <p:nvPr/>
        </p:nvSpPr>
        <p:spPr>
          <a:xfrm>
            <a:off x="1047750" y="4364831"/>
            <a:ext cx="3238500" cy="2421136"/>
          </a:xfrm>
          <a:prstGeom prst="roundRect">
            <a:avLst>
              <a:gd name="adj" fmla="val 2360"/>
            </a:avLst>
          </a:prstGeom>
          <a:solidFill>
            <a:srgbClr val="FFFFFF"/>
          </a:solidFill>
          <a:ln w="9525">
            <a:solidFill>
              <a:srgbClr val="DDD6C7"/>
            </a:solidFill>
            <a:prstDash val="solid"/>
          </a:ln>
        </p:spPr>
      </p:sp>
      <p:sp>
        <p:nvSpPr>
          <p:cNvPr id="5" name="Text 3"/>
          <p:cNvSpPr/>
          <p:nvPr/>
        </p:nvSpPr>
        <p:spPr>
          <a:xfrm>
            <a:off x="1476375" y="4698206"/>
            <a:ext cx="2619375" cy="314325"/>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6F6A5F"/>
                </a:solidFill>
                <a:latin typeface="Courier New" pitchFamily="34" charset="0"/>
                <a:ea typeface="Courier New" pitchFamily="34" charset="-122"/>
                <a:cs typeface="Courier New" pitchFamily="34" charset="-120"/>
              </a:rPr>
              <a:t>INPUT</a:t>
            </a:r>
            <a:endParaRPr lang="en-US" sz="1650" dirty="0"/>
          </a:p>
        </p:txBody>
      </p:sp>
      <p:sp>
        <p:nvSpPr>
          <p:cNvPr id="6" name="Text 4"/>
          <p:cNvSpPr/>
          <p:nvPr/>
        </p:nvSpPr>
        <p:spPr>
          <a:xfrm>
            <a:off x="1476375" y="5050631"/>
            <a:ext cx="2457450" cy="1440061"/>
          </a:xfrm>
          <a:prstGeom prst="rect">
            <a:avLst/>
          </a:prstGeom>
          <a:noFill/>
          <a:ln/>
        </p:spPr>
        <p:txBody>
          <a:bodyPr wrap="square" lIns="25400" tIns="25400" rIns="25400" bIns="25400" rtlCol="0" anchor="t">
            <a:normAutofit/>
          </a:bodyPr>
          <a:lstStyle/>
          <a:p>
            <a:pPr algn="l" indent="0" marL="0">
              <a:buNone/>
            </a:pPr>
            <a:r>
              <a:rPr lang="en-US" sz="3450" dirty="0">
                <a:solidFill>
                  <a:srgbClr val="20262D"/>
                </a:solidFill>
                <a:latin typeface="Georgia" pitchFamily="34" charset="0"/>
                <a:ea typeface="Georgia" pitchFamily="34" charset="-122"/>
                <a:cs typeface="Georgia" pitchFamily="34" charset="-120"/>
              </a:rPr>
              <a:t>Reactant X </a:t>
            </a:r>
            <a:pPr algn="l" indent="0" marL="0">
              <a:buNone/>
            </a:pPr>
            <a:r>
              <a:rPr lang="en-US" sz="2875" baseline="-40000" dirty="0">
                <a:solidFill>
                  <a:srgbClr val="20262D"/>
                </a:solidFill>
                <a:latin typeface="Georgia" pitchFamily="34" charset="0"/>
                <a:ea typeface="Georgia" pitchFamily="34" charset="-122"/>
                <a:cs typeface="Georgia" pitchFamily="34" charset="-120"/>
              </a:rPr>
              <a:t>R</a:t>
            </a:r>
            <a:endParaRPr lang="en-US" sz="3450" dirty="0"/>
          </a:p>
        </p:txBody>
      </p:sp>
      <p:sp>
        <p:nvSpPr>
          <p:cNvPr id="7" name="Shape 5"/>
          <p:cNvSpPr/>
          <p:nvPr/>
        </p:nvSpPr>
        <p:spPr>
          <a:xfrm>
            <a:off x="1047750" y="7033617"/>
            <a:ext cx="3238500" cy="1754386"/>
          </a:xfrm>
          <a:prstGeom prst="roundRect">
            <a:avLst>
              <a:gd name="adj" fmla="val 3258"/>
            </a:avLst>
          </a:prstGeom>
          <a:solidFill>
            <a:srgbClr val="FFFFFF"/>
          </a:solidFill>
          <a:ln w="9525">
            <a:solidFill>
              <a:srgbClr val="DDD6C7"/>
            </a:solidFill>
            <a:prstDash val="solid"/>
          </a:ln>
        </p:spPr>
      </p:sp>
      <p:sp>
        <p:nvSpPr>
          <p:cNvPr id="8" name="Text 6"/>
          <p:cNvSpPr/>
          <p:nvPr/>
        </p:nvSpPr>
        <p:spPr>
          <a:xfrm>
            <a:off x="1476375" y="7366992"/>
            <a:ext cx="2619375" cy="314325"/>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6F6A5F"/>
                </a:solidFill>
                <a:latin typeface="Courier New" pitchFamily="34" charset="0"/>
                <a:ea typeface="Courier New" pitchFamily="34" charset="-122"/>
                <a:cs typeface="Courier New" pitchFamily="34" charset="-120"/>
              </a:rPr>
              <a:t>INPUT</a:t>
            </a:r>
            <a:endParaRPr lang="en-US" sz="1650" dirty="0"/>
          </a:p>
        </p:txBody>
      </p:sp>
      <p:sp>
        <p:nvSpPr>
          <p:cNvPr id="9" name="Text 7"/>
          <p:cNvSpPr/>
          <p:nvPr/>
        </p:nvSpPr>
        <p:spPr>
          <a:xfrm>
            <a:off x="1476375" y="7719417"/>
            <a:ext cx="2457450" cy="773311"/>
          </a:xfrm>
          <a:prstGeom prst="rect">
            <a:avLst/>
          </a:prstGeom>
          <a:noFill/>
          <a:ln/>
        </p:spPr>
        <p:txBody>
          <a:bodyPr wrap="square" lIns="25400" tIns="25400" rIns="25400" bIns="25400" rtlCol="0" anchor="t">
            <a:normAutofit/>
          </a:bodyPr>
          <a:lstStyle/>
          <a:p>
            <a:pPr algn="l" indent="0" marL="0">
              <a:buNone/>
            </a:pPr>
            <a:r>
              <a:rPr lang="en-US" sz="3450" dirty="0">
                <a:solidFill>
                  <a:srgbClr val="20262D"/>
                </a:solidFill>
                <a:latin typeface="Georgia" pitchFamily="34" charset="0"/>
                <a:ea typeface="Georgia" pitchFamily="34" charset="-122"/>
                <a:cs typeface="Georgia" pitchFamily="34" charset="-120"/>
              </a:rPr>
              <a:t>Product X</a:t>
            </a:r>
            <a:pPr algn="l" indent="0" marL="0">
              <a:buNone/>
            </a:pPr>
            <a:r>
              <a:rPr lang="en-US" sz="2875" baseline="-40000" dirty="0">
                <a:solidFill>
                  <a:srgbClr val="20262D"/>
                </a:solidFill>
                <a:latin typeface="Georgia" pitchFamily="34" charset="0"/>
                <a:ea typeface="Georgia" pitchFamily="34" charset="-122"/>
                <a:cs typeface="Georgia" pitchFamily="34" charset="-120"/>
              </a:rPr>
              <a:t>P</a:t>
            </a:r>
            <a:endParaRPr lang="en-US" sz="3450" dirty="0"/>
          </a:p>
        </p:txBody>
      </p:sp>
      <p:sp>
        <p:nvSpPr>
          <p:cNvPr id="10" name="Text 8"/>
          <p:cNvSpPr/>
          <p:nvPr/>
        </p:nvSpPr>
        <p:spPr>
          <a:xfrm>
            <a:off x="4667250" y="5995392"/>
            <a:ext cx="838200" cy="1200150"/>
          </a:xfrm>
          <a:prstGeom prst="rect">
            <a:avLst/>
          </a:prstGeom>
          <a:noFill/>
          <a:ln/>
        </p:spPr>
        <p:txBody>
          <a:bodyPr wrap="square" lIns="25400" tIns="25400" rIns="25400" bIns="25400" rtlCol="0" anchor="t">
            <a:normAutofit/>
          </a:bodyPr>
          <a:lstStyle/>
          <a:p>
            <a:pPr algn="l" indent="0" marL="0">
              <a:buNone/>
            </a:pPr>
            <a:r>
              <a:rPr lang="en-US" sz="6000" dirty="0">
                <a:solidFill>
                  <a:srgbClr val="2F7A6F"/>
                </a:solidFill>
                <a:latin typeface="Georgia" pitchFamily="34" charset="0"/>
                <a:ea typeface="Georgia" pitchFamily="34" charset="-122"/>
                <a:cs typeface="Georgia" pitchFamily="34" charset="-120"/>
              </a:rPr>
              <a:t>→</a:t>
            </a:r>
            <a:endParaRPr lang="en-US" sz="6000" dirty="0"/>
          </a:p>
        </p:txBody>
      </p:sp>
      <p:sp>
        <p:nvSpPr>
          <p:cNvPr id="11" name="Shape 9"/>
          <p:cNvSpPr/>
          <p:nvPr/>
        </p:nvSpPr>
        <p:spPr>
          <a:xfrm>
            <a:off x="5810250" y="5090517"/>
            <a:ext cx="4764435" cy="2971800"/>
          </a:xfrm>
          <a:prstGeom prst="roundRect">
            <a:avLst>
              <a:gd name="adj" fmla="val 2564"/>
            </a:avLst>
          </a:prstGeom>
          <a:solidFill>
            <a:srgbClr val="20262D"/>
          </a:solidFill>
          <a:ln/>
        </p:spPr>
      </p:sp>
      <p:sp>
        <p:nvSpPr>
          <p:cNvPr id="12" name="Text 10"/>
          <p:cNvSpPr/>
          <p:nvPr/>
        </p:nvSpPr>
        <p:spPr>
          <a:xfrm>
            <a:off x="6200678" y="5604867"/>
            <a:ext cx="3983578" cy="342900"/>
          </a:xfrm>
          <a:prstGeom prst="rect">
            <a:avLst/>
          </a:prstGeom>
          <a:noFill/>
          <a:ln/>
        </p:spPr>
        <p:txBody>
          <a:bodyPr wrap="square" lIns="25400" tIns="25400" rIns="25400" bIns="25400" rtlCol="0" anchor="t">
            <a:normAutofit/>
          </a:bodyPr>
          <a:lstStyle/>
          <a:p>
            <a:pPr algn="ctr" indent="0" marL="0">
              <a:buNone/>
            </a:pPr>
            <a:r>
              <a:rPr lang="en-US" sz="1800" spc="324" kern="0" dirty="0">
                <a:solidFill>
                  <a:srgbClr val="C08A3E"/>
                </a:solidFill>
                <a:latin typeface="Courier New" pitchFamily="34" charset="0"/>
                <a:ea typeface="Courier New" pitchFamily="34" charset="-122"/>
                <a:cs typeface="Courier New" pitchFamily="34" charset="-120"/>
              </a:rPr>
              <a:t>PSI MODEL</a:t>
            </a:r>
            <a:endParaRPr lang="en-US" sz="1800" dirty="0"/>
          </a:p>
        </p:txBody>
      </p:sp>
      <p:sp>
        <p:nvSpPr>
          <p:cNvPr id="13" name="Text 11"/>
          <p:cNvSpPr/>
          <p:nvPr/>
        </p:nvSpPr>
        <p:spPr>
          <a:xfrm>
            <a:off x="6327428" y="6043017"/>
            <a:ext cx="3730078" cy="1543050"/>
          </a:xfrm>
          <a:prstGeom prst="rect">
            <a:avLst/>
          </a:prstGeom>
          <a:noFill/>
          <a:ln/>
        </p:spPr>
        <p:txBody>
          <a:bodyPr wrap="square" lIns="25400" tIns="25400" rIns="25400" bIns="25400" rtlCol="0" anchor="t">
            <a:normAutofit/>
          </a:bodyPr>
          <a:lstStyle/>
          <a:p>
            <a:pPr algn="ctr" indent="0" marL="0">
              <a:buNone/>
            </a:pPr>
            <a:r>
              <a:rPr lang="en-US" sz="3900" dirty="0">
                <a:solidFill>
                  <a:srgbClr val="F2EDE1"/>
                </a:solidFill>
                <a:latin typeface="Georgia" pitchFamily="34" charset="0"/>
                <a:ea typeface="Georgia" pitchFamily="34" charset="-122"/>
                <a:cs typeface="Georgia" pitchFamily="34" charset="-120"/>
              </a:rPr>
              <a:t>EGNN + Ea head</a:t>
            </a:r>
            <a:endParaRPr lang="en-US" sz="3900" dirty="0"/>
          </a:p>
        </p:txBody>
      </p:sp>
      <p:sp>
        <p:nvSpPr>
          <p:cNvPr id="14" name="Text 12"/>
          <p:cNvSpPr/>
          <p:nvPr/>
        </p:nvSpPr>
        <p:spPr>
          <a:xfrm>
            <a:off x="10955685" y="5995392"/>
            <a:ext cx="838200" cy="1200150"/>
          </a:xfrm>
          <a:prstGeom prst="rect">
            <a:avLst/>
          </a:prstGeom>
          <a:noFill/>
          <a:ln/>
        </p:spPr>
        <p:txBody>
          <a:bodyPr wrap="square" lIns="25400" tIns="25400" rIns="25400" bIns="25400" rtlCol="0" anchor="t">
            <a:normAutofit/>
          </a:bodyPr>
          <a:lstStyle/>
          <a:p>
            <a:pPr algn="l" indent="0" marL="0">
              <a:buNone/>
            </a:pPr>
            <a:r>
              <a:rPr lang="en-US" sz="6000" dirty="0">
                <a:solidFill>
                  <a:srgbClr val="2F7A6F"/>
                </a:solidFill>
                <a:latin typeface="Georgia" pitchFamily="34" charset="0"/>
                <a:ea typeface="Georgia" pitchFamily="34" charset="-122"/>
                <a:cs typeface="Georgia" pitchFamily="34" charset="-120"/>
              </a:rPr>
              <a:t>→</a:t>
            </a:r>
            <a:endParaRPr lang="en-US" sz="6000" dirty="0"/>
          </a:p>
        </p:txBody>
      </p:sp>
      <p:sp>
        <p:nvSpPr>
          <p:cNvPr id="15" name="Shape 13"/>
          <p:cNvSpPr/>
          <p:nvPr/>
        </p:nvSpPr>
        <p:spPr>
          <a:xfrm>
            <a:off x="12098685" y="4411414"/>
            <a:ext cx="4570065" cy="1722090"/>
          </a:xfrm>
          <a:prstGeom prst="roundRect">
            <a:avLst>
              <a:gd name="adj" fmla="val 3319"/>
            </a:avLst>
          </a:prstGeom>
          <a:solidFill>
            <a:srgbClr val="FFFFFF"/>
          </a:solidFill>
          <a:ln w="9525">
            <a:solidFill>
              <a:srgbClr val="2F7A6F"/>
            </a:solidFill>
            <a:prstDash val="solid"/>
          </a:ln>
        </p:spPr>
      </p:sp>
      <p:sp>
        <p:nvSpPr>
          <p:cNvPr id="16" name="Text 14"/>
          <p:cNvSpPr/>
          <p:nvPr/>
        </p:nvSpPr>
        <p:spPr>
          <a:xfrm>
            <a:off x="12527310" y="4744789"/>
            <a:ext cx="4084097" cy="314325"/>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2F7A6F"/>
                </a:solidFill>
                <a:latin typeface="Courier New" pitchFamily="34" charset="0"/>
                <a:ea typeface="Courier New" pitchFamily="34" charset="-122"/>
                <a:cs typeface="Courier New" pitchFamily="34" charset="-120"/>
              </a:rPr>
              <a:t>OUTPUT</a:t>
            </a:r>
            <a:endParaRPr lang="en-US" sz="1650" dirty="0"/>
          </a:p>
        </p:txBody>
      </p:sp>
      <p:sp>
        <p:nvSpPr>
          <p:cNvPr id="17" name="Text 15"/>
          <p:cNvSpPr/>
          <p:nvPr/>
        </p:nvSpPr>
        <p:spPr>
          <a:xfrm>
            <a:off x="12527310" y="5097214"/>
            <a:ext cx="3824200" cy="741015"/>
          </a:xfrm>
          <a:prstGeom prst="rect">
            <a:avLst/>
          </a:prstGeom>
          <a:noFill/>
          <a:ln/>
        </p:spPr>
        <p:txBody>
          <a:bodyPr wrap="square" lIns="25400" tIns="25400" rIns="25400" bIns="25400" rtlCol="0" anchor="t">
            <a:normAutofit/>
          </a:bodyPr>
          <a:lstStyle/>
          <a:p>
            <a:pPr algn="l" indent="0" marL="0">
              <a:buNone/>
            </a:pPr>
            <a:r>
              <a:rPr lang="en-US" sz="3300" dirty="0">
                <a:solidFill>
                  <a:srgbClr val="20262D"/>
                </a:solidFill>
                <a:latin typeface="Georgia" pitchFamily="34" charset="0"/>
                <a:ea typeface="Georgia" pitchFamily="34" charset="-122"/>
                <a:cs typeface="Georgia" pitchFamily="34" charset="-120"/>
              </a:rPr>
              <a:t>TS geometry X</a:t>
            </a:r>
            <a:pPr algn="l" indent="0" marL="0">
              <a:buNone/>
            </a:pPr>
            <a:r>
              <a:rPr lang="en-US" sz="2750" baseline="-40000" dirty="0">
                <a:solidFill>
                  <a:srgbClr val="20262D"/>
                </a:solidFill>
                <a:latin typeface="Georgia" pitchFamily="34" charset="0"/>
                <a:ea typeface="Georgia" pitchFamily="34" charset="-122"/>
                <a:cs typeface="Georgia" pitchFamily="34" charset="-120"/>
              </a:rPr>
              <a:t>TS</a:t>
            </a:r>
            <a:endParaRPr lang="en-US" sz="3300" dirty="0"/>
          </a:p>
        </p:txBody>
      </p:sp>
      <p:sp>
        <p:nvSpPr>
          <p:cNvPr id="18" name="Shape 16"/>
          <p:cNvSpPr/>
          <p:nvPr/>
        </p:nvSpPr>
        <p:spPr>
          <a:xfrm>
            <a:off x="12098685" y="6381155"/>
            <a:ext cx="4570065" cy="2360265"/>
          </a:xfrm>
          <a:prstGeom prst="roundRect">
            <a:avLst>
              <a:gd name="adj" fmla="val 2421"/>
            </a:avLst>
          </a:prstGeom>
          <a:solidFill>
            <a:srgbClr val="FFFFFF"/>
          </a:solidFill>
          <a:ln w="9525">
            <a:solidFill>
              <a:srgbClr val="C08A3E"/>
            </a:solidFill>
            <a:prstDash val="solid"/>
          </a:ln>
        </p:spPr>
      </p:sp>
      <p:sp>
        <p:nvSpPr>
          <p:cNvPr id="19" name="Text 17"/>
          <p:cNvSpPr/>
          <p:nvPr/>
        </p:nvSpPr>
        <p:spPr>
          <a:xfrm>
            <a:off x="12527310" y="6714530"/>
            <a:ext cx="4084097" cy="314325"/>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C08A3E"/>
                </a:solidFill>
                <a:latin typeface="Courier New" pitchFamily="34" charset="0"/>
                <a:ea typeface="Courier New" pitchFamily="34" charset="-122"/>
                <a:cs typeface="Courier New" pitchFamily="34" charset="-120"/>
              </a:rPr>
              <a:t>OUTPUT</a:t>
            </a:r>
            <a:endParaRPr lang="en-US" sz="1650" dirty="0"/>
          </a:p>
        </p:txBody>
      </p:sp>
      <p:sp>
        <p:nvSpPr>
          <p:cNvPr id="20" name="Text 18"/>
          <p:cNvSpPr/>
          <p:nvPr/>
        </p:nvSpPr>
        <p:spPr>
          <a:xfrm>
            <a:off x="12527310" y="7066955"/>
            <a:ext cx="3824200" cy="1379190"/>
          </a:xfrm>
          <a:prstGeom prst="rect">
            <a:avLst/>
          </a:prstGeom>
          <a:noFill/>
          <a:ln/>
        </p:spPr>
        <p:txBody>
          <a:bodyPr wrap="square" lIns="25400" tIns="25400" rIns="25400" bIns="25400" rtlCol="0" anchor="t">
            <a:normAutofit/>
          </a:bodyPr>
          <a:lstStyle/>
          <a:p>
            <a:pPr algn="l" indent="0" marL="0">
              <a:buNone/>
            </a:pPr>
            <a:r>
              <a:rPr lang="en-US" sz="3300" dirty="0">
                <a:solidFill>
                  <a:srgbClr val="20262D"/>
                </a:solidFill>
                <a:latin typeface="Georgia" pitchFamily="34" charset="0"/>
                <a:ea typeface="Georgia" pitchFamily="34" charset="-122"/>
                <a:cs typeface="Georgia" pitchFamily="34" charset="-120"/>
              </a:rPr>
              <a:t>Activation energy E </a:t>
            </a:r>
            <a:pPr algn="l" indent="0" marL="0">
              <a:buNone/>
            </a:pPr>
            <a:r>
              <a:rPr lang="en-US" sz="2750" baseline="-40000" dirty="0">
                <a:solidFill>
                  <a:srgbClr val="20262D"/>
                </a:solidFill>
                <a:latin typeface="Georgia" pitchFamily="34" charset="0"/>
                <a:ea typeface="Georgia" pitchFamily="34" charset="-122"/>
                <a:cs typeface="Georgia" pitchFamily="34" charset="-120"/>
              </a:rPr>
              <a:t>a</a:t>
            </a:r>
            <a:endParaRPr lang="en-US" sz="3300" dirty="0"/>
          </a:p>
        </p:txBody>
      </p:sp>
      <p:sp>
        <p:nvSpPr>
          <p:cNvPr id="21" name="Text 19"/>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22" name="Text 20"/>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03</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PIPELINE OVERVIEW</a:t>
            </a:r>
            <a:endParaRPr lang="en-US" sz="1800" dirty="0"/>
          </a:p>
        </p:txBody>
      </p:sp>
      <p:sp>
        <p:nvSpPr>
          <p:cNvPr id="3" name="Text 1"/>
          <p:cNvSpPr/>
          <p:nvPr/>
        </p:nvSpPr>
        <p:spPr>
          <a:xfrm>
            <a:off x="1047750" y="1428750"/>
            <a:ext cx="9339068"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A ten-stage path from log files to predictions</a:t>
            </a:r>
            <a:endParaRPr lang="en-US" sz="5550" dirty="0"/>
          </a:p>
        </p:txBody>
      </p:sp>
      <p:sp>
        <p:nvSpPr>
          <p:cNvPr id="4" name="Shape 2"/>
          <p:cNvSpPr/>
          <p:nvPr/>
        </p:nvSpPr>
        <p:spPr>
          <a:xfrm>
            <a:off x="1047750" y="3523357"/>
            <a:ext cx="3009900" cy="1860947"/>
          </a:xfrm>
          <a:prstGeom prst="roundRect">
            <a:avLst>
              <a:gd name="adj" fmla="val 3071"/>
            </a:avLst>
          </a:prstGeom>
          <a:solidFill>
            <a:srgbClr val="FFFFFF"/>
          </a:solidFill>
          <a:ln w="9525">
            <a:solidFill>
              <a:srgbClr val="DDD6C7"/>
            </a:solidFill>
            <a:prstDash val="solid"/>
          </a:ln>
        </p:spPr>
      </p:sp>
      <p:sp>
        <p:nvSpPr>
          <p:cNvPr id="5" name="Text 3"/>
          <p:cNvSpPr/>
          <p:nvPr/>
        </p:nvSpPr>
        <p:spPr>
          <a:xfrm>
            <a:off x="1304925" y="3799582"/>
            <a:ext cx="2745105" cy="314325"/>
          </a:xfrm>
          <a:prstGeom prst="rect">
            <a:avLst/>
          </a:prstGeom>
          <a:noFill/>
          <a:ln/>
        </p:spPr>
        <p:txBody>
          <a:bodyPr wrap="square" lIns="25400" tIns="25400" rIns="25400" bIns="25400" rtlCol="0" anchor="t">
            <a:normAutofit/>
          </a:bodyPr>
          <a:lstStyle/>
          <a:p>
            <a:pPr algn="l" indent="0" marL="0">
              <a:buNone/>
            </a:pPr>
            <a:r>
              <a:rPr lang="en-US" sz="1650" dirty="0">
                <a:solidFill>
                  <a:srgbClr val="2F7A6F"/>
                </a:solidFill>
                <a:latin typeface="Courier New" pitchFamily="34" charset="0"/>
                <a:ea typeface="Courier New" pitchFamily="34" charset="-122"/>
                <a:cs typeface="Courier New" pitchFamily="34" charset="-120"/>
              </a:rPr>
              <a:t>01</a:t>
            </a:r>
            <a:endParaRPr lang="en-US" sz="1650" dirty="0"/>
          </a:p>
        </p:txBody>
      </p:sp>
      <p:sp>
        <p:nvSpPr>
          <p:cNvPr id="6" name="Text 4"/>
          <p:cNvSpPr/>
          <p:nvPr/>
        </p:nvSpPr>
        <p:spPr>
          <a:xfrm>
            <a:off x="1304925" y="4171057"/>
            <a:ext cx="2745105" cy="352425"/>
          </a:xfrm>
          <a:prstGeom prst="rect">
            <a:avLst/>
          </a:prstGeom>
          <a:noFill/>
          <a:ln/>
        </p:spPr>
        <p:txBody>
          <a:bodyPr wrap="square" lIns="25400" tIns="25400" rIns="25400" bIns="25400" rtlCol="0" anchor="t">
            <a:normAutofit/>
          </a:bodyPr>
          <a:lstStyle/>
          <a:p>
            <a:pPr algn="l" indent="0" marL="0">
              <a:buNone/>
            </a:pPr>
            <a:r>
              <a:rPr lang="en-US" sz="2175" b="1" dirty="0">
                <a:solidFill>
                  <a:srgbClr val="20262D"/>
                </a:solidFill>
                <a:latin typeface="Arial" pitchFamily="34" charset="0"/>
                <a:ea typeface="Arial" pitchFamily="34" charset="-122"/>
                <a:cs typeface="Arial" pitchFamily="34" charset="-120"/>
              </a:rPr>
              <a:t>Parse</a:t>
            </a:r>
            <a:endParaRPr lang="en-US" sz="2175" dirty="0"/>
          </a:p>
        </p:txBody>
      </p:sp>
      <p:sp>
        <p:nvSpPr>
          <p:cNvPr id="7" name="Text 5"/>
          <p:cNvSpPr/>
          <p:nvPr/>
        </p:nvSpPr>
        <p:spPr>
          <a:xfrm>
            <a:off x="1304925" y="4542532"/>
            <a:ext cx="2571750" cy="603647"/>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6F6A5F"/>
                </a:solidFill>
                <a:latin typeface="Arial" pitchFamily="34" charset="0"/>
                <a:ea typeface="Arial" pitchFamily="34" charset="-122"/>
                <a:cs typeface="Arial" pitchFamily="34" charset="-120"/>
              </a:rPr>
              <a:t>Coordinates + energies from logs</a:t>
            </a:r>
            <a:endParaRPr lang="en-US" sz="1650" dirty="0"/>
          </a:p>
        </p:txBody>
      </p:sp>
      <p:sp>
        <p:nvSpPr>
          <p:cNvPr id="8" name="Shape 6"/>
          <p:cNvSpPr/>
          <p:nvPr/>
        </p:nvSpPr>
        <p:spPr>
          <a:xfrm>
            <a:off x="4248150" y="3523357"/>
            <a:ext cx="3009900" cy="1860947"/>
          </a:xfrm>
          <a:prstGeom prst="roundRect">
            <a:avLst>
              <a:gd name="adj" fmla="val 3071"/>
            </a:avLst>
          </a:prstGeom>
          <a:solidFill>
            <a:srgbClr val="FFFFFF"/>
          </a:solidFill>
          <a:ln w="9525">
            <a:solidFill>
              <a:srgbClr val="DDD6C7"/>
            </a:solidFill>
            <a:prstDash val="solid"/>
          </a:ln>
        </p:spPr>
      </p:sp>
      <p:sp>
        <p:nvSpPr>
          <p:cNvPr id="9" name="Text 7"/>
          <p:cNvSpPr/>
          <p:nvPr/>
        </p:nvSpPr>
        <p:spPr>
          <a:xfrm>
            <a:off x="4505325" y="3799582"/>
            <a:ext cx="2745105" cy="314325"/>
          </a:xfrm>
          <a:prstGeom prst="rect">
            <a:avLst/>
          </a:prstGeom>
          <a:noFill/>
          <a:ln/>
        </p:spPr>
        <p:txBody>
          <a:bodyPr wrap="square" lIns="25400" tIns="25400" rIns="25400" bIns="25400" rtlCol="0" anchor="t">
            <a:normAutofit/>
          </a:bodyPr>
          <a:lstStyle/>
          <a:p>
            <a:pPr algn="l" indent="0" marL="0">
              <a:buNone/>
            </a:pPr>
            <a:r>
              <a:rPr lang="en-US" sz="1650" dirty="0">
                <a:solidFill>
                  <a:srgbClr val="2F7A6F"/>
                </a:solidFill>
                <a:latin typeface="Courier New" pitchFamily="34" charset="0"/>
                <a:ea typeface="Courier New" pitchFamily="34" charset="-122"/>
                <a:cs typeface="Courier New" pitchFamily="34" charset="-120"/>
              </a:rPr>
              <a:t>02</a:t>
            </a:r>
            <a:endParaRPr lang="en-US" sz="1650" dirty="0"/>
          </a:p>
        </p:txBody>
      </p:sp>
      <p:sp>
        <p:nvSpPr>
          <p:cNvPr id="10" name="Text 8"/>
          <p:cNvSpPr/>
          <p:nvPr/>
        </p:nvSpPr>
        <p:spPr>
          <a:xfrm>
            <a:off x="4505325" y="4171057"/>
            <a:ext cx="2745105" cy="352425"/>
          </a:xfrm>
          <a:prstGeom prst="rect">
            <a:avLst/>
          </a:prstGeom>
          <a:noFill/>
          <a:ln/>
        </p:spPr>
        <p:txBody>
          <a:bodyPr wrap="square" lIns="25400" tIns="25400" rIns="25400" bIns="25400" rtlCol="0" anchor="t">
            <a:normAutofit/>
          </a:bodyPr>
          <a:lstStyle/>
          <a:p>
            <a:pPr algn="l" indent="0" marL="0">
              <a:buNone/>
            </a:pPr>
            <a:r>
              <a:rPr lang="en-US" sz="2175" b="1" dirty="0">
                <a:solidFill>
                  <a:srgbClr val="20262D"/>
                </a:solidFill>
                <a:latin typeface="Arial" pitchFamily="34" charset="0"/>
                <a:ea typeface="Arial" pitchFamily="34" charset="-122"/>
                <a:cs typeface="Arial" pitchFamily="34" charset="-120"/>
              </a:rPr>
              <a:t>Group</a:t>
            </a:r>
            <a:endParaRPr lang="en-US" sz="2175" dirty="0"/>
          </a:p>
        </p:txBody>
      </p:sp>
      <p:sp>
        <p:nvSpPr>
          <p:cNvPr id="11" name="Text 9"/>
          <p:cNvSpPr/>
          <p:nvPr/>
        </p:nvSpPr>
        <p:spPr>
          <a:xfrm>
            <a:off x="4505325" y="4542532"/>
            <a:ext cx="2745105" cy="320873"/>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6F6A5F"/>
                </a:solidFill>
                <a:latin typeface="Arial" pitchFamily="34" charset="0"/>
                <a:ea typeface="Arial" pitchFamily="34" charset="-122"/>
                <a:cs typeface="Arial" pitchFamily="34" charset="-120"/>
              </a:rPr>
              <a:t>R / P / TS triplets</a:t>
            </a:r>
            <a:endParaRPr lang="en-US" sz="1650" dirty="0"/>
          </a:p>
        </p:txBody>
      </p:sp>
      <p:sp>
        <p:nvSpPr>
          <p:cNvPr id="12" name="Shape 10"/>
          <p:cNvSpPr/>
          <p:nvPr/>
        </p:nvSpPr>
        <p:spPr>
          <a:xfrm>
            <a:off x="7448550" y="3523357"/>
            <a:ext cx="3009900" cy="1860947"/>
          </a:xfrm>
          <a:prstGeom prst="roundRect">
            <a:avLst>
              <a:gd name="adj" fmla="val 3071"/>
            </a:avLst>
          </a:prstGeom>
          <a:solidFill>
            <a:srgbClr val="FFFFFF"/>
          </a:solidFill>
          <a:ln w="9525">
            <a:solidFill>
              <a:srgbClr val="DDD6C7"/>
            </a:solidFill>
            <a:prstDash val="solid"/>
          </a:ln>
        </p:spPr>
      </p:sp>
      <p:sp>
        <p:nvSpPr>
          <p:cNvPr id="13" name="Text 11"/>
          <p:cNvSpPr/>
          <p:nvPr/>
        </p:nvSpPr>
        <p:spPr>
          <a:xfrm>
            <a:off x="7705725" y="3799582"/>
            <a:ext cx="2745105" cy="314325"/>
          </a:xfrm>
          <a:prstGeom prst="rect">
            <a:avLst/>
          </a:prstGeom>
          <a:noFill/>
          <a:ln/>
        </p:spPr>
        <p:txBody>
          <a:bodyPr wrap="square" lIns="25400" tIns="25400" rIns="25400" bIns="25400" rtlCol="0" anchor="t">
            <a:normAutofit/>
          </a:bodyPr>
          <a:lstStyle/>
          <a:p>
            <a:pPr algn="l" indent="0" marL="0">
              <a:buNone/>
            </a:pPr>
            <a:r>
              <a:rPr lang="en-US" sz="1650" dirty="0">
                <a:solidFill>
                  <a:srgbClr val="2F7A6F"/>
                </a:solidFill>
                <a:latin typeface="Courier New" pitchFamily="34" charset="0"/>
                <a:ea typeface="Courier New" pitchFamily="34" charset="-122"/>
                <a:cs typeface="Courier New" pitchFamily="34" charset="-120"/>
              </a:rPr>
              <a:t>03</a:t>
            </a:r>
            <a:endParaRPr lang="en-US" sz="1650" dirty="0"/>
          </a:p>
        </p:txBody>
      </p:sp>
      <p:sp>
        <p:nvSpPr>
          <p:cNvPr id="14" name="Text 12"/>
          <p:cNvSpPr/>
          <p:nvPr/>
        </p:nvSpPr>
        <p:spPr>
          <a:xfrm>
            <a:off x="7705725" y="4171057"/>
            <a:ext cx="2745105" cy="352425"/>
          </a:xfrm>
          <a:prstGeom prst="rect">
            <a:avLst/>
          </a:prstGeom>
          <a:noFill/>
          <a:ln/>
        </p:spPr>
        <p:txBody>
          <a:bodyPr wrap="square" lIns="25400" tIns="25400" rIns="25400" bIns="25400" rtlCol="0" anchor="t">
            <a:normAutofit/>
          </a:bodyPr>
          <a:lstStyle/>
          <a:p>
            <a:pPr algn="l" indent="0" marL="0">
              <a:buNone/>
            </a:pPr>
            <a:r>
              <a:rPr lang="en-US" sz="2175" b="1" dirty="0">
                <a:solidFill>
                  <a:srgbClr val="20262D"/>
                </a:solidFill>
                <a:latin typeface="Arial" pitchFamily="34" charset="0"/>
                <a:ea typeface="Arial" pitchFamily="34" charset="-122"/>
                <a:cs typeface="Arial" pitchFamily="34" charset="-120"/>
              </a:rPr>
              <a:t>Featurize</a:t>
            </a:r>
            <a:endParaRPr lang="en-US" sz="2175" dirty="0"/>
          </a:p>
        </p:txBody>
      </p:sp>
      <p:sp>
        <p:nvSpPr>
          <p:cNvPr id="15" name="Text 13"/>
          <p:cNvSpPr/>
          <p:nvPr/>
        </p:nvSpPr>
        <p:spPr>
          <a:xfrm>
            <a:off x="7705725" y="4542532"/>
            <a:ext cx="2571750" cy="603647"/>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6F6A5F"/>
                </a:solidFill>
                <a:latin typeface="Arial" pitchFamily="34" charset="0"/>
                <a:ea typeface="Arial" pitchFamily="34" charset="-122"/>
                <a:cs typeface="Arial" pitchFamily="34" charset="-120"/>
              </a:rPr>
              <a:t>Distances, masks, atom features</a:t>
            </a:r>
            <a:endParaRPr lang="en-US" sz="1650" dirty="0"/>
          </a:p>
        </p:txBody>
      </p:sp>
      <p:sp>
        <p:nvSpPr>
          <p:cNvPr id="16" name="Shape 14"/>
          <p:cNvSpPr/>
          <p:nvPr/>
        </p:nvSpPr>
        <p:spPr>
          <a:xfrm>
            <a:off x="10648950" y="3523357"/>
            <a:ext cx="3009900" cy="1860947"/>
          </a:xfrm>
          <a:prstGeom prst="roundRect">
            <a:avLst>
              <a:gd name="adj" fmla="val 3071"/>
            </a:avLst>
          </a:prstGeom>
          <a:solidFill>
            <a:srgbClr val="FFFFFF"/>
          </a:solidFill>
          <a:ln w="9525">
            <a:solidFill>
              <a:srgbClr val="DDD6C7"/>
            </a:solidFill>
            <a:prstDash val="solid"/>
          </a:ln>
        </p:spPr>
      </p:sp>
      <p:sp>
        <p:nvSpPr>
          <p:cNvPr id="17" name="Text 15"/>
          <p:cNvSpPr/>
          <p:nvPr/>
        </p:nvSpPr>
        <p:spPr>
          <a:xfrm>
            <a:off x="10906125" y="3799582"/>
            <a:ext cx="2745105" cy="314325"/>
          </a:xfrm>
          <a:prstGeom prst="rect">
            <a:avLst/>
          </a:prstGeom>
          <a:noFill/>
          <a:ln/>
        </p:spPr>
        <p:txBody>
          <a:bodyPr wrap="square" lIns="25400" tIns="25400" rIns="25400" bIns="25400" rtlCol="0" anchor="t">
            <a:normAutofit/>
          </a:bodyPr>
          <a:lstStyle/>
          <a:p>
            <a:pPr algn="l" indent="0" marL="0">
              <a:buNone/>
            </a:pPr>
            <a:r>
              <a:rPr lang="en-US" sz="1650" dirty="0">
                <a:solidFill>
                  <a:srgbClr val="2F7A6F"/>
                </a:solidFill>
                <a:latin typeface="Courier New" pitchFamily="34" charset="0"/>
                <a:ea typeface="Courier New" pitchFamily="34" charset="-122"/>
                <a:cs typeface="Courier New" pitchFamily="34" charset="-120"/>
              </a:rPr>
              <a:t>04</a:t>
            </a:r>
            <a:endParaRPr lang="en-US" sz="1650" dirty="0"/>
          </a:p>
        </p:txBody>
      </p:sp>
      <p:sp>
        <p:nvSpPr>
          <p:cNvPr id="18" name="Text 16"/>
          <p:cNvSpPr/>
          <p:nvPr/>
        </p:nvSpPr>
        <p:spPr>
          <a:xfrm>
            <a:off x="10906125" y="4171057"/>
            <a:ext cx="2745105" cy="352425"/>
          </a:xfrm>
          <a:prstGeom prst="rect">
            <a:avLst/>
          </a:prstGeom>
          <a:noFill/>
          <a:ln/>
        </p:spPr>
        <p:txBody>
          <a:bodyPr wrap="square" lIns="25400" tIns="25400" rIns="25400" bIns="25400" rtlCol="0" anchor="t">
            <a:normAutofit/>
          </a:bodyPr>
          <a:lstStyle/>
          <a:p>
            <a:pPr algn="l" indent="0" marL="0">
              <a:buNone/>
            </a:pPr>
            <a:r>
              <a:rPr lang="en-US" sz="2175" b="1" dirty="0">
                <a:solidFill>
                  <a:srgbClr val="20262D"/>
                </a:solidFill>
                <a:latin typeface="Arial" pitchFamily="34" charset="0"/>
                <a:ea typeface="Arial" pitchFamily="34" charset="-122"/>
                <a:cs typeface="Arial" pitchFamily="34" charset="-120"/>
              </a:rPr>
              <a:t>Split</a:t>
            </a:r>
            <a:endParaRPr lang="en-US" sz="2175" dirty="0"/>
          </a:p>
        </p:txBody>
      </p:sp>
      <p:sp>
        <p:nvSpPr>
          <p:cNvPr id="19" name="Text 17"/>
          <p:cNvSpPr/>
          <p:nvPr/>
        </p:nvSpPr>
        <p:spPr>
          <a:xfrm>
            <a:off x="10906125" y="4542532"/>
            <a:ext cx="2571750" cy="603647"/>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6F6A5F"/>
                </a:solidFill>
                <a:latin typeface="Arial" pitchFamily="34" charset="0"/>
                <a:ea typeface="Arial" pitchFamily="34" charset="-122"/>
                <a:cs typeface="Arial" pitchFamily="34" charset="-120"/>
              </a:rPr>
              <a:t>Stratified, leakage-checked</a:t>
            </a:r>
            <a:endParaRPr lang="en-US" sz="1650" dirty="0"/>
          </a:p>
        </p:txBody>
      </p:sp>
      <p:sp>
        <p:nvSpPr>
          <p:cNvPr id="20" name="Shape 18"/>
          <p:cNvSpPr/>
          <p:nvPr/>
        </p:nvSpPr>
        <p:spPr>
          <a:xfrm>
            <a:off x="13849350" y="3523357"/>
            <a:ext cx="3009900" cy="1860947"/>
          </a:xfrm>
          <a:prstGeom prst="roundRect">
            <a:avLst>
              <a:gd name="adj" fmla="val 3071"/>
            </a:avLst>
          </a:prstGeom>
          <a:solidFill>
            <a:srgbClr val="FFFFFF"/>
          </a:solidFill>
          <a:ln w="9525">
            <a:solidFill>
              <a:srgbClr val="DDD6C7"/>
            </a:solidFill>
            <a:prstDash val="solid"/>
          </a:ln>
        </p:spPr>
      </p:sp>
      <p:sp>
        <p:nvSpPr>
          <p:cNvPr id="21" name="Text 19"/>
          <p:cNvSpPr/>
          <p:nvPr/>
        </p:nvSpPr>
        <p:spPr>
          <a:xfrm>
            <a:off x="14106525" y="3799582"/>
            <a:ext cx="2745105" cy="314325"/>
          </a:xfrm>
          <a:prstGeom prst="rect">
            <a:avLst/>
          </a:prstGeom>
          <a:noFill/>
          <a:ln/>
        </p:spPr>
        <p:txBody>
          <a:bodyPr wrap="square" lIns="25400" tIns="25400" rIns="25400" bIns="25400" rtlCol="0" anchor="t">
            <a:normAutofit/>
          </a:bodyPr>
          <a:lstStyle/>
          <a:p>
            <a:pPr algn="l" indent="0" marL="0">
              <a:buNone/>
            </a:pPr>
            <a:r>
              <a:rPr lang="en-US" sz="1650" dirty="0">
                <a:solidFill>
                  <a:srgbClr val="2F7A6F"/>
                </a:solidFill>
                <a:latin typeface="Courier New" pitchFamily="34" charset="0"/>
                <a:ea typeface="Courier New" pitchFamily="34" charset="-122"/>
                <a:cs typeface="Courier New" pitchFamily="34" charset="-120"/>
              </a:rPr>
              <a:t>05</a:t>
            </a:r>
            <a:endParaRPr lang="en-US" sz="1650" dirty="0"/>
          </a:p>
        </p:txBody>
      </p:sp>
      <p:sp>
        <p:nvSpPr>
          <p:cNvPr id="22" name="Text 20"/>
          <p:cNvSpPr/>
          <p:nvPr/>
        </p:nvSpPr>
        <p:spPr>
          <a:xfrm>
            <a:off x="14106525" y="4171057"/>
            <a:ext cx="2745105" cy="352425"/>
          </a:xfrm>
          <a:prstGeom prst="rect">
            <a:avLst/>
          </a:prstGeom>
          <a:noFill/>
          <a:ln/>
        </p:spPr>
        <p:txBody>
          <a:bodyPr wrap="square" lIns="25400" tIns="25400" rIns="25400" bIns="25400" rtlCol="0" anchor="t">
            <a:normAutofit/>
          </a:bodyPr>
          <a:lstStyle/>
          <a:p>
            <a:pPr algn="l" indent="0" marL="0">
              <a:buNone/>
            </a:pPr>
            <a:r>
              <a:rPr lang="en-US" sz="2175" b="1" dirty="0">
                <a:solidFill>
                  <a:srgbClr val="20262D"/>
                </a:solidFill>
                <a:latin typeface="Arial" pitchFamily="34" charset="0"/>
                <a:ea typeface="Arial" pitchFamily="34" charset="-122"/>
                <a:cs typeface="Arial" pitchFamily="34" charset="-120"/>
              </a:rPr>
              <a:t>Normalize</a:t>
            </a:r>
            <a:endParaRPr lang="en-US" sz="2175" dirty="0"/>
          </a:p>
        </p:txBody>
      </p:sp>
      <p:sp>
        <p:nvSpPr>
          <p:cNvPr id="23" name="Text 21"/>
          <p:cNvSpPr/>
          <p:nvPr/>
        </p:nvSpPr>
        <p:spPr>
          <a:xfrm>
            <a:off x="14106525" y="4542532"/>
            <a:ext cx="2745105" cy="320873"/>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6F6A5F"/>
                </a:solidFill>
                <a:latin typeface="Arial" pitchFamily="34" charset="0"/>
                <a:ea typeface="Arial" pitchFamily="34" charset="-122"/>
                <a:cs typeface="Arial" pitchFamily="34" charset="-120"/>
              </a:rPr>
              <a:t>Train-only z-scores</a:t>
            </a:r>
            <a:endParaRPr lang="en-US" sz="1650" dirty="0"/>
          </a:p>
        </p:txBody>
      </p:sp>
      <p:sp>
        <p:nvSpPr>
          <p:cNvPr id="24" name="Shape 22"/>
          <p:cNvSpPr/>
          <p:nvPr/>
        </p:nvSpPr>
        <p:spPr>
          <a:xfrm>
            <a:off x="1047750" y="5574804"/>
            <a:ext cx="3009900" cy="1860947"/>
          </a:xfrm>
          <a:prstGeom prst="roundRect">
            <a:avLst>
              <a:gd name="adj" fmla="val 3071"/>
            </a:avLst>
          </a:prstGeom>
          <a:solidFill>
            <a:srgbClr val="20262D"/>
          </a:solidFill>
          <a:ln/>
        </p:spPr>
      </p:sp>
      <p:sp>
        <p:nvSpPr>
          <p:cNvPr id="25" name="Text 23"/>
          <p:cNvSpPr/>
          <p:nvPr/>
        </p:nvSpPr>
        <p:spPr>
          <a:xfrm>
            <a:off x="1295400" y="5841504"/>
            <a:ext cx="276606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C08A3E"/>
                </a:solidFill>
                <a:latin typeface="Courier New" pitchFamily="34" charset="0"/>
                <a:ea typeface="Courier New" pitchFamily="34" charset="-122"/>
                <a:cs typeface="Courier New" pitchFamily="34" charset="-120"/>
              </a:rPr>
              <a:t>06</a:t>
            </a:r>
            <a:endParaRPr lang="en-US" sz="1650" dirty="0"/>
          </a:p>
        </p:txBody>
      </p:sp>
      <p:sp>
        <p:nvSpPr>
          <p:cNvPr id="26" name="Text 24"/>
          <p:cNvSpPr/>
          <p:nvPr/>
        </p:nvSpPr>
        <p:spPr>
          <a:xfrm>
            <a:off x="1295400" y="6212979"/>
            <a:ext cx="2766060" cy="352425"/>
          </a:xfrm>
          <a:prstGeom prst="rect">
            <a:avLst/>
          </a:prstGeom>
          <a:noFill/>
          <a:ln/>
        </p:spPr>
        <p:txBody>
          <a:bodyPr wrap="square" lIns="25400" tIns="25400" rIns="25400" bIns="25400" rtlCol="0" anchor="t">
            <a:normAutofit/>
          </a:bodyPr>
          <a:lstStyle/>
          <a:p>
            <a:pPr algn="l" indent="0" marL="0">
              <a:buNone/>
            </a:pPr>
            <a:r>
              <a:rPr lang="en-US" sz="2175" b="1" dirty="0">
                <a:solidFill>
                  <a:srgbClr val="F2EDE1"/>
                </a:solidFill>
                <a:latin typeface="Arial" pitchFamily="34" charset="0"/>
                <a:ea typeface="Arial" pitchFamily="34" charset="-122"/>
                <a:cs typeface="Arial" pitchFamily="34" charset="-120"/>
              </a:rPr>
              <a:t>Geometry</a:t>
            </a:r>
            <a:endParaRPr lang="en-US" sz="2175" dirty="0"/>
          </a:p>
        </p:txBody>
      </p:sp>
      <p:sp>
        <p:nvSpPr>
          <p:cNvPr id="27" name="Text 25"/>
          <p:cNvSpPr/>
          <p:nvPr/>
        </p:nvSpPr>
        <p:spPr>
          <a:xfrm>
            <a:off x="1295400" y="6584454"/>
            <a:ext cx="2590800" cy="603647"/>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A9A396"/>
                </a:solidFill>
                <a:latin typeface="Arial" pitchFamily="34" charset="0"/>
                <a:ea typeface="Arial" pitchFamily="34" charset="-122"/>
                <a:cs typeface="Arial" pitchFamily="34" charset="-120"/>
              </a:rPr>
              <a:t>GRU + Transformer + EGNN</a:t>
            </a:r>
            <a:endParaRPr lang="en-US" sz="1650" dirty="0"/>
          </a:p>
        </p:txBody>
      </p:sp>
      <p:sp>
        <p:nvSpPr>
          <p:cNvPr id="28" name="Shape 26"/>
          <p:cNvSpPr/>
          <p:nvPr/>
        </p:nvSpPr>
        <p:spPr>
          <a:xfrm>
            <a:off x="4248150" y="5574804"/>
            <a:ext cx="3009900" cy="1860947"/>
          </a:xfrm>
          <a:prstGeom prst="roundRect">
            <a:avLst>
              <a:gd name="adj" fmla="val 3071"/>
            </a:avLst>
          </a:prstGeom>
          <a:solidFill>
            <a:srgbClr val="20262D"/>
          </a:solidFill>
          <a:ln/>
        </p:spPr>
      </p:sp>
      <p:sp>
        <p:nvSpPr>
          <p:cNvPr id="29" name="Text 27"/>
          <p:cNvSpPr/>
          <p:nvPr/>
        </p:nvSpPr>
        <p:spPr>
          <a:xfrm>
            <a:off x="4495800" y="5841504"/>
            <a:ext cx="276606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C08A3E"/>
                </a:solidFill>
                <a:latin typeface="Courier New" pitchFamily="34" charset="0"/>
                <a:ea typeface="Courier New" pitchFamily="34" charset="-122"/>
                <a:cs typeface="Courier New" pitchFamily="34" charset="-120"/>
              </a:rPr>
              <a:t>07</a:t>
            </a:r>
            <a:endParaRPr lang="en-US" sz="1650" dirty="0"/>
          </a:p>
        </p:txBody>
      </p:sp>
      <p:sp>
        <p:nvSpPr>
          <p:cNvPr id="30" name="Text 28"/>
          <p:cNvSpPr/>
          <p:nvPr/>
        </p:nvSpPr>
        <p:spPr>
          <a:xfrm>
            <a:off x="4495800" y="6212979"/>
            <a:ext cx="2766060" cy="352425"/>
          </a:xfrm>
          <a:prstGeom prst="rect">
            <a:avLst/>
          </a:prstGeom>
          <a:noFill/>
          <a:ln/>
        </p:spPr>
        <p:txBody>
          <a:bodyPr wrap="square" lIns="25400" tIns="25400" rIns="25400" bIns="25400" rtlCol="0" anchor="t">
            <a:normAutofit/>
          </a:bodyPr>
          <a:lstStyle/>
          <a:p>
            <a:pPr algn="l" indent="0" marL="0">
              <a:buNone/>
            </a:pPr>
            <a:r>
              <a:rPr lang="en-US" sz="2175" b="1" dirty="0">
                <a:solidFill>
                  <a:srgbClr val="F2EDE1"/>
                </a:solidFill>
                <a:latin typeface="Arial" pitchFamily="34" charset="0"/>
                <a:ea typeface="Arial" pitchFamily="34" charset="-122"/>
                <a:cs typeface="Arial" pitchFamily="34" charset="-120"/>
              </a:rPr>
              <a:t>Energy</a:t>
            </a:r>
            <a:endParaRPr lang="en-US" sz="2175" dirty="0"/>
          </a:p>
        </p:txBody>
      </p:sp>
      <p:sp>
        <p:nvSpPr>
          <p:cNvPr id="31" name="Text 29"/>
          <p:cNvSpPr/>
          <p:nvPr/>
        </p:nvSpPr>
        <p:spPr>
          <a:xfrm>
            <a:off x="4495800" y="6584454"/>
            <a:ext cx="2766060" cy="363141"/>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A9A396"/>
                </a:solidFill>
                <a:latin typeface="Arial" pitchFamily="34" charset="0"/>
                <a:ea typeface="Arial" pitchFamily="34" charset="-122"/>
                <a:cs typeface="Arial" pitchFamily="34" charset="-120"/>
              </a:rPr>
              <a:t>Cross-attention E</a:t>
            </a:r>
            <a:pPr algn="l" indent="0" marL="0">
              <a:lnSpc>
                <a:spcPct val="114231"/>
              </a:lnSpc>
              <a:buNone/>
            </a:pPr>
            <a:r>
              <a:rPr lang="en-US" sz="1375" baseline="-40000" dirty="0">
                <a:solidFill>
                  <a:srgbClr val="A9A396"/>
                </a:solidFill>
                <a:latin typeface="Arial" pitchFamily="34" charset="0"/>
                <a:ea typeface="Arial" pitchFamily="34" charset="-122"/>
                <a:cs typeface="Arial" pitchFamily="34" charset="-120"/>
              </a:rPr>
              <a:t>a </a:t>
            </a:r>
            <a:pPr algn="l" indent="0" marL="0">
              <a:lnSpc>
                <a:spcPct val="114231"/>
              </a:lnSpc>
              <a:buNone/>
            </a:pPr>
            <a:r>
              <a:rPr lang="en-US" sz="1650" dirty="0">
                <a:solidFill>
                  <a:srgbClr val="A9A396"/>
                </a:solidFill>
                <a:latin typeface="Arial" pitchFamily="34" charset="0"/>
                <a:ea typeface="Arial" pitchFamily="34" charset="-122"/>
                <a:cs typeface="Arial" pitchFamily="34" charset="-120"/>
              </a:rPr>
              <a:t>head</a:t>
            </a:r>
            <a:endParaRPr lang="en-US" sz="1650" dirty="0"/>
          </a:p>
        </p:txBody>
      </p:sp>
      <p:sp>
        <p:nvSpPr>
          <p:cNvPr id="32" name="Shape 30"/>
          <p:cNvSpPr/>
          <p:nvPr/>
        </p:nvSpPr>
        <p:spPr>
          <a:xfrm>
            <a:off x="7448550" y="5574804"/>
            <a:ext cx="3009900" cy="1860947"/>
          </a:xfrm>
          <a:prstGeom prst="roundRect">
            <a:avLst>
              <a:gd name="adj" fmla="val 3071"/>
            </a:avLst>
          </a:prstGeom>
          <a:solidFill>
            <a:srgbClr val="FFFFFF"/>
          </a:solidFill>
          <a:ln w="9525">
            <a:solidFill>
              <a:srgbClr val="DDD6C7"/>
            </a:solidFill>
            <a:prstDash val="solid"/>
          </a:ln>
        </p:spPr>
      </p:sp>
      <p:sp>
        <p:nvSpPr>
          <p:cNvPr id="33" name="Text 31"/>
          <p:cNvSpPr/>
          <p:nvPr/>
        </p:nvSpPr>
        <p:spPr>
          <a:xfrm>
            <a:off x="7705725" y="5851029"/>
            <a:ext cx="2745105" cy="314325"/>
          </a:xfrm>
          <a:prstGeom prst="rect">
            <a:avLst/>
          </a:prstGeom>
          <a:noFill/>
          <a:ln/>
        </p:spPr>
        <p:txBody>
          <a:bodyPr wrap="square" lIns="25400" tIns="25400" rIns="25400" bIns="25400" rtlCol="0" anchor="t">
            <a:normAutofit/>
          </a:bodyPr>
          <a:lstStyle/>
          <a:p>
            <a:pPr algn="l" indent="0" marL="0">
              <a:buNone/>
            </a:pPr>
            <a:r>
              <a:rPr lang="en-US" sz="1650" dirty="0">
                <a:solidFill>
                  <a:srgbClr val="2F7A6F"/>
                </a:solidFill>
                <a:latin typeface="Courier New" pitchFamily="34" charset="0"/>
                <a:ea typeface="Courier New" pitchFamily="34" charset="-122"/>
                <a:cs typeface="Courier New" pitchFamily="34" charset="-120"/>
              </a:rPr>
              <a:t>08</a:t>
            </a:r>
            <a:endParaRPr lang="en-US" sz="1650" dirty="0"/>
          </a:p>
        </p:txBody>
      </p:sp>
      <p:sp>
        <p:nvSpPr>
          <p:cNvPr id="34" name="Text 32"/>
          <p:cNvSpPr/>
          <p:nvPr/>
        </p:nvSpPr>
        <p:spPr>
          <a:xfrm>
            <a:off x="7705725" y="6222504"/>
            <a:ext cx="2745105" cy="352425"/>
          </a:xfrm>
          <a:prstGeom prst="rect">
            <a:avLst/>
          </a:prstGeom>
          <a:noFill/>
          <a:ln/>
        </p:spPr>
        <p:txBody>
          <a:bodyPr wrap="square" lIns="25400" tIns="25400" rIns="25400" bIns="25400" rtlCol="0" anchor="t">
            <a:normAutofit/>
          </a:bodyPr>
          <a:lstStyle/>
          <a:p>
            <a:pPr algn="l" indent="0" marL="0">
              <a:buNone/>
            </a:pPr>
            <a:r>
              <a:rPr lang="en-US" sz="2175" b="1" dirty="0">
                <a:solidFill>
                  <a:srgbClr val="20262D"/>
                </a:solidFill>
                <a:latin typeface="Arial" pitchFamily="34" charset="0"/>
                <a:ea typeface="Arial" pitchFamily="34" charset="-122"/>
                <a:cs typeface="Arial" pitchFamily="34" charset="-120"/>
              </a:rPr>
              <a:t>Train</a:t>
            </a:r>
            <a:endParaRPr lang="en-US" sz="2175" dirty="0"/>
          </a:p>
        </p:txBody>
      </p:sp>
      <p:sp>
        <p:nvSpPr>
          <p:cNvPr id="35" name="Text 33"/>
          <p:cNvSpPr/>
          <p:nvPr/>
        </p:nvSpPr>
        <p:spPr>
          <a:xfrm>
            <a:off x="7705725" y="6593979"/>
            <a:ext cx="2745105" cy="320873"/>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6F6A5F"/>
                </a:solidFill>
                <a:latin typeface="Arial" pitchFamily="34" charset="0"/>
                <a:ea typeface="Arial" pitchFamily="34" charset="-122"/>
                <a:cs typeface="Arial" pitchFamily="34" charset="-120"/>
              </a:rPr>
              <a:t>Multi-term loss + SWA</a:t>
            </a:r>
            <a:endParaRPr lang="en-US" sz="1650" dirty="0"/>
          </a:p>
        </p:txBody>
      </p:sp>
      <p:sp>
        <p:nvSpPr>
          <p:cNvPr id="36" name="Shape 34"/>
          <p:cNvSpPr/>
          <p:nvPr/>
        </p:nvSpPr>
        <p:spPr>
          <a:xfrm>
            <a:off x="10648950" y="5574804"/>
            <a:ext cx="3009900" cy="1860947"/>
          </a:xfrm>
          <a:prstGeom prst="roundRect">
            <a:avLst>
              <a:gd name="adj" fmla="val 3071"/>
            </a:avLst>
          </a:prstGeom>
          <a:solidFill>
            <a:srgbClr val="FFFFFF"/>
          </a:solidFill>
          <a:ln w="9525">
            <a:solidFill>
              <a:srgbClr val="DDD6C7"/>
            </a:solidFill>
            <a:prstDash val="solid"/>
          </a:ln>
        </p:spPr>
      </p:sp>
      <p:sp>
        <p:nvSpPr>
          <p:cNvPr id="37" name="Text 35"/>
          <p:cNvSpPr/>
          <p:nvPr/>
        </p:nvSpPr>
        <p:spPr>
          <a:xfrm>
            <a:off x="10906125" y="5851029"/>
            <a:ext cx="2745105" cy="314325"/>
          </a:xfrm>
          <a:prstGeom prst="rect">
            <a:avLst/>
          </a:prstGeom>
          <a:noFill/>
          <a:ln/>
        </p:spPr>
        <p:txBody>
          <a:bodyPr wrap="square" lIns="25400" tIns="25400" rIns="25400" bIns="25400" rtlCol="0" anchor="t">
            <a:normAutofit/>
          </a:bodyPr>
          <a:lstStyle/>
          <a:p>
            <a:pPr algn="l" indent="0" marL="0">
              <a:buNone/>
            </a:pPr>
            <a:r>
              <a:rPr lang="en-US" sz="1650" dirty="0">
                <a:solidFill>
                  <a:srgbClr val="2F7A6F"/>
                </a:solidFill>
                <a:latin typeface="Courier New" pitchFamily="34" charset="0"/>
                <a:ea typeface="Courier New" pitchFamily="34" charset="-122"/>
                <a:cs typeface="Courier New" pitchFamily="34" charset="-120"/>
              </a:rPr>
              <a:t>09</a:t>
            </a:r>
            <a:endParaRPr lang="en-US" sz="1650" dirty="0"/>
          </a:p>
        </p:txBody>
      </p:sp>
      <p:sp>
        <p:nvSpPr>
          <p:cNvPr id="38" name="Text 36"/>
          <p:cNvSpPr/>
          <p:nvPr/>
        </p:nvSpPr>
        <p:spPr>
          <a:xfrm>
            <a:off x="10906125" y="6222504"/>
            <a:ext cx="2745105" cy="352425"/>
          </a:xfrm>
          <a:prstGeom prst="rect">
            <a:avLst/>
          </a:prstGeom>
          <a:noFill/>
          <a:ln/>
        </p:spPr>
        <p:txBody>
          <a:bodyPr wrap="square" lIns="25400" tIns="25400" rIns="25400" bIns="25400" rtlCol="0" anchor="t">
            <a:normAutofit/>
          </a:bodyPr>
          <a:lstStyle/>
          <a:p>
            <a:pPr algn="l" indent="0" marL="0">
              <a:buNone/>
            </a:pPr>
            <a:r>
              <a:rPr lang="en-US" sz="2175" b="1" dirty="0">
                <a:solidFill>
                  <a:srgbClr val="20262D"/>
                </a:solidFill>
                <a:latin typeface="Arial" pitchFamily="34" charset="0"/>
                <a:ea typeface="Arial" pitchFamily="34" charset="-122"/>
                <a:cs typeface="Arial" pitchFamily="34" charset="-120"/>
              </a:rPr>
              <a:t>Evaluate</a:t>
            </a:r>
            <a:endParaRPr lang="en-US" sz="2175" dirty="0"/>
          </a:p>
        </p:txBody>
      </p:sp>
      <p:sp>
        <p:nvSpPr>
          <p:cNvPr id="39" name="Text 37"/>
          <p:cNvSpPr/>
          <p:nvPr/>
        </p:nvSpPr>
        <p:spPr>
          <a:xfrm>
            <a:off x="10906125" y="6593979"/>
            <a:ext cx="2745105" cy="320873"/>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6F6A5F"/>
                </a:solidFill>
                <a:latin typeface="Arial" pitchFamily="34" charset="0"/>
                <a:ea typeface="Arial" pitchFamily="34" charset="-122"/>
                <a:cs typeface="Arial" pitchFamily="34" charset="-120"/>
              </a:rPr>
              <a:t>Metrics + dashboard</a:t>
            </a:r>
            <a:endParaRPr lang="en-US" sz="1650" dirty="0"/>
          </a:p>
        </p:txBody>
      </p:sp>
      <p:sp>
        <p:nvSpPr>
          <p:cNvPr id="40" name="Shape 38"/>
          <p:cNvSpPr/>
          <p:nvPr/>
        </p:nvSpPr>
        <p:spPr>
          <a:xfrm>
            <a:off x="13849350" y="5574804"/>
            <a:ext cx="3009900" cy="1860947"/>
          </a:xfrm>
          <a:prstGeom prst="roundRect">
            <a:avLst>
              <a:gd name="adj" fmla="val 3071"/>
            </a:avLst>
          </a:prstGeom>
          <a:solidFill>
            <a:srgbClr val="FFFFFF"/>
          </a:solidFill>
          <a:ln w="9525">
            <a:solidFill>
              <a:srgbClr val="DDD6C7"/>
            </a:solidFill>
            <a:prstDash val="solid"/>
          </a:ln>
        </p:spPr>
      </p:sp>
      <p:sp>
        <p:nvSpPr>
          <p:cNvPr id="41" name="Text 39"/>
          <p:cNvSpPr/>
          <p:nvPr/>
        </p:nvSpPr>
        <p:spPr>
          <a:xfrm>
            <a:off x="14106525" y="5851029"/>
            <a:ext cx="2745105" cy="314325"/>
          </a:xfrm>
          <a:prstGeom prst="rect">
            <a:avLst/>
          </a:prstGeom>
          <a:noFill/>
          <a:ln/>
        </p:spPr>
        <p:txBody>
          <a:bodyPr wrap="square" lIns="25400" tIns="25400" rIns="25400" bIns="25400" rtlCol="0" anchor="t">
            <a:normAutofit/>
          </a:bodyPr>
          <a:lstStyle/>
          <a:p>
            <a:pPr algn="l" indent="0" marL="0">
              <a:buNone/>
            </a:pPr>
            <a:r>
              <a:rPr lang="en-US" sz="1650" dirty="0">
                <a:solidFill>
                  <a:srgbClr val="2F7A6F"/>
                </a:solidFill>
                <a:latin typeface="Courier New" pitchFamily="34" charset="0"/>
                <a:ea typeface="Courier New" pitchFamily="34" charset="-122"/>
                <a:cs typeface="Courier New" pitchFamily="34" charset="-120"/>
              </a:rPr>
              <a:t>10</a:t>
            </a:r>
            <a:endParaRPr lang="en-US" sz="1650" dirty="0"/>
          </a:p>
        </p:txBody>
      </p:sp>
      <p:sp>
        <p:nvSpPr>
          <p:cNvPr id="42" name="Text 40"/>
          <p:cNvSpPr/>
          <p:nvPr/>
        </p:nvSpPr>
        <p:spPr>
          <a:xfrm>
            <a:off x="14106525" y="6222504"/>
            <a:ext cx="2745105" cy="352425"/>
          </a:xfrm>
          <a:prstGeom prst="rect">
            <a:avLst/>
          </a:prstGeom>
          <a:noFill/>
          <a:ln/>
        </p:spPr>
        <p:txBody>
          <a:bodyPr wrap="square" lIns="25400" tIns="25400" rIns="25400" bIns="25400" rtlCol="0" anchor="t">
            <a:normAutofit/>
          </a:bodyPr>
          <a:lstStyle/>
          <a:p>
            <a:pPr algn="l" indent="0" marL="0">
              <a:buNone/>
            </a:pPr>
            <a:r>
              <a:rPr lang="en-US" sz="2175" b="1" dirty="0">
                <a:solidFill>
                  <a:srgbClr val="20262D"/>
                </a:solidFill>
                <a:latin typeface="Arial" pitchFamily="34" charset="0"/>
                <a:ea typeface="Arial" pitchFamily="34" charset="-122"/>
                <a:cs typeface="Arial" pitchFamily="34" charset="-120"/>
              </a:rPr>
              <a:t>Predict</a:t>
            </a:r>
            <a:endParaRPr lang="en-US" sz="2175" dirty="0"/>
          </a:p>
        </p:txBody>
      </p:sp>
      <p:sp>
        <p:nvSpPr>
          <p:cNvPr id="43" name="Text 41"/>
          <p:cNvSpPr/>
          <p:nvPr/>
        </p:nvSpPr>
        <p:spPr>
          <a:xfrm>
            <a:off x="14106525" y="6593979"/>
            <a:ext cx="2571750" cy="603647"/>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6F6A5F"/>
                </a:solidFill>
                <a:latin typeface="Arial" pitchFamily="34" charset="0"/>
                <a:ea typeface="Arial" pitchFamily="34" charset="-122"/>
                <a:cs typeface="Arial" pitchFamily="34" charset="-120"/>
              </a:rPr>
              <a:t>New reaction → JSON / XYZ</a:t>
            </a:r>
            <a:endParaRPr lang="en-US" sz="1650" dirty="0"/>
          </a:p>
        </p:txBody>
      </p:sp>
      <p:sp>
        <p:nvSpPr>
          <p:cNvPr id="44" name="Text 42"/>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45" name="Text 43"/>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04</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DATASET EVOLUTION</a:t>
            </a:r>
            <a:endParaRPr lang="en-US" sz="1800" dirty="0"/>
          </a:p>
        </p:txBody>
      </p:sp>
      <p:sp>
        <p:nvSpPr>
          <p:cNvPr id="3" name="Text 1"/>
          <p:cNvSpPr/>
          <p:nvPr/>
        </p:nvSpPr>
        <p:spPr>
          <a:xfrm>
            <a:off x="1047750" y="1428750"/>
            <a:ext cx="8560799"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From a small extraction to the full RGD1 dataset</a:t>
            </a:r>
            <a:endParaRPr lang="en-US" sz="5550" dirty="0"/>
          </a:p>
        </p:txBody>
      </p:sp>
      <p:sp>
        <p:nvSpPr>
          <p:cNvPr id="4" name="Shape 2"/>
          <p:cNvSpPr/>
          <p:nvPr/>
        </p:nvSpPr>
        <p:spPr>
          <a:xfrm>
            <a:off x="1047750" y="4638229"/>
            <a:ext cx="6657975" cy="3143250"/>
          </a:xfrm>
          <a:prstGeom prst="roundRect">
            <a:avLst>
              <a:gd name="adj" fmla="val 2424"/>
            </a:avLst>
          </a:prstGeom>
          <a:solidFill>
            <a:srgbClr val="FFFFFF"/>
          </a:solidFill>
          <a:ln w="9525">
            <a:solidFill>
              <a:srgbClr val="DDD6C7"/>
            </a:solidFill>
            <a:prstDash val="solid"/>
          </a:ln>
        </p:spPr>
      </p:sp>
      <p:sp>
        <p:nvSpPr>
          <p:cNvPr id="5" name="Text 3"/>
          <p:cNvSpPr/>
          <p:nvPr/>
        </p:nvSpPr>
        <p:spPr>
          <a:xfrm>
            <a:off x="1533525" y="5104954"/>
            <a:ext cx="6255068"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6F6A5F"/>
                </a:solidFill>
                <a:latin typeface="Courier New" pitchFamily="34" charset="0"/>
                <a:ea typeface="Courier New" pitchFamily="34" charset="-122"/>
                <a:cs typeface="Courier New" pitchFamily="34" charset="-120"/>
              </a:rPr>
              <a:t>EARLY — b97d3</a:t>
            </a:r>
            <a:endParaRPr lang="en-US" sz="1800" dirty="0"/>
          </a:p>
        </p:txBody>
      </p:sp>
      <p:sp>
        <p:nvSpPr>
          <p:cNvPr id="6" name="Text 4"/>
          <p:cNvSpPr/>
          <p:nvPr/>
        </p:nvSpPr>
        <p:spPr>
          <a:xfrm>
            <a:off x="1533525" y="5581204"/>
            <a:ext cx="6255068" cy="952500"/>
          </a:xfrm>
          <a:prstGeom prst="rect">
            <a:avLst/>
          </a:prstGeom>
          <a:noFill/>
          <a:ln/>
        </p:spPr>
        <p:txBody>
          <a:bodyPr wrap="square" lIns="25400" tIns="25400" rIns="25400" bIns="25400" rtlCol="0" anchor="t">
            <a:normAutofit/>
          </a:bodyPr>
          <a:lstStyle/>
          <a:p>
            <a:pPr algn="l" indent="0" marL="0">
              <a:lnSpc>
                <a:spcPct val="88073"/>
              </a:lnSpc>
              <a:buNone/>
            </a:pPr>
            <a:r>
              <a:rPr lang="en-US" sz="7200" dirty="0">
                <a:solidFill>
                  <a:srgbClr val="20262D"/>
                </a:solidFill>
                <a:latin typeface="Georgia" pitchFamily="34" charset="0"/>
                <a:ea typeface="Georgia" pitchFamily="34" charset="-122"/>
                <a:cs typeface="Georgia" pitchFamily="34" charset="-120"/>
              </a:rPr>
              <a:t>16,292</a:t>
            </a:r>
            <a:endParaRPr lang="en-US" sz="7200" dirty="0"/>
          </a:p>
        </p:txBody>
      </p:sp>
      <p:sp>
        <p:nvSpPr>
          <p:cNvPr id="7" name="Text 5"/>
          <p:cNvSpPr/>
          <p:nvPr/>
        </p:nvSpPr>
        <p:spPr>
          <a:xfrm>
            <a:off x="1533525" y="6571804"/>
            <a:ext cx="6255068" cy="390525"/>
          </a:xfrm>
          <a:prstGeom prst="rect">
            <a:avLst/>
          </a:prstGeom>
          <a:noFill/>
          <a:ln/>
        </p:spPr>
        <p:txBody>
          <a:bodyPr wrap="square" lIns="25400" tIns="25400" rIns="25400" bIns="25400" rtlCol="0" anchor="t">
            <a:normAutofit/>
          </a:bodyPr>
          <a:lstStyle/>
          <a:p>
            <a:pPr algn="l" indent="0" marL="0">
              <a:buNone/>
            </a:pPr>
            <a:r>
              <a:rPr lang="en-US" sz="2100" dirty="0">
                <a:solidFill>
                  <a:srgbClr val="6F6A5F"/>
                </a:solidFill>
                <a:latin typeface="Arial" pitchFamily="34" charset="0"/>
                <a:ea typeface="Arial" pitchFamily="34" charset="-122"/>
                <a:cs typeface="Arial" pitchFamily="34" charset="-120"/>
              </a:rPr>
              <a:t>reactions · Ea mean 42 kcal/mol</a:t>
            </a:r>
            <a:endParaRPr lang="en-US" sz="2100" dirty="0"/>
          </a:p>
        </p:txBody>
      </p:sp>
      <p:sp>
        <p:nvSpPr>
          <p:cNvPr id="8" name="Text 6"/>
          <p:cNvSpPr/>
          <p:nvPr/>
        </p:nvSpPr>
        <p:spPr>
          <a:xfrm>
            <a:off x="1533525" y="6962329"/>
            <a:ext cx="6255068" cy="390525"/>
          </a:xfrm>
          <a:prstGeom prst="rect">
            <a:avLst/>
          </a:prstGeom>
          <a:noFill/>
          <a:ln/>
        </p:spPr>
        <p:txBody>
          <a:bodyPr wrap="square" lIns="25400" tIns="25400" rIns="25400" bIns="25400" rtlCol="0" anchor="t">
            <a:normAutofit/>
          </a:bodyPr>
          <a:lstStyle/>
          <a:p>
            <a:pPr algn="l" indent="0" marL="0">
              <a:buNone/>
            </a:pPr>
            <a:r>
              <a:rPr lang="en-US" sz="2100" dirty="0">
                <a:solidFill>
                  <a:srgbClr val="6F6A5F"/>
                </a:solidFill>
                <a:latin typeface="Arial" pitchFamily="34" charset="0"/>
                <a:ea typeface="Arial" pitchFamily="34" charset="-122"/>
                <a:cs typeface="Arial" pitchFamily="34" charset="-120"/>
              </a:rPr>
              <a:t>C, H, N, O · ≤ 30 atoms</a:t>
            </a:r>
            <a:endParaRPr lang="en-US" sz="2100" dirty="0"/>
          </a:p>
        </p:txBody>
      </p:sp>
      <p:sp>
        <p:nvSpPr>
          <p:cNvPr id="9" name="Text 7"/>
          <p:cNvSpPr/>
          <p:nvPr/>
        </p:nvSpPr>
        <p:spPr>
          <a:xfrm>
            <a:off x="8239125" y="5705029"/>
            <a:ext cx="742950" cy="1047750"/>
          </a:xfrm>
          <a:prstGeom prst="rect">
            <a:avLst/>
          </a:prstGeom>
          <a:noFill/>
          <a:ln/>
        </p:spPr>
        <p:txBody>
          <a:bodyPr wrap="square" lIns="25400" tIns="25400" rIns="25400" bIns="25400" rtlCol="0" anchor="t">
            <a:normAutofit/>
          </a:bodyPr>
          <a:lstStyle/>
          <a:p>
            <a:pPr algn="l" indent="0" marL="0">
              <a:buNone/>
            </a:pPr>
            <a:r>
              <a:rPr lang="en-US" sz="5250" dirty="0">
                <a:solidFill>
                  <a:srgbClr val="2F7A6F"/>
                </a:solidFill>
                <a:latin typeface="Georgia" pitchFamily="34" charset="0"/>
                <a:ea typeface="Georgia" pitchFamily="34" charset="-122"/>
                <a:cs typeface="Georgia" pitchFamily="34" charset="-120"/>
              </a:rPr>
              <a:t>→</a:t>
            </a:r>
            <a:endParaRPr lang="en-US" sz="5250" dirty="0"/>
          </a:p>
        </p:txBody>
      </p:sp>
      <p:sp>
        <p:nvSpPr>
          <p:cNvPr id="10" name="Shape 8"/>
          <p:cNvSpPr/>
          <p:nvPr/>
        </p:nvSpPr>
        <p:spPr>
          <a:xfrm>
            <a:off x="9439275" y="4638229"/>
            <a:ext cx="6657975" cy="3143250"/>
          </a:xfrm>
          <a:prstGeom prst="roundRect">
            <a:avLst>
              <a:gd name="adj" fmla="val 2424"/>
            </a:avLst>
          </a:prstGeom>
          <a:solidFill>
            <a:srgbClr val="20262D"/>
          </a:solidFill>
          <a:ln w="9525">
            <a:solidFill>
              <a:srgbClr val="2F7A6F"/>
            </a:solidFill>
            <a:prstDash val="solid"/>
          </a:ln>
        </p:spPr>
      </p:sp>
      <p:sp>
        <p:nvSpPr>
          <p:cNvPr id="11" name="Text 9"/>
          <p:cNvSpPr/>
          <p:nvPr/>
        </p:nvSpPr>
        <p:spPr>
          <a:xfrm>
            <a:off x="9925050" y="5104954"/>
            <a:ext cx="6255068"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C08A3E"/>
                </a:solidFill>
                <a:latin typeface="Courier New" pitchFamily="34" charset="0"/>
                <a:ea typeface="Courier New" pitchFamily="34" charset="-122"/>
                <a:cs typeface="Courier New" pitchFamily="34" charset="-120"/>
              </a:rPr>
              <a:t>CURRENT — RGD1</a:t>
            </a:r>
            <a:endParaRPr lang="en-US" sz="1800" dirty="0"/>
          </a:p>
        </p:txBody>
      </p:sp>
      <p:sp>
        <p:nvSpPr>
          <p:cNvPr id="12" name="Text 10"/>
          <p:cNvSpPr/>
          <p:nvPr/>
        </p:nvSpPr>
        <p:spPr>
          <a:xfrm>
            <a:off x="9925050" y="5581204"/>
            <a:ext cx="6255068" cy="952500"/>
          </a:xfrm>
          <a:prstGeom prst="rect">
            <a:avLst/>
          </a:prstGeom>
          <a:noFill/>
          <a:ln/>
        </p:spPr>
        <p:txBody>
          <a:bodyPr wrap="square" lIns="25400" tIns="25400" rIns="25400" bIns="25400" rtlCol="0" anchor="t">
            <a:normAutofit/>
          </a:bodyPr>
          <a:lstStyle/>
          <a:p>
            <a:pPr algn="l" indent="0" marL="0">
              <a:lnSpc>
                <a:spcPct val="88073"/>
              </a:lnSpc>
              <a:buNone/>
            </a:pPr>
            <a:r>
              <a:rPr lang="en-US" sz="7200" dirty="0">
                <a:solidFill>
                  <a:srgbClr val="F2EDE1"/>
                </a:solidFill>
                <a:latin typeface="Georgia" pitchFamily="34" charset="0"/>
                <a:ea typeface="Georgia" pitchFamily="34" charset="-122"/>
                <a:cs typeface="Georgia" pitchFamily="34" charset="-120"/>
              </a:rPr>
              <a:t>40,000</a:t>
            </a:r>
            <a:endParaRPr lang="en-US" sz="7200" dirty="0"/>
          </a:p>
        </p:txBody>
      </p:sp>
      <p:sp>
        <p:nvSpPr>
          <p:cNvPr id="13" name="Text 11"/>
          <p:cNvSpPr/>
          <p:nvPr/>
        </p:nvSpPr>
        <p:spPr>
          <a:xfrm>
            <a:off x="9925050" y="6571804"/>
            <a:ext cx="6255068"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9A396"/>
                </a:solidFill>
                <a:latin typeface="Arial" pitchFamily="34" charset="0"/>
                <a:ea typeface="Arial" pitchFamily="34" charset="-122"/>
                <a:cs typeface="Arial" pitchFamily="34" charset="-120"/>
              </a:rPr>
              <a:t>reactions · Ea mean 74 kcal/mol</a:t>
            </a:r>
            <a:endParaRPr lang="en-US" sz="2100" dirty="0"/>
          </a:p>
        </p:txBody>
      </p:sp>
      <p:sp>
        <p:nvSpPr>
          <p:cNvPr id="14" name="Text 12"/>
          <p:cNvSpPr/>
          <p:nvPr/>
        </p:nvSpPr>
        <p:spPr>
          <a:xfrm>
            <a:off x="9925050" y="6962329"/>
            <a:ext cx="6255068"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9A396"/>
                </a:solidFill>
                <a:latin typeface="Arial" pitchFamily="34" charset="0"/>
                <a:ea typeface="Arial" pitchFamily="34" charset="-122"/>
                <a:cs typeface="Arial" pitchFamily="34" charset="-120"/>
              </a:rPr>
              <a:t>max barrier 179 kcal/mol · 97% risk-flagged</a:t>
            </a:r>
            <a:endParaRPr lang="en-US" sz="2100" dirty="0"/>
          </a:p>
        </p:txBody>
      </p:sp>
      <p:sp>
        <p:nvSpPr>
          <p:cNvPr id="15" name="Text 13"/>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16" name="Text 14"/>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05</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THE 40K-REACTION SPLIT</a:t>
            </a:r>
            <a:endParaRPr lang="en-US" sz="1800" dirty="0"/>
          </a:p>
        </p:txBody>
      </p:sp>
      <p:sp>
        <p:nvSpPr>
          <p:cNvPr id="3" name="Text 1"/>
          <p:cNvSpPr/>
          <p:nvPr/>
        </p:nvSpPr>
        <p:spPr>
          <a:xfrm>
            <a:off x="1047750" y="1428750"/>
            <a:ext cx="9339068"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Stratified, and proven free of leakage</a:t>
            </a:r>
            <a:endParaRPr lang="en-US" sz="5550" dirty="0"/>
          </a:p>
        </p:txBody>
      </p:sp>
      <p:sp>
        <p:nvSpPr>
          <p:cNvPr id="4" name="Shape 2"/>
          <p:cNvSpPr/>
          <p:nvPr/>
        </p:nvSpPr>
        <p:spPr>
          <a:xfrm>
            <a:off x="1047750" y="3504307"/>
            <a:ext cx="3961061" cy="1695450"/>
          </a:xfrm>
          <a:prstGeom prst="roundRect">
            <a:avLst>
              <a:gd name="adj" fmla="val 3371"/>
            </a:avLst>
          </a:prstGeom>
          <a:solidFill>
            <a:srgbClr val="FFFFFF"/>
          </a:solidFill>
          <a:ln w="9525">
            <a:solidFill>
              <a:srgbClr val="DDD6C7"/>
            </a:solidFill>
            <a:prstDash val="solid"/>
          </a:ln>
        </p:spPr>
      </p:sp>
      <p:sp>
        <p:nvSpPr>
          <p:cNvPr id="5" name="Text 3"/>
          <p:cNvSpPr/>
          <p:nvPr/>
        </p:nvSpPr>
        <p:spPr>
          <a:xfrm>
            <a:off x="1419225" y="3837682"/>
            <a:ext cx="3539922" cy="666750"/>
          </a:xfrm>
          <a:prstGeom prst="rect">
            <a:avLst/>
          </a:prstGeom>
          <a:noFill/>
          <a:ln/>
        </p:spPr>
        <p:txBody>
          <a:bodyPr wrap="square" lIns="25400" tIns="25400" rIns="25400" bIns="25400" rtlCol="0" anchor="t">
            <a:normAutofit/>
          </a:bodyPr>
          <a:lstStyle/>
          <a:p>
            <a:pPr algn="l" indent="0" marL="0">
              <a:lnSpc>
                <a:spcPct val="88000"/>
              </a:lnSpc>
              <a:buNone/>
            </a:pPr>
            <a:r>
              <a:rPr lang="en-US" sz="4950" dirty="0">
                <a:solidFill>
                  <a:srgbClr val="20262D"/>
                </a:solidFill>
                <a:latin typeface="Georgia" pitchFamily="34" charset="0"/>
                <a:ea typeface="Georgia" pitchFamily="34" charset="-122"/>
                <a:cs typeface="Georgia" pitchFamily="34" charset="-120"/>
              </a:rPr>
              <a:t>34,000</a:t>
            </a:r>
            <a:endParaRPr lang="en-US" sz="4950" dirty="0"/>
          </a:p>
        </p:txBody>
      </p:sp>
      <p:sp>
        <p:nvSpPr>
          <p:cNvPr id="6" name="Text 4"/>
          <p:cNvSpPr/>
          <p:nvPr/>
        </p:nvSpPr>
        <p:spPr>
          <a:xfrm>
            <a:off x="1419225" y="4561582"/>
            <a:ext cx="3539922"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2F7A6F"/>
                </a:solidFill>
                <a:latin typeface="Courier New" pitchFamily="34" charset="0"/>
                <a:ea typeface="Courier New" pitchFamily="34" charset="-122"/>
                <a:cs typeface="Courier New" pitchFamily="34" charset="-120"/>
              </a:rPr>
              <a:t>TRAIN</a:t>
            </a:r>
            <a:endParaRPr lang="en-US" sz="1800" dirty="0"/>
          </a:p>
        </p:txBody>
      </p:sp>
      <p:sp>
        <p:nvSpPr>
          <p:cNvPr id="7" name="Shape 5"/>
          <p:cNvSpPr/>
          <p:nvPr/>
        </p:nvSpPr>
        <p:spPr>
          <a:xfrm>
            <a:off x="5237411" y="3504307"/>
            <a:ext cx="3961209" cy="1695450"/>
          </a:xfrm>
          <a:prstGeom prst="roundRect">
            <a:avLst>
              <a:gd name="adj" fmla="val 3371"/>
            </a:avLst>
          </a:prstGeom>
          <a:solidFill>
            <a:srgbClr val="FFFFFF"/>
          </a:solidFill>
          <a:ln w="9525">
            <a:solidFill>
              <a:srgbClr val="DDD6C7"/>
            </a:solidFill>
            <a:prstDash val="solid"/>
          </a:ln>
        </p:spPr>
      </p:sp>
      <p:sp>
        <p:nvSpPr>
          <p:cNvPr id="8" name="Text 6"/>
          <p:cNvSpPr/>
          <p:nvPr/>
        </p:nvSpPr>
        <p:spPr>
          <a:xfrm>
            <a:off x="5608886" y="3837682"/>
            <a:ext cx="3540085" cy="666750"/>
          </a:xfrm>
          <a:prstGeom prst="rect">
            <a:avLst/>
          </a:prstGeom>
          <a:noFill/>
          <a:ln/>
        </p:spPr>
        <p:txBody>
          <a:bodyPr wrap="square" lIns="25400" tIns="25400" rIns="25400" bIns="25400" rtlCol="0" anchor="t">
            <a:normAutofit/>
          </a:bodyPr>
          <a:lstStyle/>
          <a:p>
            <a:pPr algn="l" indent="0" marL="0">
              <a:lnSpc>
                <a:spcPct val="88000"/>
              </a:lnSpc>
              <a:buNone/>
            </a:pPr>
            <a:r>
              <a:rPr lang="en-US" sz="4950" dirty="0">
                <a:solidFill>
                  <a:srgbClr val="20262D"/>
                </a:solidFill>
                <a:latin typeface="Georgia" pitchFamily="34" charset="0"/>
                <a:ea typeface="Georgia" pitchFamily="34" charset="-122"/>
                <a:cs typeface="Georgia" pitchFamily="34" charset="-120"/>
              </a:rPr>
              <a:t>6,000</a:t>
            </a:r>
            <a:endParaRPr lang="en-US" sz="4950" dirty="0"/>
          </a:p>
        </p:txBody>
      </p:sp>
      <p:sp>
        <p:nvSpPr>
          <p:cNvPr id="9" name="Text 7"/>
          <p:cNvSpPr/>
          <p:nvPr/>
        </p:nvSpPr>
        <p:spPr>
          <a:xfrm>
            <a:off x="5608886" y="4561582"/>
            <a:ext cx="3540085"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C08A3E"/>
                </a:solidFill>
                <a:latin typeface="Courier New" pitchFamily="34" charset="0"/>
                <a:ea typeface="Courier New" pitchFamily="34" charset="-122"/>
                <a:cs typeface="Courier New" pitchFamily="34" charset="-120"/>
              </a:rPr>
              <a:t>VALIDATION</a:t>
            </a:r>
            <a:endParaRPr lang="en-US" sz="1800" dirty="0"/>
          </a:p>
        </p:txBody>
      </p:sp>
      <p:sp>
        <p:nvSpPr>
          <p:cNvPr id="10" name="Shape 8"/>
          <p:cNvSpPr/>
          <p:nvPr/>
        </p:nvSpPr>
        <p:spPr>
          <a:xfrm>
            <a:off x="1047750" y="5428357"/>
            <a:ext cx="8150870" cy="1890713"/>
          </a:xfrm>
          <a:prstGeom prst="roundRect">
            <a:avLst>
              <a:gd name="adj" fmla="val 3023"/>
            </a:avLst>
          </a:prstGeom>
          <a:solidFill>
            <a:srgbClr val="20262D"/>
          </a:solidFill>
          <a:ln/>
        </p:spPr>
      </p:sp>
      <p:sp>
        <p:nvSpPr>
          <p:cNvPr id="11" name="Text 9"/>
          <p:cNvSpPr/>
          <p:nvPr/>
        </p:nvSpPr>
        <p:spPr>
          <a:xfrm>
            <a:off x="1428750" y="5752207"/>
            <a:ext cx="7610536" cy="1281113"/>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F2EDE1"/>
                </a:solidFill>
                <a:latin typeface="Arial" pitchFamily="34" charset="0"/>
                <a:ea typeface="Arial" pitchFamily="34" charset="-122"/>
                <a:cs typeface="Arial" pitchFamily="34" charset="-120"/>
              </a:rPr>
              <a:t>Stratified on four axes — barrier bin, atom count, bond-change complexity, and risk flag — so train and validation share the same distribution.</a:t>
            </a:r>
            <a:endParaRPr lang="en-US" sz="2250" dirty="0"/>
          </a:p>
        </p:txBody>
      </p:sp>
      <p:sp>
        <p:nvSpPr>
          <p:cNvPr id="12" name="Shape 10"/>
          <p:cNvSpPr/>
          <p:nvPr/>
        </p:nvSpPr>
        <p:spPr>
          <a:xfrm>
            <a:off x="9541520" y="3504307"/>
            <a:ext cx="7127230" cy="3814763"/>
          </a:xfrm>
          <a:prstGeom prst="roundRect">
            <a:avLst>
              <a:gd name="adj" fmla="val 1498"/>
            </a:avLst>
          </a:prstGeom>
          <a:solidFill>
            <a:srgbClr val="FFFFFF"/>
          </a:solidFill>
          <a:ln w="9525">
            <a:solidFill>
              <a:srgbClr val="DDD6C7"/>
            </a:solidFill>
            <a:prstDash val="solid"/>
          </a:ln>
        </p:spPr>
      </p:sp>
      <p:sp>
        <p:nvSpPr>
          <p:cNvPr id="13" name="Text 11"/>
          <p:cNvSpPr/>
          <p:nvPr/>
        </p:nvSpPr>
        <p:spPr>
          <a:xfrm>
            <a:off x="9970145" y="4244876"/>
            <a:ext cx="6896978"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F6A5F"/>
                </a:solidFill>
                <a:latin typeface="Courier New" pitchFamily="34" charset="0"/>
                <a:ea typeface="Courier New" pitchFamily="34" charset="-122"/>
                <a:cs typeface="Courier New" pitchFamily="34" charset="-120"/>
              </a:rPr>
              <a:t>INTEGRITY CHECKS</a:t>
            </a:r>
            <a:endParaRPr lang="en-US" sz="1800" dirty="0"/>
          </a:p>
        </p:txBody>
      </p:sp>
      <p:sp>
        <p:nvSpPr>
          <p:cNvPr id="14" name="Shape 12"/>
          <p:cNvSpPr/>
          <p:nvPr/>
        </p:nvSpPr>
        <p:spPr>
          <a:xfrm>
            <a:off x="9970145" y="5264051"/>
            <a:ext cx="6269980" cy="9525"/>
          </a:xfrm>
          <a:prstGeom prst="rect">
            <a:avLst/>
          </a:prstGeom>
          <a:solidFill>
            <a:srgbClr val="DDD6C7"/>
          </a:solidFill>
          <a:ln/>
        </p:spPr>
      </p:sp>
      <p:sp>
        <p:nvSpPr>
          <p:cNvPr id="15" name="Text 13"/>
          <p:cNvSpPr/>
          <p:nvPr/>
        </p:nvSpPr>
        <p:spPr>
          <a:xfrm>
            <a:off x="9970145" y="4759226"/>
            <a:ext cx="2359075" cy="409575"/>
          </a:xfrm>
          <a:prstGeom prst="rect">
            <a:avLst/>
          </a:prstGeom>
          <a:noFill/>
          <a:ln/>
        </p:spPr>
        <p:txBody>
          <a:bodyPr wrap="square" lIns="25400" tIns="25400" rIns="25400" bIns="25400" rtlCol="0" anchor="t">
            <a:normAutofit/>
          </a:bodyPr>
          <a:lstStyle/>
          <a:p>
            <a:pPr algn="l" indent="0" marL="0">
              <a:buNone/>
            </a:pPr>
            <a:r>
              <a:rPr lang="en-US" sz="2250" dirty="0">
                <a:solidFill>
                  <a:srgbClr val="20262D"/>
                </a:solidFill>
                <a:latin typeface="Arial" pitchFamily="34" charset="0"/>
                <a:ea typeface="Arial" pitchFamily="34" charset="-122"/>
                <a:cs typeface="Arial" pitchFamily="34" charset="-120"/>
              </a:rPr>
              <a:t>Duplicate rxn ids</a:t>
            </a:r>
            <a:endParaRPr lang="en-US" sz="2250" dirty="0"/>
          </a:p>
        </p:txBody>
      </p:sp>
      <p:sp>
        <p:nvSpPr>
          <p:cNvPr id="16" name="Text 14"/>
          <p:cNvSpPr/>
          <p:nvPr/>
        </p:nvSpPr>
        <p:spPr>
          <a:xfrm>
            <a:off x="16068675" y="4759226"/>
            <a:ext cx="247650" cy="409575"/>
          </a:xfrm>
          <a:prstGeom prst="rect">
            <a:avLst/>
          </a:prstGeom>
          <a:noFill/>
          <a:ln/>
        </p:spPr>
        <p:txBody>
          <a:bodyPr wrap="square" lIns="25400" tIns="25400" rIns="25400" bIns="25400" rtlCol="0" anchor="t">
            <a:normAutofit/>
          </a:bodyPr>
          <a:lstStyle/>
          <a:p>
            <a:pPr algn="l" indent="0" marL="0">
              <a:buNone/>
            </a:pPr>
            <a:r>
              <a:rPr lang="en-US" sz="2250" dirty="0">
                <a:solidFill>
                  <a:srgbClr val="2F7A6F"/>
                </a:solidFill>
                <a:latin typeface="Courier New" pitchFamily="34" charset="0"/>
                <a:ea typeface="Courier New" pitchFamily="34" charset="-122"/>
                <a:cs typeface="Courier New" pitchFamily="34" charset="-120"/>
              </a:rPr>
              <a:t>0</a:t>
            </a:r>
            <a:endParaRPr lang="en-US" sz="2250" dirty="0"/>
          </a:p>
        </p:txBody>
      </p:sp>
      <p:sp>
        <p:nvSpPr>
          <p:cNvPr id="17" name="Shape 15"/>
          <p:cNvSpPr/>
          <p:nvPr/>
        </p:nvSpPr>
        <p:spPr>
          <a:xfrm>
            <a:off x="9970145" y="5987951"/>
            <a:ext cx="6269980" cy="9525"/>
          </a:xfrm>
          <a:prstGeom prst="rect">
            <a:avLst/>
          </a:prstGeom>
          <a:solidFill>
            <a:srgbClr val="DDD6C7"/>
          </a:solidFill>
          <a:ln/>
        </p:spPr>
      </p:sp>
      <p:sp>
        <p:nvSpPr>
          <p:cNvPr id="18" name="Text 16"/>
          <p:cNvSpPr/>
          <p:nvPr/>
        </p:nvSpPr>
        <p:spPr>
          <a:xfrm>
            <a:off x="9970145" y="5483126"/>
            <a:ext cx="2025595" cy="409575"/>
          </a:xfrm>
          <a:prstGeom prst="rect">
            <a:avLst/>
          </a:prstGeom>
          <a:noFill/>
          <a:ln/>
        </p:spPr>
        <p:txBody>
          <a:bodyPr wrap="square" lIns="25400" tIns="25400" rIns="25400" bIns="25400" rtlCol="0" anchor="t">
            <a:normAutofit/>
          </a:bodyPr>
          <a:lstStyle/>
          <a:p>
            <a:pPr algn="l" indent="0" marL="0">
              <a:buNone/>
            </a:pPr>
            <a:r>
              <a:rPr lang="en-US" sz="2250" dirty="0">
                <a:solidFill>
                  <a:srgbClr val="20262D"/>
                </a:solidFill>
                <a:latin typeface="Arial" pitchFamily="34" charset="0"/>
                <a:ea typeface="Arial" pitchFamily="34" charset="-122"/>
                <a:cs typeface="Arial" pitchFamily="34" charset="-120"/>
              </a:rPr>
              <a:t>Leaked rxn ids</a:t>
            </a:r>
            <a:endParaRPr lang="en-US" sz="2250" dirty="0"/>
          </a:p>
        </p:txBody>
      </p:sp>
      <p:sp>
        <p:nvSpPr>
          <p:cNvPr id="19" name="Text 17"/>
          <p:cNvSpPr/>
          <p:nvPr/>
        </p:nvSpPr>
        <p:spPr>
          <a:xfrm>
            <a:off x="16068675" y="5483126"/>
            <a:ext cx="247650" cy="409575"/>
          </a:xfrm>
          <a:prstGeom prst="rect">
            <a:avLst/>
          </a:prstGeom>
          <a:noFill/>
          <a:ln/>
        </p:spPr>
        <p:txBody>
          <a:bodyPr wrap="square" lIns="25400" tIns="25400" rIns="25400" bIns="25400" rtlCol="0" anchor="t">
            <a:normAutofit/>
          </a:bodyPr>
          <a:lstStyle/>
          <a:p>
            <a:pPr algn="l" indent="0" marL="0">
              <a:buNone/>
            </a:pPr>
            <a:r>
              <a:rPr lang="en-US" sz="2250" dirty="0">
                <a:solidFill>
                  <a:srgbClr val="2F7A6F"/>
                </a:solidFill>
                <a:latin typeface="Courier New" pitchFamily="34" charset="0"/>
                <a:ea typeface="Courier New" pitchFamily="34" charset="-122"/>
                <a:cs typeface="Courier New" pitchFamily="34" charset="-120"/>
              </a:rPr>
              <a:t>0</a:t>
            </a:r>
            <a:endParaRPr lang="en-US" sz="2250" dirty="0"/>
          </a:p>
        </p:txBody>
      </p:sp>
      <p:sp>
        <p:nvSpPr>
          <p:cNvPr id="20" name="Text 18"/>
          <p:cNvSpPr/>
          <p:nvPr/>
        </p:nvSpPr>
        <p:spPr>
          <a:xfrm>
            <a:off x="9970145" y="6207026"/>
            <a:ext cx="1269057" cy="409575"/>
          </a:xfrm>
          <a:prstGeom prst="rect">
            <a:avLst/>
          </a:prstGeom>
          <a:noFill/>
          <a:ln/>
        </p:spPr>
        <p:txBody>
          <a:bodyPr wrap="square" lIns="25400" tIns="25400" rIns="25400" bIns="25400" rtlCol="0" anchor="t">
            <a:normAutofit/>
          </a:bodyPr>
          <a:lstStyle/>
          <a:p>
            <a:pPr algn="l" indent="0" marL="0">
              <a:buNone/>
            </a:pPr>
            <a:r>
              <a:rPr lang="en-US" sz="2250" dirty="0">
                <a:solidFill>
                  <a:srgbClr val="20262D"/>
                </a:solidFill>
                <a:latin typeface="Arial" pitchFamily="34" charset="0"/>
                <a:ea typeface="Arial" pitchFamily="34" charset="-122"/>
                <a:cs typeface="Arial" pitchFamily="34" charset="-120"/>
              </a:rPr>
              <a:t>Coverage</a:t>
            </a:r>
            <a:endParaRPr lang="en-US" sz="2250" dirty="0"/>
          </a:p>
        </p:txBody>
      </p:sp>
      <p:sp>
        <p:nvSpPr>
          <p:cNvPr id="21" name="Text 19"/>
          <p:cNvSpPr/>
          <p:nvPr/>
        </p:nvSpPr>
        <p:spPr>
          <a:xfrm>
            <a:off x="15554325" y="6207026"/>
            <a:ext cx="762000" cy="409575"/>
          </a:xfrm>
          <a:prstGeom prst="rect">
            <a:avLst/>
          </a:prstGeom>
          <a:noFill/>
          <a:ln/>
        </p:spPr>
        <p:txBody>
          <a:bodyPr wrap="square" lIns="25400" tIns="25400" rIns="25400" bIns="25400" rtlCol="0" anchor="t">
            <a:normAutofit/>
          </a:bodyPr>
          <a:lstStyle/>
          <a:p>
            <a:pPr algn="l" indent="0" marL="0">
              <a:buNone/>
            </a:pPr>
            <a:r>
              <a:rPr lang="en-US" sz="2250" dirty="0">
                <a:solidFill>
                  <a:srgbClr val="2F7A6F"/>
                </a:solidFill>
                <a:latin typeface="Courier New" pitchFamily="34" charset="0"/>
                <a:ea typeface="Courier New" pitchFamily="34" charset="-122"/>
                <a:cs typeface="Courier New" pitchFamily="34" charset="-120"/>
              </a:rPr>
              <a:t>100%</a:t>
            </a:r>
            <a:endParaRPr lang="en-US" sz="2250" dirty="0"/>
          </a:p>
        </p:txBody>
      </p:sp>
      <p:sp>
        <p:nvSpPr>
          <p:cNvPr id="22" name="Text 20"/>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23" name="Text 21"/>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06</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REPRESENTATION</a:t>
            </a:r>
            <a:endParaRPr lang="en-US" sz="1800" dirty="0"/>
          </a:p>
        </p:txBody>
      </p:sp>
      <p:sp>
        <p:nvSpPr>
          <p:cNvPr id="3" name="Text 1"/>
          <p:cNvSpPr/>
          <p:nvPr/>
        </p:nvSpPr>
        <p:spPr>
          <a:xfrm>
            <a:off x="1047750" y="1428750"/>
            <a:ext cx="8560799"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The model reasons over distances, not coordinates</a:t>
            </a:r>
            <a:endParaRPr lang="en-US" sz="5550" dirty="0"/>
          </a:p>
        </p:txBody>
      </p:sp>
      <p:sp>
        <p:nvSpPr>
          <p:cNvPr id="4" name="Text 2"/>
          <p:cNvSpPr/>
          <p:nvPr/>
        </p:nvSpPr>
        <p:spPr>
          <a:xfrm>
            <a:off x="1047750" y="3428107"/>
            <a:ext cx="7557650" cy="1981200"/>
          </a:xfrm>
          <a:prstGeom prst="rect">
            <a:avLst/>
          </a:prstGeom>
          <a:noFill/>
          <a:ln/>
        </p:spPr>
        <p:txBody>
          <a:bodyPr wrap="square" lIns="25400" tIns="25400" rIns="25400" bIns="25400" rtlCol="0" anchor="t">
            <a:normAutofit/>
          </a:bodyPr>
          <a:lstStyle/>
          <a:p>
            <a:pPr algn="l" indent="0" marL="0">
              <a:lnSpc>
                <a:spcPct val="130769"/>
              </a:lnSpc>
              <a:buNone/>
            </a:pPr>
            <a:r>
              <a:rPr lang="en-US" sz="2550" dirty="0">
                <a:solidFill>
                  <a:srgbClr val="20262D"/>
                </a:solidFill>
                <a:latin typeface="Arial" pitchFamily="34" charset="0"/>
                <a:ea typeface="Arial" pitchFamily="34" charset="-122"/>
                <a:cs typeface="Arial" pitchFamily="34" charset="-120"/>
              </a:rPr>
              <a:t>Each structure becomes a pairwise distance matrix. Distances are invariant to rotation and translation, so no arbitrary alignment is ever required.</a:t>
            </a:r>
            <a:endParaRPr lang="en-US" sz="2550" dirty="0"/>
          </a:p>
        </p:txBody>
      </p:sp>
      <p:sp>
        <p:nvSpPr>
          <p:cNvPr id="5" name="Shape 3"/>
          <p:cNvSpPr/>
          <p:nvPr/>
        </p:nvSpPr>
        <p:spPr>
          <a:xfrm>
            <a:off x="1047750" y="5656957"/>
            <a:ext cx="7337524" cy="1666875"/>
          </a:xfrm>
          <a:prstGeom prst="roundRect">
            <a:avLst>
              <a:gd name="adj" fmla="val 3429"/>
            </a:avLst>
          </a:prstGeom>
          <a:solidFill>
            <a:srgbClr val="FFFFFF"/>
          </a:solidFill>
          <a:ln w="9525">
            <a:solidFill>
              <a:srgbClr val="DDD6C7"/>
            </a:solidFill>
            <a:prstDash val="solid"/>
          </a:ln>
        </p:spPr>
      </p:sp>
      <p:sp>
        <p:nvSpPr>
          <p:cNvPr id="6" name="Text 4"/>
          <p:cNvSpPr/>
          <p:nvPr/>
        </p:nvSpPr>
        <p:spPr>
          <a:xfrm>
            <a:off x="1400175" y="5952232"/>
            <a:ext cx="6831654" cy="576262"/>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20262D"/>
                </a:solidFill>
                <a:latin typeface="Courier New" pitchFamily="34" charset="0"/>
                <a:ea typeface="Courier New" pitchFamily="34" charset="-122"/>
                <a:cs typeface="Courier New" pitchFamily="34" charset="-120"/>
              </a:rPr>
              <a:t>D</a:t>
            </a:r>
            <a:pPr algn="l" indent="0" marL="0">
              <a:lnSpc>
                <a:spcPct val="150000"/>
              </a:lnSpc>
              <a:buNone/>
            </a:pPr>
            <a:r>
              <a:rPr lang="en-US" sz="1875" baseline="-40000" dirty="0">
                <a:solidFill>
                  <a:srgbClr val="20262D"/>
                </a:solidFill>
                <a:latin typeface="Courier New" pitchFamily="34" charset="0"/>
                <a:ea typeface="Courier New" pitchFamily="34" charset="-122"/>
                <a:cs typeface="Courier New" pitchFamily="34" charset="-120"/>
              </a:rPr>
              <a:t>ij</a:t>
            </a:r>
            <a:pPr algn="l" indent="0" marL="0">
              <a:lnSpc>
                <a:spcPct val="150000"/>
              </a:lnSpc>
              <a:buNone/>
            </a:pPr>
            <a:r>
              <a:rPr lang="en-US" sz="2250" dirty="0">
                <a:solidFill>
                  <a:srgbClr val="20262D"/>
                </a:solidFill>
                <a:latin typeface="Courier New" pitchFamily="34" charset="0"/>
                <a:ea typeface="Courier New" pitchFamily="34" charset="-122"/>
                <a:cs typeface="Courier New" pitchFamily="34" charset="-120"/>
              </a:rPr>
              <a:t>(X) = ‖X</a:t>
            </a:r>
            <a:pPr algn="l" indent="0" marL="0">
              <a:lnSpc>
                <a:spcPct val="150000"/>
              </a:lnSpc>
              <a:buNone/>
            </a:pPr>
            <a:r>
              <a:rPr lang="en-US" sz="1875" baseline="-40000" dirty="0">
                <a:solidFill>
                  <a:srgbClr val="20262D"/>
                </a:solidFill>
                <a:latin typeface="Courier New" pitchFamily="34" charset="0"/>
                <a:ea typeface="Courier New" pitchFamily="34" charset="-122"/>
                <a:cs typeface="Courier New" pitchFamily="34" charset="-120"/>
              </a:rPr>
              <a:t>i </a:t>
            </a:r>
            <a:pPr algn="l" indent="0" marL="0">
              <a:lnSpc>
                <a:spcPct val="150000"/>
              </a:lnSpc>
              <a:buNone/>
            </a:pPr>
            <a:r>
              <a:rPr lang="en-US" sz="2250" dirty="0">
                <a:solidFill>
                  <a:srgbClr val="20262D"/>
                </a:solidFill>
                <a:latin typeface="Courier New" pitchFamily="34" charset="0"/>
                <a:ea typeface="Courier New" pitchFamily="34" charset="-122"/>
                <a:cs typeface="Courier New" pitchFamily="34" charset="-120"/>
              </a:rPr>
              <a:t>− X</a:t>
            </a:r>
            <a:pPr algn="l" indent="0" marL="0">
              <a:lnSpc>
                <a:spcPct val="150000"/>
              </a:lnSpc>
              <a:buNone/>
            </a:pPr>
            <a:r>
              <a:rPr lang="en-US" sz="1875" baseline="-40000" dirty="0">
                <a:solidFill>
                  <a:srgbClr val="20262D"/>
                </a:solidFill>
                <a:latin typeface="Courier New" pitchFamily="34" charset="0"/>
                <a:ea typeface="Courier New" pitchFamily="34" charset="-122"/>
                <a:cs typeface="Courier New" pitchFamily="34" charset="-120"/>
              </a:rPr>
              <a:t>j</a:t>
            </a:r>
            <a:pPr algn="l" indent="0" marL="0">
              <a:lnSpc>
                <a:spcPct val="150000"/>
              </a:lnSpc>
              <a:buNone/>
            </a:pPr>
            <a:r>
              <a:rPr lang="en-US" sz="2250" dirty="0">
                <a:solidFill>
                  <a:srgbClr val="20262D"/>
                </a:solidFill>
                <a:latin typeface="Courier New" pitchFamily="34" charset="0"/>
                <a:ea typeface="Courier New" pitchFamily="34" charset="-122"/>
                <a:cs typeface="Courier New" pitchFamily="34" charset="-120"/>
              </a:rPr>
              <a:t>‖</a:t>
            </a:r>
            <a:endParaRPr lang="en-US" sz="2250" dirty="0"/>
          </a:p>
        </p:txBody>
      </p:sp>
      <p:sp>
        <p:nvSpPr>
          <p:cNvPr id="7" name="Text 5"/>
          <p:cNvSpPr/>
          <p:nvPr/>
        </p:nvSpPr>
        <p:spPr>
          <a:xfrm>
            <a:off x="1400175" y="6490395"/>
            <a:ext cx="6831654" cy="576262"/>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2F7A6F"/>
                </a:solidFill>
                <a:latin typeface="Courier New" pitchFamily="34" charset="0"/>
                <a:ea typeface="Courier New" pitchFamily="34" charset="-122"/>
                <a:cs typeface="Courier New" pitchFamily="34" charset="-120"/>
              </a:rPr>
              <a:t>D</a:t>
            </a:r>
            <a:pPr algn="l" indent="0" marL="0">
              <a:lnSpc>
                <a:spcPct val="150000"/>
              </a:lnSpc>
              <a:buNone/>
            </a:pPr>
            <a:r>
              <a:rPr lang="en-US" sz="1875" baseline="-40000" dirty="0">
                <a:solidFill>
                  <a:srgbClr val="2F7A6F"/>
                </a:solidFill>
                <a:latin typeface="Courier New" pitchFamily="34" charset="0"/>
                <a:ea typeface="Courier New" pitchFamily="34" charset="-122"/>
                <a:cs typeface="Courier New" pitchFamily="34" charset="-120"/>
              </a:rPr>
              <a:t>I </a:t>
            </a:r>
            <a:pPr algn="l" indent="0" marL="0">
              <a:lnSpc>
                <a:spcPct val="150000"/>
              </a:lnSpc>
              <a:buNone/>
            </a:pPr>
            <a:r>
              <a:rPr lang="en-US" sz="2250" dirty="0">
                <a:solidFill>
                  <a:srgbClr val="2F7A6F"/>
                </a:solidFill>
                <a:latin typeface="Courier New" pitchFamily="34" charset="0"/>
                <a:ea typeface="Courier New" pitchFamily="34" charset="-122"/>
                <a:cs typeface="Courier New" pitchFamily="34" charset="-120"/>
              </a:rPr>
              <a:t>= (D</a:t>
            </a:r>
            <a:pPr algn="l" indent="0" marL="0">
              <a:lnSpc>
                <a:spcPct val="150000"/>
              </a:lnSpc>
              <a:buNone/>
            </a:pPr>
            <a:r>
              <a:rPr lang="en-US" sz="1875" baseline="-40000" dirty="0">
                <a:solidFill>
                  <a:srgbClr val="2F7A6F"/>
                </a:solidFill>
                <a:latin typeface="Courier New" pitchFamily="34" charset="0"/>
                <a:ea typeface="Courier New" pitchFamily="34" charset="-122"/>
                <a:cs typeface="Courier New" pitchFamily="34" charset="-120"/>
              </a:rPr>
              <a:t>R </a:t>
            </a:r>
            <a:pPr algn="l" indent="0" marL="0">
              <a:lnSpc>
                <a:spcPct val="150000"/>
              </a:lnSpc>
              <a:buNone/>
            </a:pPr>
            <a:r>
              <a:rPr lang="en-US" sz="2250" dirty="0">
                <a:solidFill>
                  <a:srgbClr val="2F7A6F"/>
                </a:solidFill>
                <a:latin typeface="Courier New" pitchFamily="34" charset="0"/>
                <a:ea typeface="Courier New" pitchFamily="34" charset="-122"/>
                <a:cs typeface="Courier New" pitchFamily="34" charset="-120"/>
              </a:rPr>
              <a:t>+ D</a:t>
            </a:r>
            <a:pPr algn="l" indent="0" marL="0">
              <a:lnSpc>
                <a:spcPct val="150000"/>
              </a:lnSpc>
              <a:buNone/>
            </a:pPr>
            <a:r>
              <a:rPr lang="en-US" sz="1875" baseline="-40000" dirty="0">
                <a:solidFill>
                  <a:srgbClr val="2F7A6F"/>
                </a:solidFill>
                <a:latin typeface="Courier New" pitchFamily="34" charset="0"/>
                <a:ea typeface="Courier New" pitchFamily="34" charset="-122"/>
                <a:cs typeface="Courier New" pitchFamily="34" charset="-120"/>
              </a:rPr>
              <a:t>P</a:t>
            </a:r>
            <a:pPr algn="l" indent="0" marL="0">
              <a:lnSpc>
                <a:spcPct val="150000"/>
              </a:lnSpc>
              <a:buNone/>
            </a:pPr>
            <a:r>
              <a:rPr lang="en-US" sz="2250" dirty="0">
                <a:solidFill>
                  <a:srgbClr val="2F7A6F"/>
                </a:solidFill>
                <a:latin typeface="Courier New" pitchFamily="34" charset="0"/>
                <a:ea typeface="Courier New" pitchFamily="34" charset="-122"/>
                <a:cs typeface="Courier New" pitchFamily="34" charset="-120"/>
              </a:rPr>
              <a:t>) / 2</a:t>
            </a:r>
            <a:endParaRPr lang="en-US" sz="2250" dirty="0"/>
          </a:p>
        </p:txBody>
      </p:sp>
      <p:sp>
        <p:nvSpPr>
          <p:cNvPr id="8" name="Text 6"/>
          <p:cNvSpPr/>
          <p:nvPr/>
        </p:nvSpPr>
        <p:spPr>
          <a:xfrm>
            <a:off x="1047750" y="7571482"/>
            <a:ext cx="7557650" cy="825698"/>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6F6A5F"/>
                </a:solidFill>
                <a:latin typeface="Arial" pitchFamily="34" charset="0"/>
                <a:ea typeface="Arial" pitchFamily="34" charset="-122"/>
                <a:cs typeface="Arial" pitchFamily="34" charset="-120"/>
              </a:rPr>
              <a:t>The reactant–product midpoint matrix D</a:t>
            </a:r>
            <a:pPr algn="l" indent="0" marL="0">
              <a:lnSpc>
                <a:spcPct val="125806"/>
              </a:lnSpc>
              <a:buNone/>
            </a:pPr>
            <a:r>
              <a:rPr lang="en-US" sz="1625" baseline="-40000" dirty="0">
                <a:solidFill>
                  <a:srgbClr val="6F6A5F"/>
                </a:solidFill>
                <a:latin typeface="Arial" pitchFamily="34" charset="0"/>
                <a:ea typeface="Arial" pitchFamily="34" charset="-122"/>
                <a:cs typeface="Arial" pitchFamily="34" charset="-120"/>
              </a:rPr>
              <a:t>I </a:t>
            </a:r>
            <a:pPr algn="l" indent="0" marL="0">
              <a:lnSpc>
                <a:spcPct val="125806"/>
              </a:lnSpc>
              <a:buNone/>
            </a:pPr>
            <a:r>
              <a:rPr lang="en-US" sz="1950" dirty="0">
                <a:solidFill>
                  <a:srgbClr val="6F6A5F"/>
                </a:solidFill>
                <a:latin typeface="Arial" pitchFamily="34" charset="0"/>
                <a:ea typeface="Arial" pitchFamily="34" charset="-122"/>
                <a:cs typeface="Arial" pitchFamily="34" charset="-120"/>
              </a:rPr>
              <a:t>is the model's structural prior for the transition state.</a:t>
            </a:r>
            <a:endParaRPr lang="en-US" sz="1950" dirty="0"/>
          </a:p>
        </p:txBody>
      </p:sp>
      <p:sp>
        <p:nvSpPr>
          <p:cNvPr id="9" name="Shape 7"/>
          <p:cNvSpPr/>
          <p:nvPr/>
        </p:nvSpPr>
        <p:spPr>
          <a:xfrm>
            <a:off x="8956774" y="3428107"/>
            <a:ext cx="7902476" cy="3835598"/>
          </a:xfrm>
          <a:prstGeom prst="roundRect">
            <a:avLst>
              <a:gd name="adj" fmla="val 1987"/>
            </a:avLst>
          </a:prstGeom>
          <a:solidFill>
            <a:srgbClr val="20262D"/>
          </a:solidFill>
          <a:ln/>
        </p:spPr>
      </p:sp>
      <p:sp>
        <p:nvSpPr>
          <p:cNvPr id="10" name="Text 8"/>
          <p:cNvSpPr/>
          <p:nvPr/>
        </p:nvSpPr>
        <p:spPr>
          <a:xfrm>
            <a:off x="9413974" y="3847207"/>
            <a:ext cx="7686883"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C08A3E"/>
                </a:solidFill>
                <a:latin typeface="Courier New" pitchFamily="34" charset="0"/>
                <a:ea typeface="Courier New" pitchFamily="34" charset="-122"/>
                <a:cs typeface="Courier New" pitchFamily="34" charset="-120"/>
              </a:rPr>
              <a:t>WHY IT MATTERS</a:t>
            </a:r>
            <a:endParaRPr lang="en-US" sz="1800" dirty="0"/>
          </a:p>
        </p:txBody>
      </p:sp>
      <p:sp>
        <p:nvSpPr>
          <p:cNvPr id="11" name="Text 9"/>
          <p:cNvSpPr/>
          <p:nvPr/>
        </p:nvSpPr>
        <p:spPr>
          <a:xfrm>
            <a:off x="9468267" y="4361557"/>
            <a:ext cx="7009983" cy="2521148"/>
          </a:xfrm>
          <a:prstGeom prst="rect">
            <a:avLst/>
          </a:prstGeom>
          <a:noFill/>
          <a:ln/>
        </p:spPr>
        <p:txBody>
          <a:bodyPr wrap="square" lIns="25400" tIns="25400" rIns="25400" bIns="25400" rtlCol="0" anchor="t">
            <a:normAutofit/>
          </a:bodyPr>
          <a:lstStyle/>
          <a:p>
            <a:pPr algn="l" marL="193358" indent="-193358">
              <a:lnSpc>
                <a:spcPct val="136212"/>
              </a:lnSpc>
              <a:buSzPct val="100000"/>
              <a:buChar char="•"/>
              <a:tabLst>
                <a:tab pos="193358" algn="l"/>
              </a:tabLst>
            </a:pPr>
            <a:r>
              <a:rPr lang="en-US" sz="2175" dirty="0">
                <a:solidFill>
                  <a:srgbClr val="F2EDE1"/>
                </a:solidFill>
                <a:latin typeface="Arial" pitchFamily="34" charset="0"/>
                <a:ea typeface="Arial" pitchFamily="34" charset="-122"/>
                <a:cs typeface="Arial" pitchFamily="34" charset="-120"/>
              </a:rPr>
              <a:t>SE(3) invariance is built in, not learned from data augmentation</a:t>
            </a:r>
            <a:endParaRPr lang="en-US" sz="2175" dirty="0"/>
          </a:p>
          <a:p>
            <a:pPr algn="l" marL="193358" indent="-193358">
              <a:lnSpc>
                <a:spcPct val="136212"/>
              </a:lnSpc>
              <a:buSzPct val="100000"/>
              <a:buChar char="•"/>
              <a:tabLst>
                <a:tab pos="193358" algn="l"/>
              </a:tabLst>
            </a:pPr>
            <a:r>
              <a:rPr lang="en-US" sz="2175" dirty="0">
                <a:solidFill>
                  <a:srgbClr val="F2EDE1"/>
                </a:solidFill>
                <a:latin typeface="Arial" pitchFamily="34" charset="0"/>
                <a:ea typeface="Arial" pitchFamily="34" charset="-122"/>
                <a:cs typeface="Arial" pitchFamily="34" charset="-120"/>
              </a:rPr>
              <a:t>Equivariant coordinate updates: rotate the input, rotate the output</a:t>
            </a:r>
            <a:endParaRPr lang="en-US" sz="2175" dirty="0"/>
          </a:p>
          <a:p>
            <a:pPr algn="l" marL="193358" indent="-193358">
              <a:lnSpc>
                <a:spcPct val="136212"/>
              </a:lnSpc>
              <a:buSzPct val="100000"/>
              <a:buChar char="•"/>
              <a:tabLst>
                <a:tab pos="193358" algn="l"/>
              </a:tabLst>
            </a:pPr>
            <a:r>
              <a:rPr lang="en-US" sz="2175" dirty="0">
                <a:solidFill>
                  <a:srgbClr val="F2EDE1"/>
                </a:solidFill>
                <a:latin typeface="Arial" pitchFamily="34" charset="0"/>
                <a:ea typeface="Arial" pitchFamily="34" charset="-122"/>
                <a:cs typeface="Arial" pitchFamily="34" charset="-120"/>
              </a:rPr>
              <a:t>No Z-matrix or reference-frame bookkeeping</a:t>
            </a:r>
            <a:endParaRPr lang="en-US" sz="2175" dirty="0"/>
          </a:p>
        </p:txBody>
      </p:sp>
      <p:sp>
        <p:nvSpPr>
          <p:cNvPr id="12" name="Text 10"/>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13" name="Text 11"/>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07</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MODEL ARCHITECTURE</a:t>
            </a:r>
            <a:endParaRPr lang="en-US" sz="1800" dirty="0"/>
          </a:p>
        </p:txBody>
      </p:sp>
      <p:sp>
        <p:nvSpPr>
          <p:cNvPr id="3" name="Text 1"/>
          <p:cNvSpPr/>
          <p:nvPr/>
        </p:nvSpPr>
        <p:spPr>
          <a:xfrm>
            <a:off x="1047750" y="1428750"/>
            <a:ext cx="10117336"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A hybrid sequence-to-geometry network</a:t>
            </a:r>
            <a:endParaRPr lang="en-US" sz="5550" dirty="0"/>
          </a:p>
        </p:txBody>
      </p:sp>
      <p:pic>
        <p:nvPicPr>
          <p:cNvPr id="4" name="Image 0" descr="preencoded.png">    </p:cNvPr>
          <p:cNvPicPr>
            <a:picLocks noChangeAspect="1"/>
          </p:cNvPicPr>
          <p:nvPr/>
        </p:nvPicPr>
        <p:blipFill>
          <a:blip r:embed="rId1"/>
          <a:stretch>
            <a:fillRect/>
          </a:stretch>
        </p:blipFill>
        <p:spPr>
          <a:xfrm>
            <a:off x="1047750" y="5056882"/>
            <a:ext cx="16192500" cy="1567755"/>
          </a:xfrm>
          <a:prstGeom prst="rect">
            <a:avLst/>
          </a:prstGeom>
        </p:spPr>
      </p:pic>
      <p:sp>
        <p:nvSpPr>
          <p:cNvPr id="5" name="Shape 2"/>
          <p:cNvSpPr/>
          <p:nvPr/>
        </p:nvSpPr>
        <p:spPr>
          <a:xfrm>
            <a:off x="1047750" y="9129564"/>
            <a:ext cx="28575" cy="395436"/>
          </a:xfrm>
          <a:prstGeom prst="rect">
            <a:avLst/>
          </a:prstGeom>
          <a:solidFill>
            <a:srgbClr val="2F7A6F"/>
          </a:solidFill>
          <a:ln/>
        </p:spPr>
      </p:sp>
      <p:sp>
        <p:nvSpPr>
          <p:cNvPr id="6" name="Text 3"/>
          <p:cNvSpPr/>
          <p:nvPr/>
        </p:nvSpPr>
        <p:spPr>
          <a:xfrm>
            <a:off x="1285875" y="9129564"/>
            <a:ext cx="8542020" cy="433536"/>
          </a:xfrm>
          <a:prstGeom prst="rect">
            <a:avLst/>
          </a:prstGeom>
          <a:noFill/>
          <a:ln/>
        </p:spPr>
        <p:txBody>
          <a:bodyPr wrap="square" lIns="25400" tIns="25400" rIns="25400" bIns="25400" rtlCol="0" anchor="t">
            <a:normAutofit/>
          </a:bodyPr>
          <a:lstStyle/>
          <a:p>
            <a:pPr algn="l" indent="0" marL="0">
              <a:lnSpc>
                <a:spcPct val="117419"/>
              </a:lnSpc>
              <a:buNone/>
            </a:pPr>
            <a:r>
              <a:rPr lang="en-US" sz="1950" b="1" dirty="0">
                <a:solidFill>
                  <a:srgbClr val="20262D"/>
                </a:solidFill>
                <a:latin typeface="Arial" pitchFamily="34" charset="0"/>
                <a:ea typeface="Arial" pitchFamily="34" charset="-122"/>
                <a:cs typeface="Arial" pitchFamily="34" charset="-120"/>
              </a:rPr>
              <a:t>Output A </a:t>
            </a:r>
            <a:pPr algn="l" indent="0" marL="0">
              <a:lnSpc>
                <a:spcPct val="117419"/>
              </a:lnSpc>
              <a:buNone/>
            </a:pPr>
            <a:r>
              <a:rPr lang="en-US" sz="1950" dirty="0">
                <a:solidFill>
                  <a:srgbClr val="20262D"/>
                </a:solidFill>
                <a:latin typeface="Arial" pitchFamily="34" charset="0"/>
                <a:ea typeface="Arial" pitchFamily="34" charset="-122"/>
                <a:cs typeface="Arial" pitchFamily="34" charset="-120"/>
              </a:rPr>
              <a:t>— refined TS distance matrix D̂</a:t>
            </a:r>
            <a:pPr algn="l" indent="0" marL="0">
              <a:lnSpc>
                <a:spcPct val="117419"/>
              </a:lnSpc>
              <a:buNone/>
            </a:pPr>
            <a:r>
              <a:rPr lang="en-US" sz="1625" baseline="-40000" dirty="0">
                <a:solidFill>
                  <a:srgbClr val="20262D"/>
                </a:solidFill>
                <a:latin typeface="Arial" pitchFamily="34" charset="0"/>
                <a:ea typeface="Arial" pitchFamily="34" charset="-122"/>
                <a:cs typeface="Arial" pitchFamily="34" charset="-120"/>
              </a:rPr>
              <a:t>TS</a:t>
            </a:r>
            <a:endParaRPr lang="en-US" sz="1950" dirty="0"/>
          </a:p>
        </p:txBody>
      </p:sp>
      <p:sp>
        <p:nvSpPr>
          <p:cNvPr id="7" name="Shape 4"/>
          <p:cNvSpPr/>
          <p:nvPr/>
        </p:nvSpPr>
        <p:spPr>
          <a:xfrm>
            <a:off x="9258300" y="9129564"/>
            <a:ext cx="28575" cy="395436"/>
          </a:xfrm>
          <a:prstGeom prst="rect">
            <a:avLst/>
          </a:prstGeom>
          <a:solidFill>
            <a:srgbClr val="C08A3E"/>
          </a:solidFill>
          <a:ln/>
        </p:spPr>
      </p:sp>
      <p:sp>
        <p:nvSpPr>
          <p:cNvPr id="8" name="Text 5"/>
          <p:cNvSpPr/>
          <p:nvPr/>
        </p:nvSpPr>
        <p:spPr>
          <a:xfrm>
            <a:off x="9496425" y="9129564"/>
            <a:ext cx="8542020" cy="433536"/>
          </a:xfrm>
          <a:prstGeom prst="rect">
            <a:avLst/>
          </a:prstGeom>
          <a:noFill/>
          <a:ln/>
        </p:spPr>
        <p:txBody>
          <a:bodyPr wrap="square" lIns="25400" tIns="25400" rIns="25400" bIns="25400" rtlCol="0" anchor="t">
            <a:normAutofit/>
          </a:bodyPr>
          <a:lstStyle/>
          <a:p>
            <a:pPr algn="l" indent="0" marL="0">
              <a:lnSpc>
                <a:spcPct val="117419"/>
              </a:lnSpc>
              <a:buNone/>
            </a:pPr>
            <a:r>
              <a:rPr lang="en-US" sz="1950" b="1" dirty="0">
                <a:solidFill>
                  <a:srgbClr val="20262D"/>
                </a:solidFill>
                <a:latin typeface="Arial" pitchFamily="34" charset="0"/>
                <a:ea typeface="Arial" pitchFamily="34" charset="-122"/>
                <a:cs typeface="Arial" pitchFamily="34" charset="-120"/>
              </a:rPr>
              <a:t>Output B </a:t>
            </a:r>
            <a:pPr algn="l" indent="0" marL="0">
              <a:lnSpc>
                <a:spcPct val="117419"/>
              </a:lnSpc>
              <a:buNone/>
            </a:pPr>
            <a:r>
              <a:rPr lang="en-US" sz="1950" dirty="0">
                <a:solidFill>
                  <a:srgbClr val="20262D"/>
                </a:solidFill>
                <a:latin typeface="Arial" pitchFamily="34" charset="0"/>
                <a:ea typeface="Arial" pitchFamily="34" charset="-122"/>
                <a:cs typeface="Arial" pitchFamily="34" charset="-120"/>
              </a:rPr>
              <a:t>— activation energy from EGNN node features</a:t>
            </a:r>
            <a:endParaRPr lang="en-US" sz="1950" dirty="0"/>
          </a:p>
        </p:txBody>
      </p:sp>
      <p:sp>
        <p:nvSpPr>
          <p:cNvPr id="9" name="Text 6"/>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10" name="Text 7"/>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08</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THE EGNN GEOMETRY BACKBONE</a:t>
            </a:r>
            <a:endParaRPr lang="en-US" sz="1800" dirty="0"/>
          </a:p>
        </p:txBody>
      </p:sp>
      <p:sp>
        <p:nvSpPr>
          <p:cNvPr id="3" name="Text 1"/>
          <p:cNvSpPr/>
          <p:nvPr/>
        </p:nvSpPr>
        <p:spPr>
          <a:xfrm>
            <a:off x="1047750" y="1428750"/>
            <a:ext cx="8560799"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Equivariant message passing on the atom graph</a:t>
            </a:r>
            <a:endParaRPr lang="en-US" sz="5550" dirty="0"/>
          </a:p>
        </p:txBody>
      </p:sp>
      <p:sp>
        <p:nvSpPr>
          <p:cNvPr id="4" name="Shape 2"/>
          <p:cNvSpPr/>
          <p:nvPr/>
        </p:nvSpPr>
        <p:spPr>
          <a:xfrm>
            <a:off x="1047750" y="3428107"/>
            <a:ext cx="7639050" cy="2431107"/>
          </a:xfrm>
          <a:prstGeom prst="roundRect">
            <a:avLst>
              <a:gd name="adj" fmla="val 3134"/>
            </a:avLst>
          </a:prstGeom>
          <a:solidFill>
            <a:srgbClr val="20262D"/>
          </a:solidFill>
          <a:ln/>
        </p:spPr>
      </p:sp>
      <p:sp>
        <p:nvSpPr>
          <p:cNvPr id="5" name="Text 3"/>
          <p:cNvSpPr/>
          <p:nvPr/>
        </p:nvSpPr>
        <p:spPr>
          <a:xfrm>
            <a:off x="1466850" y="3809107"/>
            <a:ext cx="7004876" cy="436215"/>
          </a:xfrm>
          <a:prstGeom prst="rect">
            <a:avLst/>
          </a:prstGeom>
          <a:noFill/>
          <a:ln/>
        </p:spPr>
        <p:txBody>
          <a:bodyPr wrap="square" lIns="25400" tIns="25400" rIns="25400" bIns="25400" rtlCol="0" anchor="t">
            <a:normAutofit/>
          </a:bodyPr>
          <a:lstStyle/>
          <a:p>
            <a:pPr algn="l" indent="0" marL="0">
              <a:lnSpc>
                <a:spcPct val="167200"/>
              </a:lnSpc>
              <a:buNone/>
            </a:pPr>
            <a:r>
              <a:rPr lang="en-US" sz="1650" spc="165" kern="0" dirty="0">
                <a:solidFill>
                  <a:srgbClr val="A9A396"/>
                </a:solidFill>
                <a:latin typeface="Courier New" pitchFamily="34" charset="0"/>
                <a:ea typeface="Courier New" pitchFamily="34" charset="-122"/>
                <a:cs typeface="Courier New" pitchFamily="34" charset="-120"/>
              </a:rPr>
              <a:t>COORDINATE UPDATE</a:t>
            </a:r>
            <a:endParaRPr lang="en-US" sz="1650" dirty="0"/>
          </a:p>
        </p:txBody>
      </p:sp>
      <p:sp>
        <p:nvSpPr>
          <p:cNvPr id="6" name="Text 4"/>
          <p:cNvSpPr/>
          <p:nvPr/>
        </p:nvSpPr>
        <p:spPr>
          <a:xfrm>
            <a:off x="1466850" y="4340572"/>
            <a:ext cx="7004876" cy="606921"/>
          </a:xfrm>
          <a:prstGeom prst="rect">
            <a:avLst/>
          </a:prstGeom>
          <a:noFill/>
          <a:ln/>
        </p:spPr>
        <p:txBody>
          <a:bodyPr wrap="square" lIns="25400" tIns="25400" rIns="25400" bIns="25400" rtlCol="0" anchor="t">
            <a:normAutofit/>
          </a:bodyPr>
          <a:lstStyle/>
          <a:p>
            <a:pPr algn="l" indent="0" marL="0">
              <a:lnSpc>
                <a:spcPct val="166970"/>
              </a:lnSpc>
              <a:buNone/>
            </a:pPr>
            <a:r>
              <a:rPr lang="en-US" sz="2175" dirty="0">
                <a:solidFill>
                  <a:srgbClr val="F2EDE1"/>
                </a:solidFill>
                <a:latin typeface="Courier New" pitchFamily="34" charset="0"/>
                <a:ea typeface="Courier New" pitchFamily="34" charset="-122"/>
                <a:cs typeface="Courier New" pitchFamily="34" charset="-120"/>
              </a:rPr>
              <a:t>m</a:t>
            </a:r>
            <a:pPr algn="l" indent="0" marL="0">
              <a:lnSpc>
                <a:spcPct val="166970"/>
              </a:lnSpc>
              <a:buNone/>
            </a:pPr>
            <a:r>
              <a:rPr lang="en-US" sz="1813" baseline="-40000" dirty="0">
                <a:solidFill>
                  <a:srgbClr val="F2EDE1"/>
                </a:solidFill>
                <a:latin typeface="Courier New" pitchFamily="34" charset="0"/>
                <a:ea typeface="Courier New" pitchFamily="34" charset="-122"/>
                <a:cs typeface="Courier New" pitchFamily="34" charset="-120"/>
              </a:rPr>
              <a:t>ij </a:t>
            </a:r>
            <a:pPr algn="l" indent="0" marL="0">
              <a:lnSpc>
                <a:spcPct val="166970"/>
              </a:lnSpc>
              <a:buNone/>
            </a:pPr>
            <a:r>
              <a:rPr lang="en-US" sz="2175" dirty="0">
                <a:solidFill>
                  <a:srgbClr val="F2EDE1"/>
                </a:solidFill>
                <a:latin typeface="Courier New" pitchFamily="34" charset="0"/>
                <a:ea typeface="Courier New" pitchFamily="34" charset="-122"/>
                <a:cs typeface="Courier New" pitchFamily="34" charset="-120"/>
              </a:rPr>
              <a:t>= φ( h</a:t>
            </a:r>
            <a:pPr algn="l" indent="0" marL="0">
              <a:lnSpc>
                <a:spcPct val="166970"/>
              </a:lnSpc>
              <a:buNone/>
            </a:pPr>
            <a:r>
              <a:rPr lang="en-US" sz="1813" baseline="-40000" dirty="0">
                <a:solidFill>
                  <a:srgbClr val="F2EDE1"/>
                </a:solidFill>
                <a:latin typeface="Courier New" pitchFamily="34" charset="0"/>
                <a:ea typeface="Courier New" pitchFamily="34" charset="-122"/>
                <a:cs typeface="Courier New" pitchFamily="34" charset="-120"/>
              </a:rPr>
              <a:t>i</a:t>
            </a:r>
            <a:pPr algn="l" indent="0" marL="0">
              <a:lnSpc>
                <a:spcPct val="166970"/>
              </a:lnSpc>
              <a:buNone/>
            </a:pPr>
            <a:r>
              <a:rPr lang="en-US" sz="2175" dirty="0">
                <a:solidFill>
                  <a:srgbClr val="F2EDE1"/>
                </a:solidFill>
                <a:latin typeface="Courier New" pitchFamily="34" charset="0"/>
                <a:ea typeface="Courier New" pitchFamily="34" charset="-122"/>
                <a:cs typeface="Courier New" pitchFamily="34" charset="-120"/>
              </a:rPr>
              <a:t>, h</a:t>
            </a:r>
            <a:pPr algn="l" indent="0" marL="0">
              <a:lnSpc>
                <a:spcPct val="166970"/>
              </a:lnSpc>
              <a:buNone/>
            </a:pPr>
            <a:r>
              <a:rPr lang="en-US" sz="1813" baseline="-40000" dirty="0">
                <a:solidFill>
                  <a:srgbClr val="F2EDE1"/>
                </a:solidFill>
                <a:latin typeface="Courier New" pitchFamily="34" charset="0"/>
                <a:ea typeface="Courier New" pitchFamily="34" charset="-122"/>
                <a:cs typeface="Courier New" pitchFamily="34" charset="-120"/>
              </a:rPr>
              <a:t>j</a:t>
            </a:r>
            <a:pPr algn="l" indent="0" marL="0">
              <a:lnSpc>
                <a:spcPct val="166970"/>
              </a:lnSpc>
              <a:buNone/>
            </a:pPr>
            <a:r>
              <a:rPr lang="en-US" sz="2175" dirty="0">
                <a:solidFill>
                  <a:srgbClr val="F2EDE1"/>
                </a:solidFill>
                <a:latin typeface="Courier New" pitchFamily="34" charset="0"/>
                <a:ea typeface="Courier New" pitchFamily="34" charset="-122"/>
                <a:cs typeface="Courier New" pitchFamily="34" charset="-120"/>
              </a:rPr>
              <a:t>, ‖x</a:t>
            </a:r>
            <a:pPr algn="l" indent="0" marL="0">
              <a:lnSpc>
                <a:spcPct val="166970"/>
              </a:lnSpc>
              <a:buNone/>
            </a:pPr>
            <a:r>
              <a:rPr lang="en-US" sz="1813" baseline="-40000" dirty="0">
                <a:solidFill>
                  <a:srgbClr val="F2EDE1"/>
                </a:solidFill>
                <a:latin typeface="Courier New" pitchFamily="34" charset="0"/>
                <a:ea typeface="Courier New" pitchFamily="34" charset="-122"/>
                <a:cs typeface="Courier New" pitchFamily="34" charset="-120"/>
              </a:rPr>
              <a:t>i</a:t>
            </a:r>
            <a:pPr algn="l" indent="0" marL="0">
              <a:lnSpc>
                <a:spcPct val="166970"/>
              </a:lnSpc>
              <a:buNone/>
            </a:pPr>
            <a:r>
              <a:rPr lang="en-US" sz="2175" dirty="0">
                <a:solidFill>
                  <a:srgbClr val="F2EDE1"/>
                </a:solidFill>
                <a:latin typeface="Courier New" pitchFamily="34" charset="0"/>
                <a:ea typeface="Courier New" pitchFamily="34" charset="-122"/>
                <a:cs typeface="Courier New" pitchFamily="34" charset="-120"/>
              </a:rPr>
              <a:t>−x</a:t>
            </a:r>
            <a:pPr algn="l" indent="0" marL="0">
              <a:lnSpc>
                <a:spcPct val="166970"/>
              </a:lnSpc>
              <a:buNone/>
            </a:pPr>
            <a:r>
              <a:rPr lang="en-US" sz="1813" baseline="-40000" dirty="0">
                <a:solidFill>
                  <a:srgbClr val="F2EDE1"/>
                </a:solidFill>
                <a:latin typeface="Courier New" pitchFamily="34" charset="0"/>
                <a:ea typeface="Courier New" pitchFamily="34" charset="-122"/>
                <a:cs typeface="Courier New" pitchFamily="34" charset="-120"/>
              </a:rPr>
              <a:t>j</a:t>
            </a:r>
            <a:pPr algn="l" indent="0" marL="0">
              <a:lnSpc>
                <a:spcPct val="166970"/>
              </a:lnSpc>
              <a:buNone/>
            </a:pPr>
            <a:r>
              <a:rPr lang="en-US" sz="2175" dirty="0">
                <a:solidFill>
                  <a:srgbClr val="F2EDE1"/>
                </a:solidFill>
                <a:latin typeface="Courier New" pitchFamily="34" charset="0"/>
                <a:ea typeface="Courier New" pitchFamily="34" charset="-122"/>
                <a:cs typeface="Courier New" pitchFamily="34" charset="-120"/>
              </a:rPr>
              <a:t>‖² )</a:t>
            </a:r>
            <a:endParaRPr lang="en-US" sz="2175" dirty="0"/>
          </a:p>
        </p:txBody>
      </p:sp>
      <p:sp>
        <p:nvSpPr>
          <p:cNvPr id="7" name="Text 5"/>
          <p:cNvSpPr/>
          <p:nvPr/>
        </p:nvSpPr>
        <p:spPr>
          <a:xfrm>
            <a:off x="1466850" y="4909393"/>
            <a:ext cx="7004876" cy="606921"/>
          </a:xfrm>
          <a:prstGeom prst="rect">
            <a:avLst/>
          </a:prstGeom>
          <a:noFill/>
          <a:ln/>
        </p:spPr>
        <p:txBody>
          <a:bodyPr wrap="square" lIns="25400" tIns="25400" rIns="25400" bIns="25400" rtlCol="0" anchor="t">
            <a:normAutofit/>
          </a:bodyPr>
          <a:lstStyle/>
          <a:p>
            <a:pPr algn="l" indent="0" marL="0">
              <a:lnSpc>
                <a:spcPct val="166970"/>
              </a:lnSpc>
              <a:buNone/>
            </a:pPr>
            <a:r>
              <a:rPr lang="en-US" sz="2175" dirty="0">
                <a:solidFill>
                  <a:srgbClr val="C08A3E"/>
                </a:solidFill>
                <a:latin typeface="Courier New" pitchFamily="34" charset="0"/>
                <a:ea typeface="Courier New" pitchFamily="34" charset="-122"/>
                <a:cs typeface="Courier New" pitchFamily="34" charset="-120"/>
              </a:rPr>
              <a:t>x</a:t>
            </a:r>
            <a:pPr algn="l" indent="0" marL="0">
              <a:lnSpc>
                <a:spcPct val="166970"/>
              </a:lnSpc>
              <a:buNone/>
            </a:pPr>
            <a:r>
              <a:rPr lang="en-US" sz="1813" baseline="-40000" dirty="0">
                <a:solidFill>
                  <a:srgbClr val="C08A3E"/>
                </a:solidFill>
                <a:latin typeface="Courier New" pitchFamily="34" charset="0"/>
                <a:ea typeface="Courier New" pitchFamily="34" charset="-122"/>
                <a:cs typeface="Courier New" pitchFamily="34" charset="-120"/>
              </a:rPr>
              <a:t>i </a:t>
            </a:r>
            <a:pPr algn="l" indent="0" marL="0">
              <a:lnSpc>
                <a:spcPct val="166970"/>
              </a:lnSpc>
              <a:buNone/>
            </a:pPr>
            <a:r>
              <a:rPr lang="en-US" sz="2175" dirty="0">
                <a:solidFill>
                  <a:srgbClr val="C08A3E"/>
                </a:solidFill>
                <a:latin typeface="Courier New" pitchFamily="34" charset="0"/>
                <a:ea typeface="Courier New" pitchFamily="34" charset="-122"/>
                <a:cs typeface="Courier New" pitchFamily="34" charset="-120"/>
              </a:rPr>
              <a:t>← x</a:t>
            </a:r>
            <a:pPr algn="l" indent="0" marL="0">
              <a:lnSpc>
                <a:spcPct val="166970"/>
              </a:lnSpc>
              <a:buNone/>
            </a:pPr>
            <a:r>
              <a:rPr lang="en-US" sz="1813" baseline="-40000" dirty="0">
                <a:solidFill>
                  <a:srgbClr val="C08A3E"/>
                </a:solidFill>
                <a:latin typeface="Courier New" pitchFamily="34" charset="0"/>
                <a:ea typeface="Courier New" pitchFamily="34" charset="-122"/>
                <a:cs typeface="Courier New" pitchFamily="34" charset="-120"/>
              </a:rPr>
              <a:t>i </a:t>
            </a:r>
            <a:pPr algn="l" indent="0" marL="0">
              <a:lnSpc>
                <a:spcPct val="166970"/>
              </a:lnSpc>
              <a:buNone/>
            </a:pPr>
            <a:r>
              <a:rPr lang="en-US" sz="2175" dirty="0">
                <a:solidFill>
                  <a:srgbClr val="C08A3E"/>
                </a:solidFill>
                <a:latin typeface="Courier New" pitchFamily="34" charset="0"/>
                <a:ea typeface="Courier New" pitchFamily="34" charset="-122"/>
                <a:cs typeface="Courier New" pitchFamily="34" charset="-120"/>
              </a:rPr>
              <a:t>+ Σ</a:t>
            </a:r>
            <a:pPr algn="l" indent="0" marL="0">
              <a:lnSpc>
                <a:spcPct val="166970"/>
              </a:lnSpc>
              <a:buNone/>
            </a:pPr>
            <a:r>
              <a:rPr lang="en-US" sz="1813" baseline="-40000" dirty="0">
                <a:solidFill>
                  <a:srgbClr val="C08A3E"/>
                </a:solidFill>
                <a:latin typeface="Courier New" pitchFamily="34" charset="0"/>
                <a:ea typeface="Courier New" pitchFamily="34" charset="-122"/>
                <a:cs typeface="Courier New" pitchFamily="34" charset="-120"/>
              </a:rPr>
              <a:t>j </a:t>
            </a:r>
            <a:pPr algn="l" indent="0" marL="0">
              <a:lnSpc>
                <a:spcPct val="166970"/>
              </a:lnSpc>
              <a:buNone/>
            </a:pPr>
            <a:r>
              <a:rPr lang="en-US" sz="2175" dirty="0">
                <a:solidFill>
                  <a:srgbClr val="C08A3E"/>
                </a:solidFill>
                <a:latin typeface="Courier New" pitchFamily="34" charset="0"/>
                <a:ea typeface="Courier New" pitchFamily="34" charset="-122"/>
                <a:cs typeface="Courier New" pitchFamily="34" charset="-120"/>
              </a:rPr>
              <a:t>(x</a:t>
            </a:r>
            <a:pPr algn="l" indent="0" marL="0">
              <a:lnSpc>
                <a:spcPct val="166970"/>
              </a:lnSpc>
              <a:buNone/>
            </a:pPr>
            <a:r>
              <a:rPr lang="en-US" sz="1813" baseline="-40000" dirty="0">
                <a:solidFill>
                  <a:srgbClr val="C08A3E"/>
                </a:solidFill>
                <a:latin typeface="Courier New" pitchFamily="34" charset="0"/>
                <a:ea typeface="Courier New" pitchFamily="34" charset="-122"/>
                <a:cs typeface="Courier New" pitchFamily="34" charset="-120"/>
              </a:rPr>
              <a:t>i</a:t>
            </a:r>
            <a:pPr algn="l" indent="0" marL="0">
              <a:lnSpc>
                <a:spcPct val="166970"/>
              </a:lnSpc>
              <a:buNone/>
            </a:pPr>
            <a:r>
              <a:rPr lang="en-US" sz="2175" dirty="0">
                <a:solidFill>
                  <a:srgbClr val="C08A3E"/>
                </a:solidFill>
                <a:latin typeface="Courier New" pitchFamily="34" charset="0"/>
                <a:ea typeface="Courier New" pitchFamily="34" charset="-122"/>
                <a:cs typeface="Courier New" pitchFamily="34" charset="-120"/>
              </a:rPr>
              <a:t>−x</a:t>
            </a:r>
            <a:pPr algn="l" indent="0" marL="0">
              <a:lnSpc>
                <a:spcPct val="166970"/>
              </a:lnSpc>
              <a:buNone/>
            </a:pPr>
            <a:r>
              <a:rPr lang="en-US" sz="1813" baseline="-40000" dirty="0">
                <a:solidFill>
                  <a:srgbClr val="C08A3E"/>
                </a:solidFill>
                <a:latin typeface="Courier New" pitchFamily="34" charset="0"/>
                <a:ea typeface="Courier New" pitchFamily="34" charset="-122"/>
                <a:cs typeface="Courier New" pitchFamily="34" charset="-120"/>
              </a:rPr>
              <a:t>j</a:t>
            </a:r>
            <a:pPr algn="l" indent="0" marL="0">
              <a:lnSpc>
                <a:spcPct val="166970"/>
              </a:lnSpc>
              <a:buNone/>
            </a:pPr>
            <a:r>
              <a:rPr lang="en-US" sz="2175" dirty="0">
                <a:solidFill>
                  <a:srgbClr val="C08A3E"/>
                </a:solidFill>
                <a:latin typeface="Courier New" pitchFamily="34" charset="0"/>
                <a:ea typeface="Courier New" pitchFamily="34" charset="-122"/>
                <a:cs typeface="Courier New" pitchFamily="34" charset="-120"/>
              </a:rPr>
              <a:t>) · ψ(m</a:t>
            </a:r>
            <a:pPr algn="l" indent="0" marL="0">
              <a:lnSpc>
                <a:spcPct val="166970"/>
              </a:lnSpc>
              <a:buNone/>
            </a:pPr>
            <a:r>
              <a:rPr lang="en-US" sz="1813" baseline="-40000" dirty="0">
                <a:solidFill>
                  <a:srgbClr val="C08A3E"/>
                </a:solidFill>
                <a:latin typeface="Courier New" pitchFamily="34" charset="0"/>
                <a:ea typeface="Courier New" pitchFamily="34" charset="-122"/>
                <a:cs typeface="Courier New" pitchFamily="34" charset="-120"/>
              </a:rPr>
              <a:t>ij</a:t>
            </a:r>
            <a:pPr algn="l" indent="0" marL="0">
              <a:lnSpc>
                <a:spcPct val="166970"/>
              </a:lnSpc>
              <a:buNone/>
            </a:pPr>
            <a:r>
              <a:rPr lang="en-US" sz="2175" dirty="0">
                <a:solidFill>
                  <a:srgbClr val="C08A3E"/>
                </a:solidFill>
                <a:latin typeface="Courier New" pitchFamily="34" charset="0"/>
                <a:ea typeface="Courier New" pitchFamily="34" charset="-122"/>
                <a:cs typeface="Courier New" pitchFamily="34" charset="-120"/>
              </a:rPr>
              <a:t>)</a:t>
            </a:r>
            <a:endParaRPr lang="en-US" sz="2175" dirty="0"/>
          </a:p>
        </p:txBody>
      </p:sp>
      <p:sp>
        <p:nvSpPr>
          <p:cNvPr id="8" name="Text 6"/>
          <p:cNvSpPr/>
          <p:nvPr/>
        </p:nvSpPr>
        <p:spPr>
          <a:xfrm>
            <a:off x="1047750" y="6087814"/>
            <a:ext cx="7868221" cy="781050"/>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6F6A5F"/>
                </a:solidFill>
                <a:latin typeface="Arial" pitchFamily="34" charset="0"/>
                <a:ea typeface="Arial" pitchFamily="34" charset="-122"/>
                <a:cs typeface="Arial" pitchFamily="34" charset="-120"/>
              </a:rPr>
              <a:t>Updating along relative displacement vectors is what makes the layer equivariant to rotation and translation.</a:t>
            </a:r>
            <a:endParaRPr lang="en-US" sz="1950" dirty="0"/>
          </a:p>
        </p:txBody>
      </p:sp>
      <p:sp>
        <p:nvSpPr>
          <p:cNvPr id="9" name="Text 7"/>
          <p:cNvSpPr/>
          <p:nvPr/>
        </p:nvSpPr>
        <p:spPr>
          <a:xfrm>
            <a:off x="9220200" y="3428107"/>
            <a:ext cx="8402955"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2F7A6F"/>
                </a:solidFill>
                <a:latin typeface="Courier New" pitchFamily="34" charset="0"/>
                <a:ea typeface="Courier New" pitchFamily="34" charset="-122"/>
                <a:cs typeface="Courier New" pitchFamily="34" charset="-120"/>
              </a:rPr>
              <a:t>NODE FEATURES</a:t>
            </a:r>
            <a:endParaRPr lang="en-US" sz="1800" dirty="0"/>
          </a:p>
        </p:txBody>
      </p:sp>
      <p:sp>
        <p:nvSpPr>
          <p:cNvPr id="10" name="Shape 8"/>
          <p:cNvSpPr/>
          <p:nvPr/>
        </p:nvSpPr>
        <p:spPr>
          <a:xfrm>
            <a:off x="9220200" y="3942457"/>
            <a:ext cx="7639050" cy="893415"/>
          </a:xfrm>
          <a:prstGeom prst="roundRect">
            <a:avLst>
              <a:gd name="adj" fmla="val 6397"/>
            </a:avLst>
          </a:prstGeom>
          <a:solidFill>
            <a:srgbClr val="FFFFFF"/>
          </a:solidFill>
          <a:ln w="9525">
            <a:solidFill>
              <a:srgbClr val="DDD6C7"/>
            </a:solidFill>
            <a:prstDash val="solid"/>
          </a:ln>
        </p:spPr>
      </p:sp>
      <p:sp>
        <p:nvSpPr>
          <p:cNvPr id="11" name="Text 9"/>
          <p:cNvSpPr/>
          <p:nvPr/>
        </p:nvSpPr>
        <p:spPr>
          <a:xfrm>
            <a:off x="9515475" y="4180582"/>
            <a:ext cx="7277672" cy="455265"/>
          </a:xfrm>
          <a:prstGeom prst="rect">
            <a:avLst/>
          </a:prstGeom>
          <a:noFill/>
          <a:ln/>
        </p:spPr>
        <p:txBody>
          <a:bodyPr wrap="square" lIns="25400" tIns="25400" rIns="25400" bIns="25400" rtlCol="0" anchor="t">
            <a:normAutofit/>
          </a:bodyPr>
          <a:lstStyle/>
          <a:p>
            <a:pPr algn="l" indent="0" marL="0">
              <a:buNone/>
            </a:pPr>
            <a:r>
              <a:rPr lang="en-US" sz="2175" dirty="0">
                <a:solidFill>
                  <a:srgbClr val="20262D"/>
                </a:solidFill>
                <a:highlight>
                  <a:srgbClr val="FFFFFF"/>
                </a:highlight>
                <a:latin typeface="Arial" pitchFamily="34" charset="0"/>
                <a:ea typeface="Arial" pitchFamily="34" charset="-122"/>
                <a:cs typeface="Arial" pitchFamily="34" charset="-120"/>
              </a:rPr>
              <a:t>Atomic number Z</a:t>
            </a:r>
            <a:pPr algn="l" indent="0" marL="0">
              <a:buNone/>
            </a:pPr>
            <a:r>
              <a:rPr lang="en-US" sz="1813" baseline="-40000" dirty="0">
                <a:solidFill>
                  <a:srgbClr val="20262D"/>
                </a:solidFill>
                <a:latin typeface="Arial" pitchFamily="34" charset="0"/>
                <a:ea typeface="Arial" pitchFamily="34" charset="-122"/>
                <a:cs typeface="Arial" pitchFamily="34" charset="-120"/>
              </a:rPr>
              <a:t>i</a:t>
            </a:r>
            <a:endParaRPr lang="en-US" sz="2175" dirty="0"/>
          </a:p>
        </p:txBody>
      </p:sp>
      <p:sp>
        <p:nvSpPr>
          <p:cNvPr id="12" name="Shape 10"/>
          <p:cNvSpPr/>
          <p:nvPr/>
        </p:nvSpPr>
        <p:spPr>
          <a:xfrm>
            <a:off x="9220200" y="4988272"/>
            <a:ext cx="7639050" cy="893415"/>
          </a:xfrm>
          <a:prstGeom prst="roundRect">
            <a:avLst>
              <a:gd name="adj" fmla="val 6397"/>
            </a:avLst>
          </a:prstGeom>
          <a:solidFill>
            <a:srgbClr val="FFFFFF"/>
          </a:solidFill>
          <a:ln w="9525">
            <a:solidFill>
              <a:srgbClr val="DDD6C7"/>
            </a:solidFill>
            <a:prstDash val="solid"/>
          </a:ln>
        </p:spPr>
      </p:sp>
      <p:sp>
        <p:nvSpPr>
          <p:cNvPr id="13" name="Text 11"/>
          <p:cNvSpPr/>
          <p:nvPr/>
        </p:nvSpPr>
        <p:spPr>
          <a:xfrm>
            <a:off x="9515475" y="5226397"/>
            <a:ext cx="7277672" cy="455265"/>
          </a:xfrm>
          <a:prstGeom prst="rect">
            <a:avLst/>
          </a:prstGeom>
          <a:noFill/>
          <a:ln/>
        </p:spPr>
        <p:txBody>
          <a:bodyPr wrap="square" lIns="25400" tIns="25400" rIns="25400" bIns="25400" rtlCol="0" anchor="t">
            <a:normAutofit/>
          </a:bodyPr>
          <a:lstStyle/>
          <a:p>
            <a:pPr algn="l" indent="0" marL="0">
              <a:buNone/>
            </a:pPr>
            <a:r>
              <a:rPr lang="en-US" sz="2175" dirty="0">
                <a:solidFill>
                  <a:srgbClr val="20262D"/>
                </a:solidFill>
                <a:highlight>
                  <a:srgbClr val="FFFFFF"/>
                </a:highlight>
                <a:latin typeface="Arial" pitchFamily="34" charset="0"/>
                <a:ea typeface="Arial" pitchFamily="34" charset="-122"/>
                <a:cs typeface="Arial" pitchFamily="34" charset="-120"/>
              </a:rPr>
              <a:t>Pauling electronegativity χ</a:t>
            </a:r>
            <a:pPr algn="l" indent="0" marL="0">
              <a:buNone/>
            </a:pPr>
            <a:r>
              <a:rPr lang="en-US" sz="1813" baseline="-40000" dirty="0">
                <a:solidFill>
                  <a:srgbClr val="20262D"/>
                </a:solidFill>
                <a:latin typeface="Arial" pitchFamily="34" charset="0"/>
                <a:ea typeface="Arial" pitchFamily="34" charset="-122"/>
                <a:cs typeface="Arial" pitchFamily="34" charset="-120"/>
              </a:rPr>
              <a:t>i</a:t>
            </a:r>
            <a:endParaRPr lang="en-US" sz="2175" dirty="0"/>
          </a:p>
        </p:txBody>
      </p:sp>
      <p:sp>
        <p:nvSpPr>
          <p:cNvPr id="14" name="Shape 12"/>
          <p:cNvSpPr/>
          <p:nvPr/>
        </p:nvSpPr>
        <p:spPr>
          <a:xfrm>
            <a:off x="9220200" y="6034088"/>
            <a:ext cx="7639050" cy="893415"/>
          </a:xfrm>
          <a:prstGeom prst="roundRect">
            <a:avLst>
              <a:gd name="adj" fmla="val 6397"/>
            </a:avLst>
          </a:prstGeom>
          <a:solidFill>
            <a:srgbClr val="FFFFFF"/>
          </a:solidFill>
          <a:ln w="9525">
            <a:solidFill>
              <a:srgbClr val="DDD6C7"/>
            </a:solidFill>
            <a:prstDash val="solid"/>
          </a:ln>
        </p:spPr>
      </p:sp>
      <p:sp>
        <p:nvSpPr>
          <p:cNvPr id="15" name="Text 13"/>
          <p:cNvSpPr/>
          <p:nvPr/>
        </p:nvSpPr>
        <p:spPr>
          <a:xfrm>
            <a:off x="9515475" y="6272213"/>
            <a:ext cx="7277672" cy="455265"/>
          </a:xfrm>
          <a:prstGeom prst="rect">
            <a:avLst/>
          </a:prstGeom>
          <a:noFill/>
          <a:ln/>
        </p:spPr>
        <p:txBody>
          <a:bodyPr wrap="square" lIns="25400" tIns="25400" rIns="25400" bIns="25400" rtlCol="0" anchor="t">
            <a:normAutofit/>
          </a:bodyPr>
          <a:lstStyle/>
          <a:p>
            <a:pPr algn="l" indent="0" marL="0">
              <a:buNone/>
            </a:pPr>
            <a:r>
              <a:rPr lang="en-US" sz="2175" dirty="0">
                <a:solidFill>
                  <a:srgbClr val="20262D"/>
                </a:solidFill>
                <a:highlight>
                  <a:srgbClr val="FFFFFF"/>
                </a:highlight>
                <a:latin typeface="Arial" pitchFamily="34" charset="0"/>
                <a:ea typeface="Arial" pitchFamily="34" charset="-122"/>
                <a:cs typeface="Arial" pitchFamily="34" charset="-120"/>
              </a:rPr>
              <a:t>Covalent radius r</a:t>
            </a:r>
            <a:pPr algn="l" indent="0" marL="0">
              <a:buNone/>
            </a:pPr>
            <a:r>
              <a:rPr lang="en-US" sz="1813" baseline="-40000" dirty="0">
                <a:solidFill>
                  <a:srgbClr val="20262D"/>
                </a:solidFill>
                <a:latin typeface="Arial" pitchFamily="34" charset="0"/>
                <a:ea typeface="Arial" pitchFamily="34" charset="-122"/>
                <a:cs typeface="Arial" pitchFamily="34" charset="-120"/>
              </a:rPr>
              <a:t>i</a:t>
            </a:r>
            <a:endParaRPr lang="en-US" sz="2175" dirty="0"/>
          </a:p>
        </p:txBody>
      </p:sp>
      <p:sp>
        <p:nvSpPr>
          <p:cNvPr id="16" name="Shape 14"/>
          <p:cNvSpPr/>
          <p:nvPr/>
        </p:nvSpPr>
        <p:spPr>
          <a:xfrm>
            <a:off x="9220200" y="7079903"/>
            <a:ext cx="7639050" cy="893415"/>
          </a:xfrm>
          <a:prstGeom prst="roundRect">
            <a:avLst>
              <a:gd name="adj" fmla="val 6397"/>
            </a:avLst>
          </a:prstGeom>
          <a:solidFill>
            <a:srgbClr val="FFFFFF"/>
          </a:solidFill>
          <a:ln w="9525">
            <a:solidFill>
              <a:srgbClr val="DDD6C7"/>
            </a:solidFill>
            <a:prstDash val="solid"/>
          </a:ln>
        </p:spPr>
      </p:sp>
      <p:sp>
        <p:nvSpPr>
          <p:cNvPr id="17" name="Text 15"/>
          <p:cNvSpPr/>
          <p:nvPr/>
        </p:nvSpPr>
        <p:spPr>
          <a:xfrm>
            <a:off x="9515475" y="7318028"/>
            <a:ext cx="7277672" cy="455265"/>
          </a:xfrm>
          <a:prstGeom prst="rect">
            <a:avLst/>
          </a:prstGeom>
          <a:noFill/>
          <a:ln/>
        </p:spPr>
        <p:txBody>
          <a:bodyPr wrap="square" lIns="25400" tIns="25400" rIns="25400" bIns="25400" rtlCol="0" anchor="t">
            <a:normAutofit/>
          </a:bodyPr>
          <a:lstStyle/>
          <a:p>
            <a:pPr algn="l" indent="0" marL="0">
              <a:buNone/>
            </a:pPr>
            <a:r>
              <a:rPr lang="en-US" sz="2175" dirty="0">
                <a:solidFill>
                  <a:srgbClr val="20262D"/>
                </a:solidFill>
                <a:highlight>
                  <a:srgbClr val="FFFFFF"/>
                </a:highlight>
                <a:latin typeface="Arial" pitchFamily="34" charset="0"/>
                <a:ea typeface="Arial" pitchFamily="34" charset="-122"/>
                <a:cs typeface="Arial" pitchFamily="34" charset="-120"/>
              </a:rPr>
              <a:t>Learned atom embedding u</a:t>
            </a:r>
            <a:pPr algn="l" indent="0" marL="0">
              <a:buNone/>
            </a:pPr>
            <a:r>
              <a:rPr lang="en-US" sz="1813" baseline="-40000" dirty="0">
                <a:solidFill>
                  <a:srgbClr val="20262D"/>
                </a:solidFill>
                <a:latin typeface="Arial" pitchFamily="34" charset="0"/>
                <a:ea typeface="Arial" pitchFamily="34" charset="-122"/>
                <a:cs typeface="Arial" pitchFamily="34" charset="-120"/>
              </a:rPr>
              <a:t>i</a:t>
            </a:r>
            <a:endParaRPr lang="en-US" sz="2175" dirty="0"/>
          </a:p>
        </p:txBody>
      </p:sp>
      <p:sp>
        <p:nvSpPr>
          <p:cNvPr id="18" name="Text 16"/>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19" name="Text 17"/>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09</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THE ACTIVATION-ENERGY HEAD</a:t>
            </a:r>
            <a:endParaRPr lang="en-US" sz="1800" dirty="0"/>
          </a:p>
        </p:txBody>
      </p:sp>
      <p:sp>
        <p:nvSpPr>
          <p:cNvPr id="3" name="Text 1"/>
          <p:cNvSpPr/>
          <p:nvPr/>
        </p:nvSpPr>
        <p:spPr>
          <a:xfrm>
            <a:off x="1047750" y="1428750"/>
            <a:ext cx="9339068"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A decoupled cross-attention regressor</a:t>
            </a:r>
            <a:endParaRPr lang="en-US" sz="5550" dirty="0"/>
          </a:p>
        </p:txBody>
      </p:sp>
      <p:sp>
        <p:nvSpPr>
          <p:cNvPr id="4" name="Shape 2"/>
          <p:cNvSpPr/>
          <p:nvPr/>
        </p:nvSpPr>
        <p:spPr>
          <a:xfrm>
            <a:off x="1047750" y="3466207"/>
            <a:ext cx="8001000" cy="3067050"/>
          </a:xfrm>
          <a:prstGeom prst="roundRect">
            <a:avLst>
              <a:gd name="adj" fmla="val 2484"/>
            </a:avLst>
          </a:prstGeom>
          <a:solidFill>
            <a:srgbClr val="20262D"/>
          </a:solidFill>
          <a:ln/>
        </p:spPr>
      </p:sp>
      <p:sp>
        <p:nvSpPr>
          <p:cNvPr id="5" name="Text 3"/>
          <p:cNvSpPr/>
          <p:nvPr/>
        </p:nvSpPr>
        <p:spPr>
          <a:xfrm>
            <a:off x="1504950" y="3885307"/>
            <a:ext cx="7795260"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C08A3E"/>
                </a:solidFill>
                <a:latin typeface="Courier New" pitchFamily="34" charset="0"/>
                <a:ea typeface="Courier New" pitchFamily="34" charset="-122"/>
                <a:cs typeface="Courier New" pitchFamily="34" charset="-120"/>
              </a:rPr>
              <a:t>THE DETACH TRICK</a:t>
            </a:r>
            <a:endParaRPr lang="en-US" sz="1800" dirty="0"/>
          </a:p>
        </p:txBody>
      </p:sp>
      <p:sp>
        <p:nvSpPr>
          <p:cNvPr id="6" name="Text 4"/>
          <p:cNvSpPr/>
          <p:nvPr/>
        </p:nvSpPr>
        <p:spPr>
          <a:xfrm>
            <a:off x="1504950" y="4399657"/>
            <a:ext cx="7299198" cy="1752600"/>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F2EDE1"/>
                </a:solidFill>
                <a:latin typeface="Arial" pitchFamily="34" charset="0"/>
                <a:ea typeface="Arial" pitchFamily="34" charset="-122"/>
                <a:cs typeface="Arial" pitchFamily="34" charset="-120"/>
              </a:rPr>
              <a:t>Geometry features enter the head as </a:t>
            </a:r>
            <a:pPr algn="l" indent="0" marL="0">
              <a:lnSpc>
                <a:spcPct val="132353"/>
              </a:lnSpc>
              <a:buNone/>
            </a:pPr>
            <a:r>
              <a:rPr lang="en-US" sz="2250" dirty="0">
                <a:solidFill>
                  <a:srgbClr val="C08A3E"/>
                </a:solidFill>
                <a:latin typeface="Courier New" pitchFamily="34" charset="0"/>
                <a:ea typeface="Courier New" pitchFamily="34" charset="-122"/>
                <a:cs typeface="Courier New" pitchFamily="34" charset="-120"/>
              </a:rPr>
              <a:t>h.detach() </a:t>
            </a:r>
            <a:pPr algn="l" indent="0" marL="0">
              <a:lnSpc>
                <a:spcPct val="132353"/>
              </a:lnSpc>
              <a:buNone/>
            </a:pPr>
            <a:r>
              <a:rPr lang="en-US" sz="2250" dirty="0">
                <a:solidFill>
                  <a:srgbClr val="F2EDE1"/>
                </a:solidFill>
                <a:latin typeface="Arial" pitchFamily="34" charset="0"/>
                <a:ea typeface="Arial" pitchFamily="34" charset="-122"/>
                <a:cs typeface="Arial" pitchFamily="34" charset="-120"/>
              </a:rPr>
              <a:t>. Geometry and energy have conflicting gradients — detaching lets the head specialize without melting the graph.</a:t>
            </a:r>
            <a:endParaRPr lang="en-US" sz="2250" dirty="0"/>
          </a:p>
        </p:txBody>
      </p:sp>
      <p:sp>
        <p:nvSpPr>
          <p:cNvPr id="7" name="Text 5"/>
          <p:cNvSpPr/>
          <p:nvPr/>
        </p:nvSpPr>
        <p:spPr>
          <a:xfrm>
            <a:off x="9582150" y="3466207"/>
            <a:ext cx="779526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2F7A6F"/>
                </a:solidFill>
                <a:latin typeface="Courier New" pitchFamily="34" charset="0"/>
                <a:ea typeface="Courier New" pitchFamily="34" charset="-122"/>
                <a:cs typeface="Courier New" pitchFamily="34" charset="-120"/>
              </a:rPr>
              <a:t>HOW IT PREDICTS</a:t>
            </a:r>
            <a:endParaRPr lang="en-US" sz="1800" dirty="0"/>
          </a:p>
        </p:txBody>
      </p:sp>
      <p:sp>
        <p:nvSpPr>
          <p:cNvPr id="8" name="Text 6"/>
          <p:cNvSpPr/>
          <p:nvPr/>
        </p:nvSpPr>
        <p:spPr>
          <a:xfrm>
            <a:off x="9636443" y="3980557"/>
            <a:ext cx="7237476" cy="894159"/>
          </a:xfrm>
          <a:prstGeom prst="rect">
            <a:avLst/>
          </a:prstGeom>
          <a:noFill/>
          <a:ln/>
        </p:spPr>
        <p:txBody>
          <a:bodyPr wrap="square" lIns="25400" tIns="25400" rIns="25400" bIns="25400" rtlCol="0" anchor="t">
            <a:normAutofit/>
          </a:bodyPr>
          <a:lstStyle/>
          <a:p>
            <a:pPr algn="l" marL="193358" indent="-193358">
              <a:lnSpc>
                <a:spcPct val="136212"/>
              </a:lnSpc>
              <a:buSzPct val="100000"/>
              <a:buChar char="•"/>
              <a:tabLst>
                <a:tab pos="193358" algn="l"/>
              </a:tabLst>
            </a:pPr>
            <a:r>
              <a:rPr lang="en-US" sz="2175" dirty="0">
                <a:solidFill>
                  <a:srgbClr val="20262D"/>
                </a:solidFill>
                <a:latin typeface="Arial" pitchFamily="34" charset="0"/>
                <a:ea typeface="Arial" pitchFamily="34" charset="-122"/>
                <a:cs typeface="Arial" pitchFamily="34" charset="-120"/>
              </a:rPr>
              <a:t>Cross-attends over EGNN node features to weight reaction-center atoms</a:t>
            </a:r>
            <a:endParaRPr lang="en-US" sz="2175" dirty="0"/>
          </a:p>
        </p:txBody>
      </p:sp>
      <p:sp>
        <p:nvSpPr>
          <p:cNvPr id="9" name="Text 7"/>
          <p:cNvSpPr/>
          <p:nvPr/>
        </p:nvSpPr>
        <p:spPr>
          <a:xfrm>
            <a:off x="9636443" y="5008066"/>
            <a:ext cx="7237476" cy="944761"/>
          </a:xfrm>
          <a:prstGeom prst="rect">
            <a:avLst/>
          </a:prstGeom>
          <a:noFill/>
          <a:ln/>
        </p:spPr>
        <p:txBody>
          <a:bodyPr wrap="square" lIns="25400" tIns="25400" rIns="25400" bIns="25400" rtlCol="0" anchor="t">
            <a:normAutofit/>
          </a:bodyPr>
          <a:lstStyle/>
          <a:p>
            <a:pPr algn="l" marL="193358" indent="-193358">
              <a:lnSpc>
                <a:spcPct val="136212"/>
              </a:lnSpc>
              <a:buSzPct val="100000"/>
              <a:buChar char="•"/>
            </a:pPr>
            <a:r>
              <a:rPr lang="en-US" sz="2175" dirty="0">
                <a:solidFill>
                  <a:srgbClr val="20262D"/>
                </a:solidFill>
                <a:latin typeface="Arial" pitchFamily="34" charset="0"/>
                <a:ea typeface="Arial" pitchFamily="34" charset="-122"/>
                <a:cs typeface="Arial" pitchFamily="34" charset="-120"/>
              </a:rPr>
              <a:t>Pools with a 20-D energy descriptor (ΔE</a:t>
            </a:r>
            <a:pPr algn="l" indent="0" marL="0">
              <a:lnSpc>
                <a:spcPct val="136212"/>
              </a:lnSpc>
              <a:buNone/>
            </a:pPr>
            <a:r>
              <a:rPr lang="en-US" sz="1813" baseline="-40000" dirty="0">
                <a:solidFill>
                  <a:srgbClr val="20262D"/>
                </a:solidFill>
                <a:latin typeface="Arial" pitchFamily="34" charset="0"/>
                <a:ea typeface="Arial" pitchFamily="34" charset="-122"/>
                <a:cs typeface="Arial" pitchFamily="34" charset="-120"/>
              </a:rPr>
              <a:t>rxn </a:t>
            </a:r>
            <a:pPr algn="l" indent="0" marL="0">
              <a:lnSpc>
                <a:spcPct val="136212"/>
              </a:lnSpc>
              <a:buNone/>
            </a:pPr>
            <a:r>
              <a:rPr lang="en-US" sz="2175" dirty="0">
                <a:solidFill>
                  <a:srgbClr val="20262D"/>
                </a:solidFill>
                <a:latin typeface="Arial" pitchFamily="34" charset="0"/>
                <a:ea typeface="Arial" pitchFamily="34" charset="-122"/>
                <a:cs typeface="Arial" pitchFamily="34" charset="-120"/>
              </a:rPr>
              <a:t>, bond-angle change, sizes)</a:t>
            </a:r>
            <a:endParaRPr lang="en-US" sz="2175" dirty="0"/>
          </a:p>
        </p:txBody>
      </p:sp>
      <p:sp>
        <p:nvSpPr>
          <p:cNvPr id="10" name="Text 8"/>
          <p:cNvSpPr/>
          <p:nvPr/>
        </p:nvSpPr>
        <p:spPr>
          <a:xfrm>
            <a:off x="9636443" y="6086177"/>
            <a:ext cx="7716202" cy="466130"/>
          </a:xfrm>
          <a:prstGeom prst="rect">
            <a:avLst/>
          </a:prstGeom>
          <a:noFill/>
          <a:ln/>
        </p:spPr>
        <p:txBody>
          <a:bodyPr wrap="square" lIns="25400" tIns="25400" rIns="25400" bIns="25400" rtlCol="0" anchor="t">
            <a:normAutofit/>
          </a:bodyPr>
          <a:lstStyle/>
          <a:p>
            <a:pPr algn="l" marL="193358" indent="-193358">
              <a:lnSpc>
                <a:spcPct val="136212"/>
              </a:lnSpc>
              <a:buSzPct val="100000"/>
              <a:buChar char="•"/>
              <a:tabLst>
                <a:tab pos="193358" algn="l"/>
              </a:tabLst>
            </a:pPr>
            <a:r>
              <a:rPr lang="en-US" sz="2175" dirty="0">
                <a:solidFill>
                  <a:srgbClr val="20262D"/>
                </a:solidFill>
                <a:latin typeface="Arial" pitchFamily="34" charset="0"/>
                <a:ea typeface="Arial" pitchFamily="34" charset="-122"/>
                <a:cs typeface="Arial" pitchFamily="34" charset="-120"/>
              </a:rPr>
              <a:t>ZPE-corrected barrier target, in kcal/mol</a:t>
            </a:r>
            <a:endParaRPr lang="en-US" sz="2175" dirty="0"/>
          </a:p>
        </p:txBody>
      </p:sp>
      <p:sp>
        <p:nvSpPr>
          <p:cNvPr id="11" name="Text 9"/>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12" name="Text 10"/>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10</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THE LOSS FUNCTION</a:t>
            </a:r>
            <a:endParaRPr lang="en-US" sz="1800" dirty="0"/>
          </a:p>
        </p:txBody>
      </p:sp>
      <p:sp>
        <p:nvSpPr>
          <p:cNvPr id="3" name="Text 1"/>
          <p:cNvSpPr/>
          <p:nvPr/>
        </p:nvSpPr>
        <p:spPr>
          <a:xfrm>
            <a:off x="1047750" y="1428750"/>
            <a:ext cx="9339068"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One objective, five physics-informed terms</a:t>
            </a:r>
            <a:endParaRPr lang="en-US" sz="5550" dirty="0"/>
          </a:p>
        </p:txBody>
      </p:sp>
      <p:sp>
        <p:nvSpPr>
          <p:cNvPr id="4" name="Shape 2"/>
          <p:cNvSpPr/>
          <p:nvPr/>
        </p:nvSpPr>
        <p:spPr>
          <a:xfrm>
            <a:off x="1047750" y="3313807"/>
            <a:ext cx="15811500" cy="1038225"/>
          </a:xfrm>
          <a:prstGeom prst="roundRect">
            <a:avLst>
              <a:gd name="adj" fmla="val 7339"/>
            </a:avLst>
          </a:prstGeom>
          <a:solidFill>
            <a:srgbClr val="20262D"/>
          </a:solidFill>
          <a:ln/>
        </p:spPr>
      </p:sp>
      <p:sp>
        <p:nvSpPr>
          <p:cNvPr id="5" name="Text 3"/>
          <p:cNvSpPr/>
          <p:nvPr/>
        </p:nvSpPr>
        <p:spPr>
          <a:xfrm>
            <a:off x="1210628" y="3618607"/>
            <a:ext cx="15485745" cy="466725"/>
          </a:xfrm>
          <a:prstGeom prst="rect">
            <a:avLst/>
          </a:prstGeom>
          <a:noFill/>
          <a:ln/>
        </p:spPr>
        <p:txBody>
          <a:bodyPr wrap="square" lIns="25400" tIns="25400" rIns="25400" bIns="25400" rtlCol="0" anchor="t">
            <a:normAutofit/>
          </a:bodyPr>
          <a:lstStyle/>
          <a:p>
            <a:pPr algn="ctr" indent="0" marL="0">
              <a:buNone/>
            </a:pPr>
            <a:r>
              <a:rPr lang="en-US" sz="2250" dirty="0">
                <a:solidFill>
                  <a:srgbClr val="F2EDE1"/>
                </a:solidFill>
                <a:highlight>
                  <a:srgbClr val="20262D"/>
                </a:highlight>
                <a:latin typeface="Courier New" pitchFamily="34" charset="0"/>
                <a:ea typeface="Courier New" pitchFamily="34" charset="-122"/>
                <a:cs typeface="Courier New" pitchFamily="34" charset="-120"/>
              </a:rPr>
              <a:t>L = L</a:t>
            </a:r>
            <a:pPr algn="ctr" indent="0" marL="0">
              <a:buNone/>
            </a:pPr>
            <a:r>
              <a:rPr lang="en-US" sz="1875" baseline="-40000" dirty="0">
                <a:solidFill>
                  <a:srgbClr val="2F7A6F"/>
                </a:solidFill>
                <a:latin typeface="Courier New" pitchFamily="34" charset="0"/>
                <a:ea typeface="Courier New" pitchFamily="34" charset="-122"/>
                <a:cs typeface="Courier New" pitchFamily="34" charset="-120"/>
              </a:rPr>
              <a:t>geom </a:t>
            </a:r>
            <a:pPr algn="ctr" indent="0" marL="0">
              <a:buNone/>
            </a:pPr>
            <a:r>
              <a:rPr lang="en-US" sz="2250" dirty="0">
                <a:solidFill>
                  <a:srgbClr val="F2EDE1"/>
                </a:solidFill>
                <a:highlight>
                  <a:srgbClr val="20262D"/>
                </a:highlight>
                <a:latin typeface="Courier New" pitchFamily="34" charset="0"/>
                <a:ea typeface="Courier New" pitchFamily="34" charset="-122"/>
                <a:cs typeface="Courier New" pitchFamily="34" charset="-120"/>
              </a:rPr>
              <a:t>+ L</a:t>
            </a:r>
            <a:pPr algn="ctr" indent="0" marL="0">
              <a:buNone/>
            </a:pPr>
            <a:r>
              <a:rPr lang="en-US" sz="1875" baseline="-40000" dirty="0">
                <a:solidFill>
                  <a:srgbClr val="F2EDE1"/>
                </a:solidFill>
                <a:latin typeface="Courier New" pitchFamily="34" charset="0"/>
                <a:ea typeface="Courier New" pitchFamily="34" charset="-122"/>
                <a:cs typeface="Courier New" pitchFamily="34" charset="-120"/>
              </a:rPr>
              <a:t>coarse </a:t>
            </a:r>
            <a:pPr algn="ctr" indent="0" marL="0">
              <a:buNone/>
            </a:pPr>
            <a:r>
              <a:rPr lang="en-US" sz="2250" dirty="0">
                <a:solidFill>
                  <a:srgbClr val="F2EDE1"/>
                </a:solidFill>
                <a:highlight>
                  <a:srgbClr val="20262D"/>
                </a:highlight>
                <a:latin typeface="Courier New" pitchFamily="34" charset="0"/>
                <a:ea typeface="Courier New" pitchFamily="34" charset="-122"/>
                <a:cs typeface="Courier New" pitchFamily="34" charset="-120"/>
              </a:rPr>
              <a:t>+ L</a:t>
            </a:r>
            <a:pPr algn="ctr" indent="0" marL="0">
              <a:buNone/>
            </a:pPr>
            <a:r>
              <a:rPr lang="en-US" sz="1875" baseline="-40000" dirty="0">
                <a:solidFill>
                  <a:srgbClr val="F2EDE1"/>
                </a:solidFill>
                <a:latin typeface="Courier New" pitchFamily="34" charset="0"/>
                <a:ea typeface="Courier New" pitchFamily="34" charset="-122"/>
                <a:cs typeface="Courier New" pitchFamily="34" charset="-120"/>
              </a:rPr>
              <a:t>triangle </a:t>
            </a:r>
            <a:pPr algn="ctr" indent="0" marL="0">
              <a:buNone/>
            </a:pPr>
            <a:r>
              <a:rPr lang="en-US" sz="2250" dirty="0">
                <a:solidFill>
                  <a:srgbClr val="F2EDE1"/>
                </a:solidFill>
                <a:highlight>
                  <a:srgbClr val="20262D"/>
                </a:highlight>
                <a:latin typeface="Courier New" pitchFamily="34" charset="0"/>
                <a:ea typeface="Courier New" pitchFamily="34" charset="-122"/>
                <a:cs typeface="Courier New" pitchFamily="34" charset="-120"/>
              </a:rPr>
              <a:t>+ L</a:t>
            </a:r>
            <a:pPr algn="ctr" indent="0" marL="0">
              <a:buNone/>
            </a:pPr>
            <a:r>
              <a:rPr lang="en-US" sz="1875" baseline="-40000" dirty="0">
                <a:solidFill>
                  <a:srgbClr val="F2EDE1"/>
                </a:solidFill>
                <a:latin typeface="Courier New" pitchFamily="34" charset="0"/>
                <a:ea typeface="Courier New" pitchFamily="34" charset="-122"/>
                <a:cs typeface="Courier New" pitchFamily="34" charset="-120"/>
              </a:rPr>
              <a:t>risk </a:t>
            </a:r>
            <a:pPr algn="ctr" indent="0" marL="0">
              <a:buNone/>
            </a:pPr>
            <a:r>
              <a:rPr lang="en-US" sz="2250" dirty="0">
                <a:solidFill>
                  <a:srgbClr val="F2EDE1"/>
                </a:solidFill>
                <a:highlight>
                  <a:srgbClr val="20262D"/>
                </a:highlight>
                <a:latin typeface="Courier New" pitchFamily="34" charset="0"/>
                <a:ea typeface="Courier New" pitchFamily="34" charset="-122"/>
                <a:cs typeface="Courier New" pitchFamily="34" charset="-120"/>
              </a:rPr>
              <a:t>+ λ · L</a:t>
            </a:r>
            <a:pPr algn="ctr" indent="0" marL="0">
              <a:buNone/>
            </a:pPr>
            <a:r>
              <a:rPr lang="en-US" sz="1875" baseline="-40000" dirty="0">
                <a:solidFill>
                  <a:srgbClr val="C08A3E"/>
                </a:solidFill>
                <a:latin typeface="Courier New" pitchFamily="34" charset="0"/>
                <a:ea typeface="Courier New" pitchFamily="34" charset="-122"/>
                <a:cs typeface="Courier New" pitchFamily="34" charset="-120"/>
              </a:rPr>
              <a:t>Ea</a:t>
            </a:r>
            <a:endParaRPr lang="en-US" sz="2250" dirty="0"/>
          </a:p>
        </p:txBody>
      </p:sp>
      <p:sp>
        <p:nvSpPr>
          <p:cNvPr id="6" name="Shape 4"/>
          <p:cNvSpPr/>
          <p:nvPr/>
        </p:nvSpPr>
        <p:spPr>
          <a:xfrm>
            <a:off x="1047750" y="4675882"/>
            <a:ext cx="3025080" cy="1788914"/>
          </a:xfrm>
          <a:prstGeom prst="roundRect">
            <a:avLst>
              <a:gd name="adj" fmla="val 3195"/>
            </a:avLst>
          </a:prstGeom>
          <a:solidFill>
            <a:srgbClr val="FFFFFF"/>
          </a:solidFill>
          <a:ln w="9525">
            <a:solidFill>
              <a:srgbClr val="DDD6C7"/>
            </a:solidFill>
            <a:prstDash val="solid"/>
          </a:ln>
        </p:spPr>
      </p:sp>
      <p:sp>
        <p:nvSpPr>
          <p:cNvPr id="7" name="Text 5"/>
          <p:cNvSpPr/>
          <p:nvPr/>
        </p:nvSpPr>
        <p:spPr>
          <a:xfrm>
            <a:off x="1285875" y="4933057"/>
            <a:ext cx="2803714"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20262D"/>
                </a:solidFill>
                <a:latin typeface="Arial" pitchFamily="34" charset="0"/>
                <a:ea typeface="Arial" pitchFamily="34" charset="-122"/>
                <a:cs typeface="Arial" pitchFamily="34" charset="-120"/>
              </a:rPr>
              <a:t>Huber geometry</a:t>
            </a:r>
            <a:endParaRPr lang="en-US" sz="2025" dirty="0"/>
          </a:p>
        </p:txBody>
      </p:sp>
      <p:sp>
        <p:nvSpPr>
          <p:cNvPr id="8" name="Text 6"/>
          <p:cNvSpPr/>
          <p:nvPr/>
        </p:nvSpPr>
        <p:spPr>
          <a:xfrm>
            <a:off x="1285875" y="5304532"/>
            <a:ext cx="2625295" cy="603647"/>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6F6A5F"/>
                </a:solidFill>
                <a:latin typeface="Arial" pitchFamily="34" charset="0"/>
                <a:ea typeface="Arial" pitchFamily="34" charset="-122"/>
                <a:cs typeface="Arial" pitchFamily="34" charset="-120"/>
              </a:rPr>
              <a:t>Smooth L1 — no outlier gradient spikes</a:t>
            </a:r>
            <a:endParaRPr lang="en-US" sz="1650" dirty="0"/>
          </a:p>
        </p:txBody>
      </p:sp>
      <p:sp>
        <p:nvSpPr>
          <p:cNvPr id="9" name="Shape 7"/>
          <p:cNvSpPr/>
          <p:nvPr/>
        </p:nvSpPr>
        <p:spPr>
          <a:xfrm>
            <a:off x="4244280" y="4675882"/>
            <a:ext cx="3025080" cy="1788914"/>
          </a:xfrm>
          <a:prstGeom prst="roundRect">
            <a:avLst>
              <a:gd name="adj" fmla="val 3195"/>
            </a:avLst>
          </a:prstGeom>
          <a:solidFill>
            <a:srgbClr val="FFFFFF"/>
          </a:solidFill>
          <a:ln w="9525">
            <a:solidFill>
              <a:srgbClr val="DDD6C7"/>
            </a:solidFill>
            <a:prstDash val="solid"/>
          </a:ln>
        </p:spPr>
      </p:sp>
      <p:sp>
        <p:nvSpPr>
          <p:cNvPr id="10" name="Text 8"/>
          <p:cNvSpPr/>
          <p:nvPr/>
        </p:nvSpPr>
        <p:spPr>
          <a:xfrm>
            <a:off x="4482405" y="4933057"/>
            <a:ext cx="2625295" cy="628650"/>
          </a:xfrm>
          <a:prstGeom prst="rect">
            <a:avLst/>
          </a:prstGeom>
          <a:noFill/>
          <a:ln/>
        </p:spPr>
        <p:txBody>
          <a:bodyPr wrap="square" lIns="25400" tIns="25400" rIns="25400" bIns="25400" rtlCol="0" anchor="t">
            <a:normAutofit/>
          </a:bodyPr>
          <a:lstStyle/>
          <a:p>
            <a:pPr algn="l" indent="0" marL="0">
              <a:buNone/>
            </a:pPr>
            <a:r>
              <a:rPr lang="en-US" sz="2025" b="1" dirty="0">
                <a:solidFill>
                  <a:srgbClr val="20262D"/>
                </a:solidFill>
                <a:latin typeface="Arial" pitchFamily="34" charset="0"/>
                <a:ea typeface="Arial" pitchFamily="34" charset="-122"/>
                <a:cs typeface="Arial" pitchFamily="34" charset="-120"/>
              </a:rPr>
              <a:t>Inverse-distance weight</a:t>
            </a:r>
            <a:endParaRPr lang="en-US" sz="2025" dirty="0"/>
          </a:p>
        </p:txBody>
      </p:sp>
      <p:sp>
        <p:nvSpPr>
          <p:cNvPr id="11" name="Text 9"/>
          <p:cNvSpPr/>
          <p:nvPr/>
        </p:nvSpPr>
        <p:spPr>
          <a:xfrm>
            <a:off x="4482405" y="5599807"/>
            <a:ext cx="2625295" cy="645914"/>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6F6A5F"/>
                </a:solidFill>
                <a:latin typeface="Arial" pitchFamily="34" charset="0"/>
                <a:ea typeface="Arial" pitchFamily="34" charset="-122"/>
                <a:cs typeface="Arial" pitchFamily="34" charset="-120"/>
              </a:rPr>
              <a:t>1 / (D</a:t>
            </a:r>
            <a:pPr algn="l" indent="0" marL="0">
              <a:lnSpc>
                <a:spcPct val="114231"/>
              </a:lnSpc>
              <a:buNone/>
            </a:pPr>
            <a:r>
              <a:rPr lang="en-US" sz="1375" baseline="-40000" dirty="0">
                <a:solidFill>
                  <a:srgbClr val="6F6A5F"/>
                </a:solidFill>
                <a:latin typeface="Arial" pitchFamily="34" charset="0"/>
                <a:ea typeface="Arial" pitchFamily="34" charset="-122"/>
                <a:cs typeface="Arial" pitchFamily="34" charset="-120"/>
              </a:rPr>
              <a:t>TS </a:t>
            </a:r>
            <a:pPr algn="l" indent="0" marL="0">
              <a:lnSpc>
                <a:spcPct val="114231"/>
              </a:lnSpc>
              <a:buNone/>
            </a:pPr>
            <a:r>
              <a:rPr lang="en-US" sz="1650" dirty="0">
                <a:solidFill>
                  <a:srgbClr val="6F6A5F"/>
                </a:solidFill>
                <a:latin typeface="Arial" pitchFamily="34" charset="0"/>
                <a:ea typeface="Arial" pitchFamily="34" charset="-122"/>
                <a:cs typeface="Arial" pitchFamily="34" charset="-120"/>
              </a:rPr>
              <a:t>+1) prioritizes short bonds</a:t>
            </a:r>
            <a:endParaRPr lang="en-US" sz="1650" dirty="0"/>
          </a:p>
        </p:txBody>
      </p:sp>
      <p:sp>
        <p:nvSpPr>
          <p:cNvPr id="12" name="Shape 10"/>
          <p:cNvSpPr/>
          <p:nvPr/>
        </p:nvSpPr>
        <p:spPr>
          <a:xfrm>
            <a:off x="7440811" y="4675882"/>
            <a:ext cx="3025229" cy="1788914"/>
          </a:xfrm>
          <a:prstGeom prst="roundRect">
            <a:avLst>
              <a:gd name="adj" fmla="val 3195"/>
            </a:avLst>
          </a:prstGeom>
          <a:solidFill>
            <a:srgbClr val="FFFFFF"/>
          </a:solidFill>
          <a:ln w="9525">
            <a:solidFill>
              <a:srgbClr val="DDD6C7"/>
            </a:solidFill>
            <a:prstDash val="solid"/>
          </a:ln>
        </p:spPr>
      </p:sp>
      <p:sp>
        <p:nvSpPr>
          <p:cNvPr id="13" name="Text 11"/>
          <p:cNvSpPr/>
          <p:nvPr/>
        </p:nvSpPr>
        <p:spPr>
          <a:xfrm>
            <a:off x="7678936" y="4933057"/>
            <a:ext cx="2803877"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20262D"/>
                </a:solidFill>
                <a:latin typeface="Arial" pitchFamily="34" charset="0"/>
                <a:ea typeface="Arial" pitchFamily="34" charset="-122"/>
                <a:cs typeface="Arial" pitchFamily="34" charset="-120"/>
              </a:rPr>
              <a:t>Triangle</a:t>
            </a:r>
            <a:endParaRPr lang="en-US" sz="2025" dirty="0"/>
          </a:p>
        </p:txBody>
      </p:sp>
      <p:sp>
        <p:nvSpPr>
          <p:cNvPr id="14" name="Text 12"/>
          <p:cNvSpPr/>
          <p:nvPr/>
        </p:nvSpPr>
        <p:spPr>
          <a:xfrm>
            <a:off x="7678936" y="5304532"/>
            <a:ext cx="2625449" cy="603647"/>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6F6A5F"/>
                </a:solidFill>
                <a:latin typeface="Arial" pitchFamily="34" charset="0"/>
                <a:ea typeface="Arial" pitchFamily="34" charset="-122"/>
                <a:cs typeface="Arial" pitchFamily="34" charset="-120"/>
              </a:rPr>
              <a:t>Keeps the distance matrix embeddable</a:t>
            </a:r>
            <a:endParaRPr lang="en-US" sz="1650" dirty="0"/>
          </a:p>
        </p:txBody>
      </p:sp>
      <p:sp>
        <p:nvSpPr>
          <p:cNvPr id="15" name="Shape 13"/>
          <p:cNvSpPr/>
          <p:nvPr/>
        </p:nvSpPr>
        <p:spPr>
          <a:xfrm>
            <a:off x="10637490" y="4675882"/>
            <a:ext cx="3025080" cy="1788914"/>
          </a:xfrm>
          <a:prstGeom prst="roundRect">
            <a:avLst>
              <a:gd name="adj" fmla="val 3195"/>
            </a:avLst>
          </a:prstGeom>
          <a:solidFill>
            <a:srgbClr val="FFFFFF"/>
          </a:solidFill>
          <a:ln w="9525">
            <a:solidFill>
              <a:srgbClr val="DDD6C7"/>
            </a:solidFill>
            <a:prstDash val="solid"/>
          </a:ln>
        </p:spPr>
      </p:sp>
      <p:sp>
        <p:nvSpPr>
          <p:cNvPr id="16" name="Text 14"/>
          <p:cNvSpPr/>
          <p:nvPr/>
        </p:nvSpPr>
        <p:spPr>
          <a:xfrm>
            <a:off x="10875615" y="4933057"/>
            <a:ext cx="2803714"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20262D"/>
                </a:solidFill>
                <a:latin typeface="Arial" pitchFamily="34" charset="0"/>
                <a:ea typeface="Arial" pitchFamily="34" charset="-122"/>
                <a:cs typeface="Arial" pitchFamily="34" charset="-120"/>
              </a:rPr>
              <a:t>Active-site risk</a:t>
            </a:r>
            <a:endParaRPr lang="en-US" sz="2025" dirty="0"/>
          </a:p>
        </p:txBody>
      </p:sp>
      <p:sp>
        <p:nvSpPr>
          <p:cNvPr id="17" name="Text 15"/>
          <p:cNvSpPr/>
          <p:nvPr/>
        </p:nvSpPr>
        <p:spPr>
          <a:xfrm>
            <a:off x="10875615" y="5304532"/>
            <a:ext cx="2625295" cy="603647"/>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6F6A5F"/>
                </a:solidFill>
                <a:latin typeface="Arial" pitchFamily="34" charset="0"/>
                <a:ea typeface="Arial" pitchFamily="34" charset="-122"/>
                <a:cs typeface="Arial" pitchFamily="34" charset="-120"/>
              </a:rPr>
              <a:t>Amplifies changing N–N, N–O, O–O bonds</a:t>
            </a:r>
            <a:endParaRPr lang="en-US" sz="1650" dirty="0"/>
          </a:p>
        </p:txBody>
      </p:sp>
      <p:sp>
        <p:nvSpPr>
          <p:cNvPr id="18" name="Shape 16"/>
          <p:cNvSpPr/>
          <p:nvPr/>
        </p:nvSpPr>
        <p:spPr>
          <a:xfrm>
            <a:off x="13834021" y="4675882"/>
            <a:ext cx="3025229" cy="1788914"/>
          </a:xfrm>
          <a:prstGeom prst="roundRect">
            <a:avLst>
              <a:gd name="adj" fmla="val 3195"/>
            </a:avLst>
          </a:prstGeom>
          <a:solidFill>
            <a:srgbClr val="FFFFFF"/>
          </a:solidFill>
          <a:ln w="9525">
            <a:solidFill>
              <a:srgbClr val="C08A3E"/>
            </a:solidFill>
            <a:prstDash val="solid"/>
          </a:ln>
        </p:spPr>
      </p:sp>
      <p:sp>
        <p:nvSpPr>
          <p:cNvPr id="19" name="Text 17"/>
          <p:cNvSpPr/>
          <p:nvPr/>
        </p:nvSpPr>
        <p:spPr>
          <a:xfrm>
            <a:off x="14072146" y="4933057"/>
            <a:ext cx="2803877"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20262D"/>
                </a:solidFill>
                <a:latin typeface="Arial" pitchFamily="34" charset="0"/>
                <a:ea typeface="Arial" pitchFamily="34" charset="-122"/>
                <a:cs typeface="Arial" pitchFamily="34" charset="-120"/>
              </a:rPr>
              <a:t>Energy (Ea)</a:t>
            </a:r>
            <a:endParaRPr lang="en-US" sz="2025" dirty="0"/>
          </a:p>
        </p:txBody>
      </p:sp>
      <p:sp>
        <p:nvSpPr>
          <p:cNvPr id="20" name="Text 18"/>
          <p:cNvSpPr/>
          <p:nvPr/>
        </p:nvSpPr>
        <p:spPr>
          <a:xfrm>
            <a:off x="14072146" y="5304532"/>
            <a:ext cx="2625449" cy="603647"/>
          </a:xfrm>
          <a:prstGeom prst="rect">
            <a:avLst/>
          </a:prstGeom>
          <a:noFill/>
          <a:ln/>
        </p:spPr>
        <p:txBody>
          <a:bodyPr wrap="square" lIns="25400" tIns="25400" rIns="25400" bIns="25400" rtlCol="0" anchor="t">
            <a:normAutofit/>
          </a:bodyPr>
          <a:lstStyle/>
          <a:p>
            <a:pPr algn="l" indent="0" marL="0">
              <a:lnSpc>
                <a:spcPct val="114231"/>
              </a:lnSpc>
              <a:buNone/>
            </a:pPr>
            <a:r>
              <a:rPr lang="en-US" sz="1650" dirty="0">
                <a:solidFill>
                  <a:srgbClr val="6F6A5F"/>
                </a:solidFill>
                <a:latin typeface="Arial" pitchFamily="34" charset="0"/>
                <a:ea typeface="Arial" pitchFamily="34" charset="-122"/>
                <a:cs typeface="Arial" pitchFamily="34" charset="-120"/>
              </a:rPr>
              <a:t>Tail-weighted, warmup-gated</a:t>
            </a:r>
            <a:endParaRPr lang="en-US" sz="1650" dirty="0"/>
          </a:p>
        </p:txBody>
      </p:sp>
      <p:sp>
        <p:nvSpPr>
          <p:cNvPr id="21" name="Text 19"/>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22" name="Text 20"/>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11</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FAILURE MODE</a:t>
            </a:r>
            <a:endParaRPr lang="en-US" sz="1800" dirty="0"/>
          </a:p>
        </p:txBody>
      </p:sp>
      <p:sp>
        <p:nvSpPr>
          <p:cNvPr id="3" name="Text 1"/>
          <p:cNvSpPr/>
          <p:nvPr/>
        </p:nvSpPr>
        <p:spPr>
          <a:xfrm>
            <a:off x="1047750" y="1428750"/>
            <a:ext cx="7782531" cy="2237036"/>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Fragment melting and the "Clever Hans" energy head</a:t>
            </a:r>
            <a:endParaRPr lang="en-US" sz="5550" dirty="0"/>
          </a:p>
        </p:txBody>
      </p:sp>
      <p:sp>
        <p:nvSpPr>
          <p:cNvPr id="4" name="Shape 2"/>
          <p:cNvSpPr/>
          <p:nvPr/>
        </p:nvSpPr>
        <p:spPr>
          <a:xfrm>
            <a:off x="1047750" y="4161086"/>
            <a:ext cx="7800975" cy="3948559"/>
          </a:xfrm>
          <a:prstGeom prst="roundRect">
            <a:avLst>
              <a:gd name="adj" fmla="val 1930"/>
            </a:avLst>
          </a:prstGeom>
          <a:solidFill>
            <a:srgbClr val="FFFFFF"/>
          </a:solidFill>
          <a:ln w="9525">
            <a:solidFill>
              <a:srgbClr val="DDD6C7"/>
            </a:solidFill>
            <a:prstDash val="solid"/>
          </a:ln>
        </p:spPr>
      </p:sp>
      <p:sp>
        <p:nvSpPr>
          <p:cNvPr id="5" name="Text 3"/>
          <p:cNvSpPr/>
          <p:nvPr/>
        </p:nvSpPr>
        <p:spPr>
          <a:xfrm>
            <a:off x="1457325" y="4532561"/>
            <a:ext cx="7680008" cy="3238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6F6A5F"/>
                </a:solidFill>
                <a:latin typeface="Courier New" pitchFamily="34" charset="0"/>
                <a:ea typeface="Courier New" pitchFamily="34" charset="-122"/>
                <a:cs typeface="Courier New" pitchFamily="34" charset="-120"/>
              </a:rPr>
              <a:t>THE SCALE IMBALANCE</a:t>
            </a:r>
            <a:endParaRPr lang="en-US" sz="1725" dirty="0"/>
          </a:p>
        </p:txBody>
      </p:sp>
      <p:sp>
        <p:nvSpPr>
          <p:cNvPr id="6" name="Text 4"/>
          <p:cNvSpPr/>
          <p:nvPr/>
        </p:nvSpPr>
        <p:spPr>
          <a:xfrm>
            <a:off x="1457325" y="5008811"/>
            <a:ext cx="7191280" cy="1281113"/>
          </a:xfrm>
          <a:prstGeom prst="rect">
            <a:avLst/>
          </a:prstGeom>
          <a:noFill/>
          <a:ln/>
        </p:spPr>
        <p:txBody>
          <a:bodyPr wrap="square" lIns="25400" tIns="25400" rIns="25400" bIns="25400" rtlCol="0" anchor="t">
            <a:normAutofit/>
          </a:bodyPr>
          <a:lstStyle/>
          <a:p>
            <a:pPr algn="l" indent="0" marL="0">
              <a:lnSpc>
                <a:spcPct val="131818"/>
              </a:lnSpc>
              <a:buNone/>
            </a:pPr>
            <a:r>
              <a:rPr lang="en-US" sz="2175" dirty="0">
                <a:solidFill>
                  <a:srgbClr val="20262D"/>
                </a:solidFill>
                <a:latin typeface="Arial" pitchFamily="34" charset="0"/>
                <a:ea typeface="Arial" pitchFamily="34" charset="-122"/>
                <a:cs typeface="Arial" pitchFamily="34" charset="-120"/>
              </a:rPr>
              <a:t>A 10% error on a 10 Å inter-fragment gap produces a huge gradient; the same 10% on a 1.5 Å chemical bond produces almost none.</a:t>
            </a:r>
            <a:endParaRPr lang="en-US" sz="2175" dirty="0"/>
          </a:p>
        </p:txBody>
      </p:sp>
      <p:sp>
        <p:nvSpPr>
          <p:cNvPr id="7" name="Text 5"/>
          <p:cNvSpPr/>
          <p:nvPr/>
        </p:nvSpPr>
        <p:spPr>
          <a:xfrm>
            <a:off x="1457325" y="6442323"/>
            <a:ext cx="7191280" cy="1333946"/>
          </a:xfrm>
          <a:prstGeom prst="rect">
            <a:avLst/>
          </a:prstGeom>
          <a:noFill/>
          <a:ln/>
        </p:spPr>
        <p:txBody>
          <a:bodyPr wrap="square" lIns="25400" tIns="25400" rIns="25400" bIns="25400" rtlCol="0" anchor="t">
            <a:normAutofit/>
          </a:bodyPr>
          <a:lstStyle/>
          <a:p>
            <a:pPr algn="l" indent="0" marL="0">
              <a:lnSpc>
                <a:spcPct val="131818"/>
              </a:lnSpc>
              <a:buNone/>
            </a:pPr>
            <a:r>
              <a:rPr lang="en-US" sz="2175" b="1" dirty="0">
                <a:solidFill>
                  <a:srgbClr val="20262D"/>
                </a:solidFill>
                <a:latin typeface="Arial" pitchFamily="34" charset="0"/>
                <a:ea typeface="Arial" pitchFamily="34" charset="-122"/>
                <a:cs typeface="Arial" pitchFamily="34" charset="-120"/>
              </a:rPr>
              <a:t>Consequence: </a:t>
            </a:r>
            <a:pPr algn="l" indent="0" marL="0">
              <a:lnSpc>
                <a:spcPct val="131818"/>
              </a:lnSpc>
              <a:buNone/>
            </a:pPr>
            <a:r>
              <a:rPr lang="en-US" sz="2175" dirty="0">
                <a:solidFill>
                  <a:srgbClr val="20262D"/>
                </a:solidFill>
                <a:latin typeface="Arial" pitchFamily="34" charset="0"/>
                <a:ea typeface="Arial" pitchFamily="34" charset="-122"/>
                <a:cs typeface="Arial" pitchFamily="34" charset="-120"/>
              </a:rPr>
              <a:t>fragments land in the right region, but local bonds melt — and the energy head quietly regresses off ΔE </a:t>
            </a:r>
            <a:pPr algn="l" indent="0" marL="0">
              <a:lnSpc>
                <a:spcPct val="131818"/>
              </a:lnSpc>
              <a:buNone/>
            </a:pPr>
            <a:r>
              <a:rPr lang="en-US" sz="1813" baseline="-40000" dirty="0">
                <a:solidFill>
                  <a:srgbClr val="20262D"/>
                </a:solidFill>
                <a:latin typeface="Arial" pitchFamily="34" charset="0"/>
                <a:ea typeface="Arial" pitchFamily="34" charset="-122"/>
                <a:cs typeface="Arial" pitchFamily="34" charset="-120"/>
              </a:rPr>
              <a:t>rxn </a:t>
            </a:r>
            <a:pPr algn="l" indent="0" marL="0">
              <a:lnSpc>
                <a:spcPct val="131818"/>
              </a:lnSpc>
              <a:buNone/>
            </a:pPr>
            <a:r>
              <a:rPr lang="en-US" sz="2175" dirty="0">
                <a:solidFill>
                  <a:srgbClr val="20262D"/>
                </a:solidFill>
                <a:latin typeface="Arial" pitchFamily="34" charset="0"/>
                <a:ea typeface="Arial" pitchFamily="34" charset="-122"/>
                <a:cs typeface="Arial" pitchFamily="34" charset="-120"/>
              </a:rPr>
              <a:t>instead of the broken geometry.</a:t>
            </a:r>
            <a:endParaRPr lang="en-US" sz="2175" dirty="0"/>
          </a:p>
        </p:txBody>
      </p:sp>
      <p:sp>
        <p:nvSpPr>
          <p:cNvPr id="8" name="Shape 6"/>
          <p:cNvSpPr/>
          <p:nvPr/>
        </p:nvSpPr>
        <p:spPr>
          <a:xfrm>
            <a:off x="9267825" y="4161086"/>
            <a:ext cx="7781925" cy="3948559"/>
          </a:xfrm>
          <a:prstGeom prst="roundRect">
            <a:avLst>
              <a:gd name="adj" fmla="val 1930"/>
            </a:avLst>
          </a:prstGeom>
          <a:solidFill>
            <a:srgbClr val="20262D"/>
          </a:solidFill>
          <a:ln/>
        </p:spPr>
      </p:sp>
      <p:sp>
        <p:nvSpPr>
          <p:cNvPr id="9" name="Text 7"/>
          <p:cNvSpPr/>
          <p:nvPr/>
        </p:nvSpPr>
        <p:spPr>
          <a:xfrm>
            <a:off x="9667875" y="4523036"/>
            <a:ext cx="7680008" cy="3238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C08A3E"/>
                </a:solidFill>
                <a:latin typeface="Courier New" pitchFamily="34" charset="0"/>
                <a:ea typeface="Courier New" pitchFamily="34" charset="-122"/>
                <a:cs typeface="Courier New" pitchFamily="34" charset="-120"/>
              </a:rPr>
              <a:t>THE FIX</a:t>
            </a:r>
            <a:endParaRPr lang="en-US" sz="1725" dirty="0"/>
          </a:p>
        </p:txBody>
      </p:sp>
      <p:sp>
        <p:nvSpPr>
          <p:cNvPr id="10" name="Text 8"/>
          <p:cNvSpPr/>
          <p:nvPr/>
        </p:nvSpPr>
        <p:spPr>
          <a:xfrm>
            <a:off x="9667875" y="5056436"/>
            <a:ext cx="7680008" cy="521940"/>
          </a:xfrm>
          <a:prstGeom prst="rect">
            <a:avLst/>
          </a:prstGeom>
          <a:noFill/>
          <a:ln/>
        </p:spPr>
        <p:txBody>
          <a:bodyPr wrap="square" lIns="25400" tIns="25400" rIns="25400" bIns="25400" rtlCol="0" anchor="t">
            <a:normAutofit/>
          </a:bodyPr>
          <a:lstStyle/>
          <a:p>
            <a:pPr algn="l" indent="0" marL="0">
              <a:buNone/>
            </a:pPr>
            <a:r>
              <a:rPr lang="en-US" sz="2550" dirty="0">
                <a:solidFill>
                  <a:srgbClr val="C08A3E"/>
                </a:solidFill>
                <a:latin typeface="Courier New" pitchFamily="34" charset="0"/>
                <a:ea typeface="Courier New" pitchFamily="34" charset="-122"/>
                <a:cs typeface="Courier New" pitchFamily="34" charset="-120"/>
              </a:rPr>
              <a:t>w</a:t>
            </a:r>
            <a:pPr algn="l" indent="0" marL="0">
              <a:buNone/>
            </a:pPr>
            <a:r>
              <a:rPr lang="en-US" sz="2125" baseline="-40000" dirty="0">
                <a:solidFill>
                  <a:srgbClr val="C08A3E"/>
                </a:solidFill>
                <a:latin typeface="Courier New" pitchFamily="34" charset="0"/>
                <a:ea typeface="Courier New" pitchFamily="34" charset="-122"/>
                <a:cs typeface="Courier New" pitchFamily="34" charset="-120"/>
              </a:rPr>
              <a:t>ij </a:t>
            </a:r>
            <a:pPr algn="l" indent="0" marL="0">
              <a:buNone/>
            </a:pPr>
            <a:r>
              <a:rPr lang="en-US" sz="2550" dirty="0">
                <a:solidFill>
                  <a:srgbClr val="C08A3E"/>
                </a:solidFill>
                <a:latin typeface="Courier New" pitchFamily="34" charset="0"/>
                <a:ea typeface="Courier New" pitchFamily="34" charset="-122"/>
                <a:cs typeface="Courier New" pitchFamily="34" charset="-120"/>
              </a:rPr>
              <a:t>= 1 / (D</a:t>
            </a:r>
            <a:pPr algn="l" indent="0" marL="0">
              <a:buNone/>
            </a:pPr>
            <a:r>
              <a:rPr lang="en-US" sz="2125" baseline="-40000" dirty="0">
                <a:solidFill>
                  <a:srgbClr val="C08A3E"/>
                </a:solidFill>
                <a:latin typeface="Courier New" pitchFamily="34" charset="0"/>
                <a:ea typeface="Courier New" pitchFamily="34" charset="-122"/>
                <a:cs typeface="Courier New" pitchFamily="34" charset="-120"/>
              </a:rPr>
              <a:t>TS,ij </a:t>
            </a:r>
            <a:pPr algn="l" indent="0" marL="0">
              <a:buNone/>
            </a:pPr>
            <a:r>
              <a:rPr lang="en-US" sz="2550" dirty="0">
                <a:solidFill>
                  <a:srgbClr val="C08A3E"/>
                </a:solidFill>
                <a:latin typeface="Courier New" pitchFamily="34" charset="0"/>
                <a:ea typeface="Courier New" pitchFamily="34" charset="-122"/>
                <a:cs typeface="Courier New" pitchFamily="34" charset="-120"/>
              </a:rPr>
              <a:t>+ 1)</a:t>
            </a:r>
            <a:endParaRPr lang="en-US" sz="2550" dirty="0"/>
          </a:p>
        </p:txBody>
      </p:sp>
      <p:sp>
        <p:nvSpPr>
          <p:cNvPr id="11" name="Text 9"/>
          <p:cNvSpPr/>
          <p:nvPr/>
        </p:nvSpPr>
        <p:spPr>
          <a:xfrm>
            <a:off x="9667875" y="5787926"/>
            <a:ext cx="7191280" cy="1281113"/>
          </a:xfrm>
          <a:prstGeom prst="rect">
            <a:avLst/>
          </a:prstGeom>
          <a:noFill/>
          <a:ln/>
        </p:spPr>
        <p:txBody>
          <a:bodyPr wrap="square" lIns="25400" tIns="25400" rIns="25400" bIns="25400" rtlCol="0" anchor="t">
            <a:normAutofit/>
          </a:bodyPr>
          <a:lstStyle/>
          <a:p>
            <a:pPr algn="l" indent="0" marL="0">
              <a:lnSpc>
                <a:spcPct val="131818"/>
              </a:lnSpc>
              <a:buNone/>
            </a:pPr>
            <a:r>
              <a:rPr lang="en-US" sz="2175" dirty="0">
                <a:solidFill>
                  <a:srgbClr val="F2EDE1"/>
                </a:solidFill>
                <a:latin typeface="Arial" pitchFamily="34" charset="0"/>
                <a:ea typeface="Arial" pitchFamily="34" charset="-122"/>
                <a:cs typeface="Arial" pitchFamily="34" charset="-120"/>
              </a:rPr>
              <a:t>Inverse-distance weighting equalizes gradients across scales, forcing the network to respect short-range chemistry. A structural fix, not a metric patch.</a:t>
            </a:r>
            <a:endParaRPr lang="en-US" sz="2175" dirty="0"/>
          </a:p>
        </p:txBody>
      </p:sp>
      <p:sp>
        <p:nvSpPr>
          <p:cNvPr id="12" name="Text 10"/>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13" name="Text 11"/>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12</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BUG FIXED</a:t>
            </a:r>
            <a:endParaRPr lang="en-US" sz="1800" dirty="0"/>
          </a:p>
        </p:txBody>
      </p:sp>
      <p:sp>
        <p:nvSpPr>
          <p:cNvPr id="3" name="Text 1"/>
          <p:cNvSpPr/>
          <p:nvPr/>
        </p:nvSpPr>
        <p:spPr>
          <a:xfrm>
            <a:off x="1047750" y="1428750"/>
            <a:ext cx="8560799"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Evaluation was scoring on leaked training data</a:t>
            </a:r>
            <a:endParaRPr lang="en-US" sz="5550" dirty="0"/>
          </a:p>
        </p:txBody>
      </p:sp>
      <p:sp>
        <p:nvSpPr>
          <p:cNvPr id="4" name="Shape 2"/>
          <p:cNvSpPr/>
          <p:nvPr/>
        </p:nvSpPr>
        <p:spPr>
          <a:xfrm>
            <a:off x="1047750" y="3466207"/>
            <a:ext cx="7191375" cy="3199209"/>
          </a:xfrm>
          <a:prstGeom prst="roundRect">
            <a:avLst>
              <a:gd name="adj" fmla="val 2382"/>
            </a:avLst>
          </a:prstGeom>
          <a:solidFill>
            <a:srgbClr val="FFFFFF"/>
          </a:solidFill>
          <a:ln w="9525">
            <a:solidFill>
              <a:srgbClr val="DDD6C7"/>
            </a:solidFill>
            <a:prstDash val="solid"/>
          </a:ln>
        </p:spPr>
      </p:sp>
      <p:sp>
        <p:nvSpPr>
          <p:cNvPr id="5" name="Text 3"/>
          <p:cNvSpPr/>
          <p:nvPr/>
        </p:nvSpPr>
        <p:spPr>
          <a:xfrm>
            <a:off x="1476375" y="3856732"/>
            <a:ext cx="6967537" cy="3238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B4462F"/>
                </a:solidFill>
                <a:latin typeface="Courier New" pitchFamily="34" charset="0"/>
                <a:ea typeface="Courier New" pitchFamily="34" charset="-122"/>
                <a:cs typeface="Courier New" pitchFamily="34" charset="-120"/>
              </a:rPr>
              <a:t>BEFORE</a:t>
            </a:r>
            <a:endParaRPr lang="en-US" sz="1725" dirty="0"/>
          </a:p>
        </p:txBody>
      </p:sp>
      <p:sp>
        <p:nvSpPr>
          <p:cNvPr id="6" name="Text 4"/>
          <p:cNvSpPr/>
          <p:nvPr/>
        </p:nvSpPr>
        <p:spPr>
          <a:xfrm>
            <a:off x="1476375" y="4313932"/>
            <a:ext cx="6524149" cy="1043880"/>
          </a:xfrm>
          <a:prstGeom prst="rect">
            <a:avLst/>
          </a:prstGeom>
          <a:noFill/>
          <a:ln/>
        </p:spPr>
        <p:txBody>
          <a:bodyPr wrap="square" lIns="25400" tIns="25400" rIns="25400" bIns="25400" rtlCol="0" anchor="t">
            <a:normAutofit/>
          </a:bodyPr>
          <a:lstStyle/>
          <a:p>
            <a:pPr algn="l" indent="0" marL="0">
              <a:lnSpc>
                <a:spcPct val="105600"/>
              </a:lnSpc>
              <a:buNone/>
            </a:pPr>
            <a:r>
              <a:rPr lang="en-US" sz="3300" dirty="0">
                <a:solidFill>
                  <a:srgbClr val="20262D"/>
                </a:solidFill>
                <a:latin typeface="Georgia" pitchFamily="34" charset="0"/>
                <a:ea typeface="Georgia" pitchFamily="34" charset="-122"/>
                <a:cs typeface="Georgia" pitchFamily="34" charset="-120"/>
              </a:rPr>
              <a:t>Random </a:t>
            </a:r>
            <a:pPr algn="l" indent="0" marL="0">
              <a:lnSpc>
                <a:spcPct val="105600"/>
              </a:lnSpc>
              <a:buNone/>
            </a:pPr>
            <a:r>
              <a:rPr lang="en-US" sz="2550" dirty="0">
                <a:solidFill>
                  <a:srgbClr val="20262D"/>
                </a:solidFill>
                <a:latin typeface="Courier New" pitchFamily="34" charset="0"/>
                <a:ea typeface="Courier New" pitchFamily="34" charset="-122"/>
                <a:cs typeface="Courier New" pitchFamily="34" charset="-120"/>
              </a:rPr>
              <a:t>torch.randperm </a:t>
            </a:r>
            <a:pPr algn="l" indent="0" marL="0">
              <a:lnSpc>
                <a:spcPct val="105600"/>
              </a:lnSpc>
              <a:buNone/>
            </a:pPr>
            <a:r>
              <a:rPr lang="en-US" sz="3300" dirty="0">
                <a:solidFill>
                  <a:srgbClr val="20262D"/>
                </a:solidFill>
                <a:latin typeface="Georgia" pitchFamily="34" charset="0"/>
                <a:ea typeface="Georgia" pitchFamily="34" charset="-122"/>
                <a:cs typeface="Georgia" pitchFamily="34" charset="-120"/>
              </a:rPr>
              <a:t>shuffle at eval time</a:t>
            </a:r>
            <a:endParaRPr lang="en-US" sz="3300" dirty="0"/>
          </a:p>
        </p:txBody>
      </p:sp>
      <p:sp>
        <p:nvSpPr>
          <p:cNvPr id="7" name="Text 5"/>
          <p:cNvSpPr/>
          <p:nvPr/>
        </p:nvSpPr>
        <p:spPr>
          <a:xfrm>
            <a:off x="1476375" y="5529263"/>
            <a:ext cx="6524149"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6F6A5F"/>
                </a:solidFill>
                <a:latin typeface="Arial" pitchFamily="34" charset="0"/>
                <a:ea typeface="Arial" pitchFamily="34" charset="-122"/>
                <a:cs typeface="Arial" pitchFamily="34" charset="-120"/>
              </a:rPr>
              <a:t>Validation flooded with ~90% training reactions. Metrics looked strong for the wrong reason.</a:t>
            </a:r>
            <a:endParaRPr lang="en-US" sz="2025" dirty="0"/>
          </a:p>
        </p:txBody>
      </p:sp>
      <p:sp>
        <p:nvSpPr>
          <p:cNvPr id="8" name="Text 6"/>
          <p:cNvSpPr/>
          <p:nvPr/>
        </p:nvSpPr>
        <p:spPr>
          <a:xfrm>
            <a:off x="8658225" y="4599087"/>
            <a:ext cx="685800" cy="971550"/>
          </a:xfrm>
          <a:prstGeom prst="rect">
            <a:avLst/>
          </a:prstGeom>
          <a:noFill/>
          <a:ln/>
        </p:spPr>
        <p:txBody>
          <a:bodyPr wrap="square" lIns="25400" tIns="25400" rIns="25400" bIns="25400" rtlCol="0" anchor="t">
            <a:normAutofit/>
          </a:bodyPr>
          <a:lstStyle/>
          <a:p>
            <a:pPr algn="l" indent="0" marL="0">
              <a:buNone/>
            </a:pPr>
            <a:r>
              <a:rPr lang="en-US" sz="4800" dirty="0">
                <a:solidFill>
                  <a:srgbClr val="2F7A6F"/>
                </a:solidFill>
                <a:latin typeface="Georgia" pitchFamily="34" charset="0"/>
                <a:ea typeface="Georgia" pitchFamily="34" charset="-122"/>
                <a:cs typeface="Georgia" pitchFamily="34" charset="-120"/>
              </a:rPr>
              <a:t>→</a:t>
            </a:r>
            <a:endParaRPr lang="en-US" sz="4800" dirty="0"/>
          </a:p>
        </p:txBody>
      </p:sp>
      <p:sp>
        <p:nvSpPr>
          <p:cNvPr id="9" name="Shape 7"/>
          <p:cNvSpPr/>
          <p:nvPr/>
        </p:nvSpPr>
        <p:spPr>
          <a:xfrm>
            <a:off x="9686925" y="3466207"/>
            <a:ext cx="7172325" cy="3199209"/>
          </a:xfrm>
          <a:prstGeom prst="roundRect">
            <a:avLst>
              <a:gd name="adj" fmla="val 2382"/>
            </a:avLst>
          </a:prstGeom>
          <a:solidFill>
            <a:srgbClr val="20262D"/>
          </a:solidFill>
          <a:ln/>
        </p:spPr>
      </p:sp>
      <p:sp>
        <p:nvSpPr>
          <p:cNvPr id="10" name="Text 8"/>
          <p:cNvSpPr/>
          <p:nvPr/>
        </p:nvSpPr>
        <p:spPr>
          <a:xfrm>
            <a:off x="10106025" y="3847207"/>
            <a:ext cx="6967537" cy="3238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C08A3E"/>
                </a:solidFill>
                <a:latin typeface="Courier New" pitchFamily="34" charset="0"/>
                <a:ea typeface="Courier New" pitchFamily="34" charset="-122"/>
                <a:cs typeface="Courier New" pitchFamily="34" charset="-120"/>
              </a:rPr>
              <a:t>AFTER</a:t>
            </a:r>
            <a:endParaRPr lang="en-US" sz="1725" dirty="0"/>
          </a:p>
        </p:txBody>
      </p:sp>
      <p:sp>
        <p:nvSpPr>
          <p:cNvPr id="11" name="Text 9"/>
          <p:cNvSpPr/>
          <p:nvPr/>
        </p:nvSpPr>
        <p:spPr>
          <a:xfrm>
            <a:off x="10106025" y="4304407"/>
            <a:ext cx="6524149" cy="1043880"/>
          </a:xfrm>
          <a:prstGeom prst="rect">
            <a:avLst/>
          </a:prstGeom>
          <a:noFill/>
          <a:ln/>
        </p:spPr>
        <p:txBody>
          <a:bodyPr wrap="square" lIns="25400" tIns="25400" rIns="25400" bIns="25400" rtlCol="0" anchor="t">
            <a:normAutofit/>
          </a:bodyPr>
          <a:lstStyle/>
          <a:p>
            <a:pPr algn="l" indent="0" marL="0">
              <a:lnSpc>
                <a:spcPct val="105600"/>
              </a:lnSpc>
              <a:buNone/>
            </a:pPr>
            <a:r>
              <a:rPr lang="en-US" sz="3300" dirty="0">
                <a:solidFill>
                  <a:srgbClr val="F2EDE1"/>
                </a:solidFill>
                <a:latin typeface="Georgia" pitchFamily="34" charset="0"/>
                <a:ea typeface="Georgia" pitchFamily="34" charset="-122"/>
                <a:cs typeface="Georgia" pitchFamily="34" charset="-120"/>
              </a:rPr>
              <a:t>Same stratified split used for training</a:t>
            </a:r>
            <a:endParaRPr lang="en-US" sz="3300" dirty="0"/>
          </a:p>
        </p:txBody>
      </p:sp>
      <p:sp>
        <p:nvSpPr>
          <p:cNvPr id="12" name="Text 10"/>
          <p:cNvSpPr/>
          <p:nvPr/>
        </p:nvSpPr>
        <p:spPr>
          <a:xfrm>
            <a:off x="10106025" y="5519738"/>
            <a:ext cx="6524149"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A9A396"/>
                </a:solidFill>
                <a:latin typeface="Arial" pitchFamily="34" charset="0"/>
                <a:ea typeface="Arial" pitchFamily="34" charset="-122"/>
                <a:cs typeface="Arial" pitchFamily="34" charset="-120"/>
              </a:rPr>
              <a:t>Zero leaked reaction ids. Every metric on the following slides is measured on genuinely held-out reactions.</a:t>
            </a:r>
            <a:endParaRPr lang="en-US" sz="2025" dirty="0"/>
          </a:p>
        </p:txBody>
      </p:sp>
      <p:sp>
        <p:nvSpPr>
          <p:cNvPr id="13" name="Text 11"/>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14" name="Text 12"/>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13</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0262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C08A3E"/>
                </a:solidFill>
                <a:latin typeface="Courier New" pitchFamily="34" charset="0"/>
                <a:ea typeface="Courier New" pitchFamily="34" charset="-122"/>
                <a:cs typeface="Courier New" pitchFamily="34" charset="-120"/>
              </a:rPr>
              <a:t>RUN TIMELINE</a:t>
            </a:r>
            <a:endParaRPr lang="en-US" sz="1800" dirty="0"/>
          </a:p>
        </p:txBody>
      </p:sp>
      <p:sp>
        <p:nvSpPr>
          <p:cNvPr id="3" name="Text 1"/>
          <p:cNvSpPr/>
          <p:nvPr/>
        </p:nvSpPr>
        <p:spPr>
          <a:xfrm>
            <a:off x="1047750" y="1428750"/>
            <a:ext cx="9339068"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F2EDE1"/>
                </a:solidFill>
                <a:latin typeface="Georgia" pitchFamily="34" charset="0"/>
                <a:ea typeface="Georgia" pitchFamily="34" charset="-122"/>
                <a:cs typeface="Georgia" pitchFamily="34" charset="-120"/>
              </a:rPr>
              <a:t>The runs that got us here — including the failures</a:t>
            </a:r>
            <a:endParaRPr lang="en-US" sz="5550" dirty="0"/>
          </a:p>
        </p:txBody>
      </p:sp>
      <p:sp>
        <p:nvSpPr>
          <p:cNvPr id="4" name="Shape 2"/>
          <p:cNvSpPr/>
          <p:nvPr/>
        </p:nvSpPr>
        <p:spPr>
          <a:xfrm>
            <a:off x="1047750" y="4294882"/>
            <a:ext cx="16002000" cy="9525"/>
          </a:xfrm>
          <a:prstGeom prst="rect">
            <a:avLst/>
          </a:prstGeom>
          <a:solidFill>
            <a:srgbClr val="3A4149"/>
          </a:solidFill>
          <a:ln/>
        </p:spPr>
      </p:sp>
      <p:sp>
        <p:nvSpPr>
          <p:cNvPr id="5" name="Text 3"/>
          <p:cNvSpPr/>
          <p:nvPr/>
        </p:nvSpPr>
        <p:spPr>
          <a:xfrm>
            <a:off x="1047750" y="3747195"/>
            <a:ext cx="20955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9A396"/>
                </a:solidFill>
                <a:latin typeface="Courier New" pitchFamily="34" charset="0"/>
                <a:ea typeface="Courier New" pitchFamily="34" charset="-122"/>
                <a:cs typeface="Courier New" pitchFamily="34" charset="-120"/>
              </a:rPr>
              <a:t>DOOMED</a:t>
            </a:r>
            <a:endParaRPr lang="en-US" sz="1800" dirty="0"/>
          </a:p>
        </p:txBody>
      </p:sp>
      <p:sp>
        <p:nvSpPr>
          <p:cNvPr id="6" name="Text 4"/>
          <p:cNvSpPr/>
          <p:nvPr/>
        </p:nvSpPr>
        <p:spPr>
          <a:xfrm>
            <a:off x="3238500" y="3713857"/>
            <a:ext cx="11734800" cy="409575"/>
          </a:xfrm>
          <a:prstGeom prst="rect">
            <a:avLst/>
          </a:prstGeom>
          <a:noFill/>
          <a:ln/>
        </p:spPr>
        <p:txBody>
          <a:bodyPr wrap="square" lIns="25400" tIns="25400" rIns="25400" bIns="25400" rtlCol="0" anchor="t">
            <a:normAutofit/>
          </a:bodyPr>
          <a:lstStyle/>
          <a:p>
            <a:pPr algn="l" indent="0" marL="0">
              <a:buNone/>
            </a:pPr>
            <a:r>
              <a:rPr lang="en-US" sz="2250" dirty="0">
                <a:solidFill>
                  <a:srgbClr val="F2EDE1"/>
                </a:solidFill>
                <a:latin typeface="Arial" pitchFamily="34" charset="0"/>
                <a:ea typeface="Arial" pitchFamily="34" charset="-122"/>
                <a:cs typeface="Arial" pitchFamily="34" charset="-120"/>
              </a:rPr>
              <a:t>Gaussian NLL run — variance collapse, hyper-confident errors</a:t>
            </a:r>
            <a:endParaRPr lang="en-US" sz="2250" dirty="0"/>
          </a:p>
        </p:txBody>
      </p:sp>
      <p:sp>
        <p:nvSpPr>
          <p:cNvPr id="7" name="Text 5"/>
          <p:cNvSpPr/>
          <p:nvPr/>
        </p:nvSpPr>
        <p:spPr>
          <a:xfrm>
            <a:off x="14192250" y="3737670"/>
            <a:ext cx="31432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C56B52"/>
                </a:solidFill>
                <a:latin typeface="Courier New" pitchFamily="34" charset="0"/>
                <a:ea typeface="Courier New" pitchFamily="34" charset="-122"/>
                <a:cs typeface="Courier New" pitchFamily="34" charset="-120"/>
              </a:rPr>
              <a:t>abandoned</a:t>
            </a:r>
            <a:endParaRPr lang="en-US" sz="1950" dirty="0"/>
          </a:p>
        </p:txBody>
      </p:sp>
      <p:sp>
        <p:nvSpPr>
          <p:cNvPr id="8" name="Shape 6"/>
          <p:cNvSpPr/>
          <p:nvPr/>
        </p:nvSpPr>
        <p:spPr>
          <a:xfrm>
            <a:off x="1047750" y="5094982"/>
            <a:ext cx="16002000" cy="9525"/>
          </a:xfrm>
          <a:prstGeom prst="rect">
            <a:avLst/>
          </a:prstGeom>
          <a:solidFill>
            <a:srgbClr val="3A4149"/>
          </a:solidFill>
          <a:ln/>
        </p:spPr>
      </p:sp>
      <p:sp>
        <p:nvSpPr>
          <p:cNvPr id="9" name="Text 7"/>
          <p:cNvSpPr/>
          <p:nvPr/>
        </p:nvSpPr>
        <p:spPr>
          <a:xfrm>
            <a:off x="1047750" y="4547295"/>
            <a:ext cx="20955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9A396"/>
                </a:solidFill>
                <a:latin typeface="Courier New" pitchFamily="34" charset="0"/>
                <a:ea typeface="Courier New" pitchFamily="34" charset="-122"/>
                <a:cs typeface="Courier New" pitchFamily="34" charset="-120"/>
              </a:rPr>
              <a:t>CORRUPTED</a:t>
            </a:r>
            <a:endParaRPr lang="en-US" sz="1800" dirty="0"/>
          </a:p>
        </p:txBody>
      </p:sp>
      <p:sp>
        <p:nvSpPr>
          <p:cNvPr id="10" name="Text 8"/>
          <p:cNvSpPr/>
          <p:nvPr/>
        </p:nvSpPr>
        <p:spPr>
          <a:xfrm>
            <a:off x="3238500" y="4513957"/>
            <a:ext cx="11734800" cy="409575"/>
          </a:xfrm>
          <a:prstGeom prst="rect">
            <a:avLst/>
          </a:prstGeom>
          <a:noFill/>
          <a:ln/>
        </p:spPr>
        <p:txBody>
          <a:bodyPr wrap="square" lIns="25400" tIns="25400" rIns="25400" bIns="25400" rtlCol="0" anchor="t">
            <a:normAutofit/>
          </a:bodyPr>
          <a:lstStyle/>
          <a:p>
            <a:pPr algn="l" indent="0" marL="0">
              <a:buNone/>
            </a:pPr>
            <a:r>
              <a:rPr lang="en-US" sz="2250" dirty="0">
                <a:solidFill>
                  <a:srgbClr val="F2EDE1"/>
                </a:solidFill>
                <a:latin typeface="Arial" pitchFamily="34" charset="0"/>
                <a:ea typeface="Arial" pitchFamily="34" charset="-122"/>
                <a:cs typeface="Arial" pitchFamily="34" charset="-120"/>
              </a:rPr>
              <a:t>Checkpoint corruption — run archived, not recoverable</a:t>
            </a:r>
            <a:endParaRPr lang="en-US" sz="2250" dirty="0"/>
          </a:p>
        </p:txBody>
      </p:sp>
      <p:sp>
        <p:nvSpPr>
          <p:cNvPr id="11" name="Text 9"/>
          <p:cNvSpPr/>
          <p:nvPr/>
        </p:nvSpPr>
        <p:spPr>
          <a:xfrm>
            <a:off x="14192250" y="4537770"/>
            <a:ext cx="31432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C56B52"/>
                </a:solidFill>
                <a:latin typeface="Courier New" pitchFamily="34" charset="0"/>
                <a:ea typeface="Courier New" pitchFamily="34" charset="-122"/>
                <a:cs typeface="Courier New" pitchFamily="34" charset="-120"/>
              </a:rPr>
              <a:t>lost</a:t>
            </a:r>
            <a:endParaRPr lang="en-US" sz="1950" dirty="0"/>
          </a:p>
        </p:txBody>
      </p:sp>
      <p:sp>
        <p:nvSpPr>
          <p:cNvPr id="12" name="Shape 10"/>
          <p:cNvSpPr/>
          <p:nvPr/>
        </p:nvSpPr>
        <p:spPr>
          <a:xfrm>
            <a:off x="1047750" y="5895082"/>
            <a:ext cx="16002000" cy="9525"/>
          </a:xfrm>
          <a:prstGeom prst="rect">
            <a:avLst/>
          </a:prstGeom>
          <a:solidFill>
            <a:srgbClr val="3A4149"/>
          </a:solidFill>
          <a:ln/>
        </p:spPr>
      </p:sp>
      <p:sp>
        <p:nvSpPr>
          <p:cNvPr id="13" name="Text 11"/>
          <p:cNvSpPr/>
          <p:nvPr/>
        </p:nvSpPr>
        <p:spPr>
          <a:xfrm>
            <a:off x="1047750" y="5347395"/>
            <a:ext cx="20955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9A396"/>
                </a:solidFill>
                <a:latin typeface="Courier New" pitchFamily="34" charset="0"/>
                <a:ea typeface="Courier New" pitchFamily="34" charset="-122"/>
                <a:cs typeface="Courier New" pitchFamily="34" charset="-120"/>
              </a:rPr>
              <a:t>07-13</a:t>
            </a:r>
            <a:endParaRPr lang="en-US" sz="1800" dirty="0"/>
          </a:p>
        </p:txBody>
      </p:sp>
      <p:sp>
        <p:nvSpPr>
          <p:cNvPr id="14" name="Text 12"/>
          <p:cNvSpPr/>
          <p:nvPr/>
        </p:nvSpPr>
        <p:spPr>
          <a:xfrm>
            <a:off x="3238500" y="5314057"/>
            <a:ext cx="11734800" cy="409575"/>
          </a:xfrm>
          <a:prstGeom prst="rect">
            <a:avLst/>
          </a:prstGeom>
          <a:noFill/>
          <a:ln/>
        </p:spPr>
        <p:txBody>
          <a:bodyPr wrap="square" lIns="25400" tIns="25400" rIns="25400" bIns="25400" rtlCol="0" anchor="t">
            <a:normAutofit/>
          </a:bodyPr>
          <a:lstStyle/>
          <a:p>
            <a:pPr algn="l" indent="0" marL="0">
              <a:buNone/>
            </a:pPr>
            <a:r>
              <a:rPr lang="en-US" sz="2250" dirty="0">
                <a:solidFill>
                  <a:srgbClr val="F2EDE1"/>
                </a:solidFill>
                <a:latin typeface="Arial" pitchFamily="34" charset="0"/>
                <a:ea typeface="Arial" pitchFamily="34" charset="-122"/>
                <a:cs typeface="Arial" pitchFamily="34" charset="-120"/>
              </a:rPr>
              <a:t>NLL variant, 800 epochs — worse tail, Ea MAE 5.50</a:t>
            </a:r>
            <a:endParaRPr lang="en-US" sz="2250" dirty="0"/>
          </a:p>
        </p:txBody>
      </p:sp>
      <p:sp>
        <p:nvSpPr>
          <p:cNvPr id="15" name="Text 13"/>
          <p:cNvSpPr/>
          <p:nvPr/>
        </p:nvSpPr>
        <p:spPr>
          <a:xfrm>
            <a:off x="14192250" y="5337870"/>
            <a:ext cx="31432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A9A396"/>
                </a:solidFill>
                <a:latin typeface="Courier New" pitchFamily="34" charset="0"/>
                <a:ea typeface="Courier New" pitchFamily="34" charset="-122"/>
                <a:cs typeface="Courier New" pitchFamily="34" charset="-120"/>
              </a:rPr>
              <a:t>superseded</a:t>
            </a:r>
            <a:endParaRPr lang="en-US" sz="1950" dirty="0"/>
          </a:p>
        </p:txBody>
      </p:sp>
      <p:sp>
        <p:nvSpPr>
          <p:cNvPr id="16" name="Shape 14"/>
          <p:cNvSpPr/>
          <p:nvPr/>
        </p:nvSpPr>
        <p:spPr>
          <a:xfrm>
            <a:off x="1047750" y="6695182"/>
            <a:ext cx="16002000" cy="9525"/>
          </a:xfrm>
          <a:prstGeom prst="rect">
            <a:avLst/>
          </a:prstGeom>
          <a:solidFill>
            <a:srgbClr val="3A4149"/>
          </a:solidFill>
          <a:ln/>
        </p:spPr>
      </p:sp>
      <p:sp>
        <p:nvSpPr>
          <p:cNvPr id="17" name="Text 15"/>
          <p:cNvSpPr/>
          <p:nvPr/>
        </p:nvSpPr>
        <p:spPr>
          <a:xfrm>
            <a:off x="1047750" y="6147495"/>
            <a:ext cx="20955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9A396"/>
                </a:solidFill>
                <a:latin typeface="Courier New" pitchFamily="34" charset="0"/>
                <a:ea typeface="Courier New" pitchFamily="34" charset="-122"/>
                <a:cs typeface="Courier New" pitchFamily="34" charset="-120"/>
              </a:rPr>
              <a:t>07-15</a:t>
            </a:r>
            <a:endParaRPr lang="en-US" sz="1800" dirty="0"/>
          </a:p>
        </p:txBody>
      </p:sp>
      <p:sp>
        <p:nvSpPr>
          <p:cNvPr id="18" name="Text 16"/>
          <p:cNvSpPr/>
          <p:nvPr/>
        </p:nvSpPr>
        <p:spPr>
          <a:xfrm>
            <a:off x="3238500" y="6114157"/>
            <a:ext cx="11734800" cy="409575"/>
          </a:xfrm>
          <a:prstGeom prst="rect">
            <a:avLst/>
          </a:prstGeom>
          <a:noFill/>
          <a:ln/>
        </p:spPr>
        <p:txBody>
          <a:bodyPr wrap="square" lIns="25400" tIns="25400" rIns="25400" bIns="25400" rtlCol="0" anchor="t">
            <a:normAutofit/>
          </a:bodyPr>
          <a:lstStyle/>
          <a:p>
            <a:pPr algn="l" indent="0" marL="0">
              <a:buNone/>
            </a:pPr>
            <a:r>
              <a:rPr lang="en-US" sz="2250" dirty="0">
                <a:solidFill>
                  <a:srgbClr val="F2EDE1"/>
                </a:solidFill>
                <a:latin typeface="Arial" pitchFamily="34" charset="0"/>
                <a:ea typeface="Arial" pitchFamily="34" charset="-122"/>
                <a:cs typeface="Arial" pitchFamily="34" charset="-120"/>
              </a:rPr>
              <a:t>Restart died at epoch 3 — config error caught early</a:t>
            </a:r>
            <a:endParaRPr lang="en-US" sz="2250" dirty="0"/>
          </a:p>
        </p:txBody>
      </p:sp>
      <p:sp>
        <p:nvSpPr>
          <p:cNvPr id="19" name="Text 17"/>
          <p:cNvSpPr/>
          <p:nvPr/>
        </p:nvSpPr>
        <p:spPr>
          <a:xfrm>
            <a:off x="14192250" y="6137970"/>
            <a:ext cx="31432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C56B52"/>
                </a:solidFill>
                <a:latin typeface="Courier New" pitchFamily="34" charset="0"/>
                <a:ea typeface="Courier New" pitchFamily="34" charset="-122"/>
                <a:cs typeface="Courier New" pitchFamily="34" charset="-120"/>
              </a:rPr>
              <a:t>crashed</a:t>
            </a:r>
            <a:endParaRPr lang="en-US" sz="1950" dirty="0"/>
          </a:p>
        </p:txBody>
      </p:sp>
      <p:sp>
        <p:nvSpPr>
          <p:cNvPr id="20" name="Shape 18"/>
          <p:cNvSpPr/>
          <p:nvPr/>
        </p:nvSpPr>
        <p:spPr>
          <a:xfrm>
            <a:off x="1047750" y="7495282"/>
            <a:ext cx="16002000" cy="9525"/>
          </a:xfrm>
          <a:prstGeom prst="rect">
            <a:avLst/>
          </a:prstGeom>
          <a:solidFill>
            <a:srgbClr val="3A4149"/>
          </a:solidFill>
          <a:ln/>
        </p:spPr>
      </p:sp>
      <p:sp>
        <p:nvSpPr>
          <p:cNvPr id="21" name="Text 19"/>
          <p:cNvSpPr/>
          <p:nvPr/>
        </p:nvSpPr>
        <p:spPr>
          <a:xfrm>
            <a:off x="1047750" y="6947595"/>
            <a:ext cx="20955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2F7A6F"/>
                </a:solidFill>
                <a:latin typeface="Courier New" pitchFamily="34" charset="0"/>
                <a:ea typeface="Courier New" pitchFamily="34" charset="-122"/>
                <a:cs typeface="Courier New" pitchFamily="34" charset="-120"/>
              </a:rPr>
              <a:t>PRE-28d</a:t>
            </a:r>
            <a:endParaRPr lang="en-US" sz="1800" dirty="0"/>
          </a:p>
        </p:txBody>
      </p:sp>
      <p:sp>
        <p:nvSpPr>
          <p:cNvPr id="22" name="Text 20"/>
          <p:cNvSpPr/>
          <p:nvPr/>
        </p:nvSpPr>
        <p:spPr>
          <a:xfrm>
            <a:off x="3238500" y="6914257"/>
            <a:ext cx="11734800" cy="409575"/>
          </a:xfrm>
          <a:prstGeom prst="rect">
            <a:avLst/>
          </a:prstGeom>
          <a:noFill/>
          <a:ln/>
        </p:spPr>
        <p:txBody>
          <a:bodyPr wrap="square" lIns="25400" tIns="25400" rIns="25400" bIns="25400" rtlCol="0" anchor="t">
            <a:normAutofit/>
          </a:bodyPr>
          <a:lstStyle/>
          <a:p>
            <a:pPr algn="l" indent="0" marL="0">
              <a:buNone/>
            </a:pPr>
            <a:r>
              <a:rPr lang="en-US" sz="2250" dirty="0">
                <a:solidFill>
                  <a:srgbClr val="F2EDE1"/>
                </a:solidFill>
                <a:latin typeface="Arial" pitchFamily="34" charset="0"/>
                <a:ea typeface="Arial" pitchFamily="34" charset="-122"/>
                <a:cs typeface="Arial" pitchFamily="34" charset="-120"/>
              </a:rPr>
              <a:t>Huber + tail weighting, 1094 epochs — Ea MAE 4.86</a:t>
            </a:r>
            <a:endParaRPr lang="en-US" sz="2250" dirty="0"/>
          </a:p>
        </p:txBody>
      </p:sp>
      <p:sp>
        <p:nvSpPr>
          <p:cNvPr id="23" name="Text 21"/>
          <p:cNvSpPr/>
          <p:nvPr/>
        </p:nvSpPr>
        <p:spPr>
          <a:xfrm>
            <a:off x="14192250" y="6938070"/>
            <a:ext cx="31432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2F7A6F"/>
                </a:solidFill>
                <a:latin typeface="Courier New" pitchFamily="34" charset="0"/>
                <a:ea typeface="Courier New" pitchFamily="34" charset="-122"/>
                <a:cs typeface="Courier New" pitchFamily="34" charset="-120"/>
              </a:rPr>
              <a:t>baseline</a:t>
            </a:r>
            <a:endParaRPr lang="en-US" sz="1950" dirty="0"/>
          </a:p>
        </p:txBody>
      </p:sp>
      <p:sp>
        <p:nvSpPr>
          <p:cNvPr id="24" name="Text 22"/>
          <p:cNvSpPr/>
          <p:nvPr/>
        </p:nvSpPr>
        <p:spPr>
          <a:xfrm>
            <a:off x="1047750" y="7723882"/>
            <a:ext cx="20955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C08A3E"/>
                </a:solidFill>
                <a:latin typeface="Courier New" pitchFamily="34" charset="0"/>
                <a:ea typeface="Courier New" pitchFamily="34" charset="-122"/>
                <a:cs typeface="Courier New" pitchFamily="34" charset="-120"/>
              </a:rPr>
              <a:t>CURRENT</a:t>
            </a:r>
            <a:endParaRPr lang="en-US" sz="1800" dirty="0"/>
          </a:p>
        </p:txBody>
      </p:sp>
      <p:sp>
        <p:nvSpPr>
          <p:cNvPr id="25" name="Text 23"/>
          <p:cNvSpPr/>
          <p:nvPr/>
        </p:nvSpPr>
        <p:spPr>
          <a:xfrm>
            <a:off x="3238500" y="7714357"/>
            <a:ext cx="11734800"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F2EDE1"/>
                </a:solidFill>
                <a:latin typeface="Arial" pitchFamily="34" charset="0"/>
                <a:ea typeface="Arial" pitchFamily="34" charset="-122"/>
                <a:cs typeface="Arial" pitchFamily="34" charset="-120"/>
              </a:rPr>
              <a:t>RGD1 40k, warm-start Ea schedule — live at epoch 216 / 800</a:t>
            </a:r>
            <a:endParaRPr lang="en-US" sz="2250" dirty="0"/>
          </a:p>
        </p:txBody>
      </p:sp>
      <p:sp>
        <p:nvSpPr>
          <p:cNvPr id="26" name="Text 24"/>
          <p:cNvSpPr/>
          <p:nvPr/>
        </p:nvSpPr>
        <p:spPr>
          <a:xfrm>
            <a:off x="14192250" y="7714357"/>
            <a:ext cx="31432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C08A3E"/>
                </a:solidFill>
                <a:latin typeface="Courier New" pitchFamily="34" charset="0"/>
                <a:ea typeface="Courier New" pitchFamily="34" charset="-122"/>
                <a:cs typeface="Courier New" pitchFamily="34" charset="-120"/>
              </a:rPr>
              <a:t>running</a:t>
            </a:r>
            <a:endParaRPr lang="en-US" sz="1950" dirty="0"/>
          </a:p>
        </p:txBody>
      </p:sp>
      <p:sp>
        <p:nvSpPr>
          <p:cNvPr id="27" name="Text 25"/>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A9A396"/>
                </a:solidFill>
                <a:latin typeface="Courier New" pitchFamily="34" charset="0"/>
                <a:ea typeface="Courier New" pitchFamily="34" charset="-122"/>
                <a:cs typeface="Courier New" pitchFamily="34" charset="-120"/>
              </a:rPr>
              <a:t>PSI · TRANSITION-STATE PREDICTION</a:t>
            </a:r>
            <a:endParaRPr lang="en-US" sz="1500" dirty="0"/>
          </a:p>
        </p:txBody>
      </p:sp>
      <p:sp>
        <p:nvSpPr>
          <p:cNvPr id="28" name="Text 26"/>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A9A396"/>
                </a:solidFill>
                <a:latin typeface="Courier New" pitchFamily="34" charset="0"/>
                <a:ea typeface="Courier New" pitchFamily="34" charset="-122"/>
                <a:cs typeface="Courier New" pitchFamily="34" charset="-120"/>
              </a:rPr>
              <a:t>14</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METRIC PROGRESS</a:t>
            </a:r>
            <a:endParaRPr lang="en-US" sz="1800" dirty="0"/>
          </a:p>
        </p:txBody>
      </p:sp>
      <p:sp>
        <p:nvSpPr>
          <p:cNvPr id="3" name="Text 1"/>
          <p:cNvSpPr/>
          <p:nvPr/>
        </p:nvSpPr>
        <p:spPr>
          <a:xfrm>
            <a:off x="1047750" y="1428750"/>
            <a:ext cx="9339068"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Steady gains on progressively harder data</a:t>
            </a:r>
            <a:endParaRPr lang="en-US" sz="5550" dirty="0"/>
          </a:p>
        </p:txBody>
      </p:sp>
      <p:sp>
        <p:nvSpPr>
          <p:cNvPr id="4" name="Shape 2"/>
          <p:cNvSpPr/>
          <p:nvPr/>
        </p:nvSpPr>
        <p:spPr>
          <a:xfrm>
            <a:off x="1047750" y="3504307"/>
            <a:ext cx="5067300" cy="2514600"/>
          </a:xfrm>
          <a:prstGeom prst="roundRect">
            <a:avLst>
              <a:gd name="adj" fmla="val 3030"/>
            </a:avLst>
          </a:prstGeom>
          <a:solidFill>
            <a:srgbClr val="FFFFFF"/>
          </a:solidFill>
          <a:ln w="9525">
            <a:solidFill>
              <a:srgbClr val="DDD6C7"/>
            </a:solidFill>
            <a:prstDash val="solid"/>
          </a:ln>
        </p:spPr>
      </p:sp>
      <p:sp>
        <p:nvSpPr>
          <p:cNvPr id="5" name="Text 3"/>
          <p:cNvSpPr/>
          <p:nvPr/>
        </p:nvSpPr>
        <p:spPr>
          <a:xfrm>
            <a:off x="1457325" y="3894832"/>
            <a:ext cx="4672965" cy="3238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6F6A5F"/>
                </a:solidFill>
                <a:latin typeface="Courier New" pitchFamily="34" charset="0"/>
                <a:ea typeface="Courier New" pitchFamily="34" charset="-122"/>
                <a:cs typeface="Courier New" pitchFamily="34" charset="-120"/>
              </a:rPr>
              <a:t>PHYSICS BASELINE</a:t>
            </a:r>
            <a:endParaRPr lang="en-US" sz="1725" dirty="0"/>
          </a:p>
        </p:txBody>
      </p:sp>
      <p:sp>
        <p:nvSpPr>
          <p:cNvPr id="6" name="Text 4"/>
          <p:cNvSpPr/>
          <p:nvPr/>
        </p:nvSpPr>
        <p:spPr>
          <a:xfrm>
            <a:off x="1457325" y="4371082"/>
            <a:ext cx="4672965" cy="914400"/>
          </a:xfrm>
          <a:prstGeom prst="rect">
            <a:avLst/>
          </a:prstGeom>
          <a:noFill/>
          <a:ln/>
        </p:spPr>
        <p:txBody>
          <a:bodyPr wrap="square" lIns="25400" tIns="25400" rIns="25400" bIns="25400" rtlCol="0" anchor="t">
            <a:normAutofit/>
          </a:bodyPr>
          <a:lstStyle/>
          <a:p>
            <a:pPr algn="l" indent="0" marL="0">
              <a:lnSpc>
                <a:spcPct val="88462"/>
              </a:lnSpc>
              <a:buNone/>
            </a:pPr>
            <a:r>
              <a:rPr lang="en-US" sz="6900" dirty="0">
                <a:solidFill>
                  <a:srgbClr val="20262D"/>
                </a:solidFill>
                <a:latin typeface="Georgia" pitchFamily="34" charset="0"/>
                <a:ea typeface="Georgia" pitchFamily="34" charset="-122"/>
                <a:cs typeface="Georgia" pitchFamily="34" charset="-120"/>
              </a:rPr>
              <a:t>15.5</a:t>
            </a:r>
            <a:endParaRPr lang="en-US" sz="6900" dirty="0"/>
          </a:p>
        </p:txBody>
      </p:sp>
      <p:sp>
        <p:nvSpPr>
          <p:cNvPr id="7" name="Text 5"/>
          <p:cNvSpPr/>
          <p:nvPr/>
        </p:nvSpPr>
        <p:spPr>
          <a:xfrm>
            <a:off x="1457325" y="5304532"/>
            <a:ext cx="4672965" cy="361950"/>
          </a:xfrm>
          <a:prstGeom prst="rect">
            <a:avLst/>
          </a:prstGeom>
          <a:noFill/>
          <a:ln/>
        </p:spPr>
        <p:txBody>
          <a:bodyPr wrap="square" lIns="25400" tIns="25400" rIns="25400" bIns="25400" rtlCol="0" anchor="t">
            <a:normAutofit/>
          </a:bodyPr>
          <a:lstStyle/>
          <a:p>
            <a:pPr algn="l" indent="0" marL="0">
              <a:buNone/>
            </a:pPr>
            <a:r>
              <a:rPr lang="en-US" sz="1950" dirty="0">
                <a:solidFill>
                  <a:srgbClr val="6F6A5F"/>
                </a:solidFill>
                <a:latin typeface="Arial" pitchFamily="34" charset="0"/>
                <a:ea typeface="Arial" pitchFamily="34" charset="-122"/>
                <a:cs typeface="Arial" pitchFamily="34" charset="-120"/>
              </a:rPr>
              <a:t>Ea MAE kcal/mol · R² 0.44</a:t>
            </a:r>
            <a:endParaRPr lang="en-US" sz="1950" dirty="0"/>
          </a:p>
        </p:txBody>
      </p:sp>
      <p:sp>
        <p:nvSpPr>
          <p:cNvPr id="8" name="Shape 6"/>
          <p:cNvSpPr/>
          <p:nvPr/>
        </p:nvSpPr>
        <p:spPr>
          <a:xfrm>
            <a:off x="6419850" y="3504307"/>
            <a:ext cx="5067300" cy="2514600"/>
          </a:xfrm>
          <a:prstGeom prst="roundRect">
            <a:avLst>
              <a:gd name="adj" fmla="val 3030"/>
            </a:avLst>
          </a:prstGeom>
          <a:solidFill>
            <a:srgbClr val="FFFFFF"/>
          </a:solidFill>
          <a:ln w="9525">
            <a:solidFill>
              <a:srgbClr val="DDD6C7"/>
            </a:solidFill>
            <a:prstDash val="solid"/>
          </a:ln>
        </p:spPr>
      </p:sp>
      <p:sp>
        <p:nvSpPr>
          <p:cNvPr id="9" name="Text 7"/>
          <p:cNvSpPr/>
          <p:nvPr/>
        </p:nvSpPr>
        <p:spPr>
          <a:xfrm>
            <a:off x="6829425" y="3894832"/>
            <a:ext cx="4672965" cy="3238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2F7A6F"/>
                </a:solidFill>
                <a:latin typeface="Courier New" pitchFamily="34" charset="0"/>
                <a:ea typeface="Courier New" pitchFamily="34" charset="-122"/>
                <a:cs typeface="Courier New" pitchFamily="34" charset="-120"/>
              </a:rPr>
              <a:t>b97d3 MODEL</a:t>
            </a:r>
            <a:endParaRPr lang="en-US" sz="1725" dirty="0"/>
          </a:p>
        </p:txBody>
      </p:sp>
      <p:sp>
        <p:nvSpPr>
          <p:cNvPr id="10" name="Text 8"/>
          <p:cNvSpPr/>
          <p:nvPr/>
        </p:nvSpPr>
        <p:spPr>
          <a:xfrm>
            <a:off x="6829425" y="4371082"/>
            <a:ext cx="4672965" cy="914400"/>
          </a:xfrm>
          <a:prstGeom prst="rect">
            <a:avLst/>
          </a:prstGeom>
          <a:noFill/>
          <a:ln/>
        </p:spPr>
        <p:txBody>
          <a:bodyPr wrap="square" lIns="25400" tIns="25400" rIns="25400" bIns="25400" rtlCol="0" anchor="t">
            <a:normAutofit/>
          </a:bodyPr>
          <a:lstStyle/>
          <a:p>
            <a:pPr algn="l" indent="0" marL="0">
              <a:lnSpc>
                <a:spcPct val="88462"/>
              </a:lnSpc>
              <a:buNone/>
            </a:pPr>
            <a:r>
              <a:rPr lang="en-US" sz="6900" dirty="0">
                <a:solidFill>
                  <a:srgbClr val="20262D"/>
                </a:solidFill>
                <a:latin typeface="Georgia" pitchFamily="34" charset="0"/>
                <a:ea typeface="Georgia" pitchFamily="34" charset="-122"/>
                <a:cs typeface="Georgia" pitchFamily="34" charset="-120"/>
              </a:rPr>
              <a:t>5.01</a:t>
            </a:r>
            <a:endParaRPr lang="en-US" sz="6900" dirty="0"/>
          </a:p>
        </p:txBody>
      </p:sp>
      <p:sp>
        <p:nvSpPr>
          <p:cNvPr id="11" name="Text 9"/>
          <p:cNvSpPr/>
          <p:nvPr/>
        </p:nvSpPr>
        <p:spPr>
          <a:xfrm>
            <a:off x="6829425" y="5304532"/>
            <a:ext cx="4672965" cy="361950"/>
          </a:xfrm>
          <a:prstGeom prst="rect">
            <a:avLst/>
          </a:prstGeom>
          <a:noFill/>
          <a:ln/>
        </p:spPr>
        <p:txBody>
          <a:bodyPr wrap="square" lIns="25400" tIns="25400" rIns="25400" bIns="25400" rtlCol="0" anchor="t">
            <a:normAutofit/>
          </a:bodyPr>
          <a:lstStyle/>
          <a:p>
            <a:pPr algn="l" indent="0" marL="0">
              <a:buNone/>
            </a:pPr>
            <a:r>
              <a:rPr lang="en-US" sz="1950" dirty="0">
                <a:solidFill>
                  <a:srgbClr val="6F6A5F"/>
                </a:solidFill>
                <a:latin typeface="Arial" pitchFamily="34" charset="0"/>
                <a:ea typeface="Arial" pitchFamily="34" charset="-122"/>
                <a:cs typeface="Arial" pitchFamily="34" charset="-120"/>
              </a:rPr>
              <a:t>Ea MAE · R² 0.90 · geom 0.113 Å</a:t>
            </a:r>
            <a:endParaRPr lang="en-US" sz="1950" dirty="0"/>
          </a:p>
        </p:txBody>
      </p:sp>
      <p:sp>
        <p:nvSpPr>
          <p:cNvPr id="12" name="Shape 10"/>
          <p:cNvSpPr/>
          <p:nvPr/>
        </p:nvSpPr>
        <p:spPr>
          <a:xfrm>
            <a:off x="11791950" y="3504307"/>
            <a:ext cx="5067300" cy="2514600"/>
          </a:xfrm>
          <a:prstGeom prst="roundRect">
            <a:avLst>
              <a:gd name="adj" fmla="val 3030"/>
            </a:avLst>
          </a:prstGeom>
          <a:solidFill>
            <a:srgbClr val="20262D"/>
          </a:solidFill>
          <a:ln/>
        </p:spPr>
      </p:sp>
      <p:sp>
        <p:nvSpPr>
          <p:cNvPr id="13" name="Text 11"/>
          <p:cNvSpPr/>
          <p:nvPr/>
        </p:nvSpPr>
        <p:spPr>
          <a:xfrm>
            <a:off x="12192000" y="3885307"/>
            <a:ext cx="4693920" cy="3238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C08A3E"/>
                </a:solidFill>
                <a:latin typeface="Courier New" pitchFamily="34" charset="0"/>
                <a:ea typeface="Courier New" pitchFamily="34" charset="-122"/>
                <a:cs typeface="Courier New" pitchFamily="34" charset="-120"/>
              </a:rPr>
              <a:t>RGD1 — LIVE</a:t>
            </a:r>
            <a:endParaRPr lang="en-US" sz="1725" dirty="0"/>
          </a:p>
        </p:txBody>
      </p:sp>
      <p:sp>
        <p:nvSpPr>
          <p:cNvPr id="14" name="Text 12"/>
          <p:cNvSpPr/>
          <p:nvPr/>
        </p:nvSpPr>
        <p:spPr>
          <a:xfrm>
            <a:off x="12192000" y="4361557"/>
            <a:ext cx="4693920" cy="914400"/>
          </a:xfrm>
          <a:prstGeom prst="rect">
            <a:avLst/>
          </a:prstGeom>
          <a:noFill/>
          <a:ln/>
        </p:spPr>
        <p:txBody>
          <a:bodyPr wrap="square" lIns="25400" tIns="25400" rIns="25400" bIns="25400" rtlCol="0" anchor="t">
            <a:normAutofit/>
          </a:bodyPr>
          <a:lstStyle/>
          <a:p>
            <a:pPr algn="l" indent="0" marL="0">
              <a:lnSpc>
                <a:spcPct val="88462"/>
              </a:lnSpc>
              <a:buNone/>
            </a:pPr>
            <a:r>
              <a:rPr lang="en-US" sz="6900" dirty="0">
                <a:solidFill>
                  <a:srgbClr val="F2EDE1"/>
                </a:solidFill>
                <a:latin typeface="Georgia" pitchFamily="34" charset="0"/>
                <a:ea typeface="Georgia" pitchFamily="34" charset="-122"/>
                <a:cs typeface="Georgia" pitchFamily="34" charset="-120"/>
              </a:rPr>
              <a:t>4.80</a:t>
            </a:r>
            <a:endParaRPr lang="en-US" sz="6900" dirty="0"/>
          </a:p>
        </p:txBody>
      </p:sp>
      <p:sp>
        <p:nvSpPr>
          <p:cNvPr id="15" name="Text 13"/>
          <p:cNvSpPr/>
          <p:nvPr/>
        </p:nvSpPr>
        <p:spPr>
          <a:xfrm>
            <a:off x="12192000" y="5295007"/>
            <a:ext cx="469392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A9A396"/>
                </a:solidFill>
                <a:latin typeface="Arial" pitchFamily="34" charset="0"/>
                <a:ea typeface="Arial" pitchFamily="34" charset="-122"/>
                <a:cs typeface="Arial" pitchFamily="34" charset="-120"/>
              </a:rPr>
              <a:t>Ea MAE · geom 0.167 Å · still training</a:t>
            </a:r>
            <a:endParaRPr lang="en-US" sz="1950" dirty="0"/>
          </a:p>
        </p:txBody>
      </p:sp>
      <p:sp>
        <p:nvSpPr>
          <p:cNvPr id="16" name="Text 14"/>
          <p:cNvSpPr/>
          <p:nvPr/>
        </p:nvSpPr>
        <p:spPr>
          <a:xfrm>
            <a:off x="1047750" y="6438007"/>
            <a:ext cx="13735050"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6F6A5F"/>
                </a:solidFill>
                <a:latin typeface="Arial" pitchFamily="34" charset="0"/>
                <a:ea typeface="Arial" pitchFamily="34" charset="-122"/>
                <a:cs typeface="Arial" pitchFamily="34" charset="-120"/>
              </a:rPr>
              <a:t>The live run matches the smaller-dataset accuracy while carrying a barrier distribution nearly twice as high (mean 74 vs 42 kcal/mol) — a genuine gain in difficulty, not just in number.</a:t>
            </a:r>
            <a:endParaRPr lang="en-US" sz="2025" dirty="0"/>
          </a:p>
        </p:txBody>
      </p:sp>
      <p:sp>
        <p:nvSpPr>
          <p:cNvPr id="17" name="Text 15"/>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18" name="Text 16"/>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15</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CURRENT RUN · ENERGY</a:t>
            </a:r>
            <a:endParaRPr lang="en-US" sz="1800" dirty="0"/>
          </a:p>
        </p:txBody>
      </p:sp>
      <p:sp>
        <p:nvSpPr>
          <p:cNvPr id="3" name="Text 1"/>
          <p:cNvSpPr/>
          <p:nvPr/>
        </p:nvSpPr>
        <p:spPr>
          <a:xfrm>
            <a:off x="1047750" y="1428750"/>
            <a:ext cx="9339068"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Activation-energy error is still falling</a:t>
            </a:r>
            <a:endParaRPr lang="en-US" sz="5550" dirty="0"/>
          </a:p>
        </p:txBody>
      </p:sp>
      <p:sp>
        <p:nvSpPr>
          <p:cNvPr id="4" name="Shape 2"/>
          <p:cNvSpPr/>
          <p:nvPr/>
        </p:nvSpPr>
        <p:spPr>
          <a:xfrm>
            <a:off x="1047750" y="3237607"/>
            <a:ext cx="9910465" cy="4706243"/>
          </a:xfrm>
          <a:prstGeom prst="roundRect">
            <a:avLst>
              <a:gd name="adj" fmla="val 1619"/>
            </a:avLst>
          </a:prstGeom>
          <a:solidFill>
            <a:srgbClr val="FFFFFF"/>
          </a:solidFill>
          <a:ln w="9525">
            <a:solidFill>
              <a:srgbClr val="DDD6C7"/>
            </a:solidFill>
            <a:prstDash val="solid"/>
          </a:ln>
        </p:spPr>
      </p:sp>
      <p:pic>
        <p:nvPicPr>
          <p:cNvPr id="5" name="Image 0" descr="preencoded.png">    </p:cNvPr>
          <p:cNvPicPr>
            <a:picLocks noChangeAspect="1"/>
          </p:cNvPicPr>
          <p:nvPr/>
        </p:nvPicPr>
        <p:blipFill>
          <a:blip r:embed="rId1"/>
          <a:stretch>
            <a:fillRect/>
          </a:stretch>
        </p:blipFill>
        <p:spPr>
          <a:xfrm>
            <a:off x="1047750" y="3237607"/>
            <a:ext cx="9910465" cy="4706243"/>
          </a:xfrm>
          <a:prstGeom prst="rect">
            <a:avLst/>
          </a:prstGeom>
        </p:spPr>
      </p:pic>
      <p:sp>
        <p:nvSpPr>
          <p:cNvPr id="6" name="Text 3"/>
          <p:cNvSpPr/>
          <p:nvPr/>
        </p:nvSpPr>
        <p:spPr>
          <a:xfrm>
            <a:off x="11415415" y="4204841"/>
            <a:ext cx="6407319" cy="762000"/>
          </a:xfrm>
          <a:prstGeom prst="rect">
            <a:avLst/>
          </a:prstGeom>
          <a:noFill/>
          <a:ln/>
        </p:spPr>
        <p:txBody>
          <a:bodyPr wrap="square" lIns="25400" tIns="25400" rIns="25400" bIns="25400" rtlCol="0" anchor="t">
            <a:normAutofit/>
          </a:bodyPr>
          <a:lstStyle/>
          <a:p>
            <a:pPr algn="l" indent="0" marL="0">
              <a:lnSpc>
                <a:spcPct val="87356"/>
              </a:lnSpc>
              <a:buNone/>
            </a:pPr>
            <a:r>
              <a:rPr lang="en-US" sz="5700" dirty="0">
                <a:solidFill>
                  <a:srgbClr val="2F7A6F"/>
                </a:solidFill>
                <a:latin typeface="Georgia" pitchFamily="34" charset="0"/>
                <a:ea typeface="Georgia" pitchFamily="34" charset="-122"/>
                <a:cs typeface="Georgia" pitchFamily="34" charset="-120"/>
              </a:rPr>
              <a:t>12.4 → 4.8</a:t>
            </a:r>
            <a:endParaRPr lang="en-US" sz="5700" dirty="0"/>
          </a:p>
        </p:txBody>
      </p:sp>
      <p:sp>
        <p:nvSpPr>
          <p:cNvPr id="7" name="Text 4"/>
          <p:cNvSpPr/>
          <p:nvPr/>
        </p:nvSpPr>
        <p:spPr>
          <a:xfrm>
            <a:off x="11415415" y="5004941"/>
            <a:ext cx="6407319" cy="361950"/>
          </a:xfrm>
          <a:prstGeom prst="rect">
            <a:avLst/>
          </a:prstGeom>
          <a:noFill/>
          <a:ln/>
        </p:spPr>
        <p:txBody>
          <a:bodyPr wrap="square" lIns="25400" tIns="25400" rIns="25400" bIns="25400" rtlCol="0" anchor="t">
            <a:normAutofit/>
          </a:bodyPr>
          <a:lstStyle/>
          <a:p>
            <a:pPr algn="l" indent="0" marL="0">
              <a:buNone/>
            </a:pPr>
            <a:r>
              <a:rPr lang="en-US" sz="1950" dirty="0">
                <a:solidFill>
                  <a:srgbClr val="6F6A5F"/>
                </a:solidFill>
                <a:latin typeface="Arial" pitchFamily="34" charset="0"/>
                <a:ea typeface="Arial" pitchFamily="34" charset="-122"/>
                <a:cs typeface="Arial" pitchFamily="34" charset="-120"/>
              </a:rPr>
              <a:t>validation Ea MAE, kcal/mol, epoch 1 → 216</a:t>
            </a:r>
            <a:endParaRPr lang="en-US" sz="1950" dirty="0"/>
          </a:p>
        </p:txBody>
      </p:sp>
      <p:sp>
        <p:nvSpPr>
          <p:cNvPr id="8" name="Shape 5"/>
          <p:cNvSpPr/>
          <p:nvPr/>
        </p:nvSpPr>
        <p:spPr>
          <a:xfrm>
            <a:off x="11415415" y="5557391"/>
            <a:ext cx="5824835" cy="9525"/>
          </a:xfrm>
          <a:prstGeom prst="rect">
            <a:avLst/>
          </a:prstGeom>
          <a:solidFill>
            <a:srgbClr val="DDD6C7"/>
          </a:solidFill>
          <a:ln/>
        </p:spPr>
      </p:sp>
      <p:sp>
        <p:nvSpPr>
          <p:cNvPr id="9" name="Text 6"/>
          <p:cNvSpPr/>
          <p:nvPr/>
        </p:nvSpPr>
        <p:spPr>
          <a:xfrm>
            <a:off x="11415415" y="5776466"/>
            <a:ext cx="5999580" cy="123825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20262D"/>
                </a:solidFill>
                <a:latin typeface="Arial" pitchFamily="34" charset="0"/>
                <a:ea typeface="Arial" pitchFamily="34" charset="-122"/>
                <a:cs typeface="Arial" pitchFamily="34" charset="-120"/>
              </a:rPr>
              <a:t>Train at 2.9 kcal/mol, validation at 4.8 — a controlled gap under the detach-warmup + tail-weighting schedule.</a:t>
            </a:r>
            <a:endParaRPr lang="en-US" sz="2100" dirty="0"/>
          </a:p>
        </p:txBody>
      </p:sp>
      <p:sp>
        <p:nvSpPr>
          <p:cNvPr id="10" name="Text 7"/>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11" name="Text 8"/>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16</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CURRENT RUN · GEOMETRY</a:t>
            </a:r>
            <a:endParaRPr lang="en-US" sz="1800" dirty="0"/>
          </a:p>
        </p:txBody>
      </p:sp>
      <p:sp>
        <p:nvSpPr>
          <p:cNvPr id="3" name="Text 1"/>
          <p:cNvSpPr/>
          <p:nvPr/>
        </p:nvSpPr>
        <p:spPr>
          <a:xfrm>
            <a:off x="1047750" y="1428750"/>
            <a:ext cx="9339068"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Transition-state geometry converging near 0.17 Å</a:t>
            </a:r>
            <a:endParaRPr lang="en-US" sz="5550" dirty="0"/>
          </a:p>
        </p:txBody>
      </p:sp>
      <p:sp>
        <p:nvSpPr>
          <p:cNvPr id="4" name="Shape 2"/>
          <p:cNvSpPr/>
          <p:nvPr/>
        </p:nvSpPr>
        <p:spPr>
          <a:xfrm>
            <a:off x="1047750" y="3237607"/>
            <a:ext cx="9910465" cy="4706243"/>
          </a:xfrm>
          <a:prstGeom prst="roundRect">
            <a:avLst>
              <a:gd name="adj" fmla="val 1619"/>
            </a:avLst>
          </a:prstGeom>
          <a:solidFill>
            <a:srgbClr val="FFFFFF"/>
          </a:solidFill>
          <a:ln w="9525">
            <a:solidFill>
              <a:srgbClr val="DDD6C7"/>
            </a:solidFill>
            <a:prstDash val="solid"/>
          </a:ln>
        </p:spPr>
      </p:sp>
      <p:pic>
        <p:nvPicPr>
          <p:cNvPr id="5" name="Image 0" descr="preencoded.png">    </p:cNvPr>
          <p:cNvPicPr>
            <a:picLocks noChangeAspect="1"/>
          </p:cNvPicPr>
          <p:nvPr/>
        </p:nvPicPr>
        <p:blipFill>
          <a:blip r:embed="rId1"/>
          <a:stretch>
            <a:fillRect/>
          </a:stretch>
        </p:blipFill>
        <p:spPr>
          <a:xfrm>
            <a:off x="1047750" y="3237607"/>
            <a:ext cx="9910465" cy="4706243"/>
          </a:xfrm>
          <a:prstGeom prst="rect">
            <a:avLst/>
          </a:prstGeom>
        </p:spPr>
      </p:pic>
      <p:sp>
        <p:nvSpPr>
          <p:cNvPr id="6" name="Text 3"/>
          <p:cNvSpPr/>
          <p:nvPr/>
        </p:nvSpPr>
        <p:spPr>
          <a:xfrm>
            <a:off x="11415415" y="4004816"/>
            <a:ext cx="6407319" cy="762000"/>
          </a:xfrm>
          <a:prstGeom prst="rect">
            <a:avLst/>
          </a:prstGeom>
          <a:noFill/>
          <a:ln/>
        </p:spPr>
        <p:txBody>
          <a:bodyPr wrap="square" lIns="25400" tIns="25400" rIns="25400" bIns="25400" rtlCol="0" anchor="t">
            <a:normAutofit/>
          </a:bodyPr>
          <a:lstStyle/>
          <a:p>
            <a:pPr algn="l" indent="0" marL="0">
              <a:lnSpc>
                <a:spcPct val="87356"/>
              </a:lnSpc>
              <a:buNone/>
            </a:pPr>
            <a:r>
              <a:rPr lang="en-US" sz="5700" dirty="0">
                <a:solidFill>
                  <a:srgbClr val="2F7A6F"/>
                </a:solidFill>
                <a:latin typeface="Georgia" pitchFamily="34" charset="0"/>
                <a:ea typeface="Georgia" pitchFamily="34" charset="-122"/>
                <a:cs typeface="Georgia" pitchFamily="34" charset="-120"/>
              </a:rPr>
              <a:t>0.167 Å</a:t>
            </a:r>
            <a:endParaRPr lang="en-US" sz="5700" dirty="0"/>
          </a:p>
        </p:txBody>
      </p:sp>
      <p:sp>
        <p:nvSpPr>
          <p:cNvPr id="7" name="Text 4"/>
          <p:cNvSpPr/>
          <p:nvPr/>
        </p:nvSpPr>
        <p:spPr>
          <a:xfrm>
            <a:off x="11415415" y="4804916"/>
            <a:ext cx="6407319" cy="361950"/>
          </a:xfrm>
          <a:prstGeom prst="rect">
            <a:avLst/>
          </a:prstGeom>
          <a:noFill/>
          <a:ln/>
        </p:spPr>
        <p:txBody>
          <a:bodyPr wrap="square" lIns="25400" tIns="25400" rIns="25400" bIns="25400" rtlCol="0" anchor="t">
            <a:normAutofit/>
          </a:bodyPr>
          <a:lstStyle/>
          <a:p>
            <a:pPr algn="l" indent="0" marL="0">
              <a:buNone/>
            </a:pPr>
            <a:r>
              <a:rPr lang="en-US" sz="1950" dirty="0">
                <a:solidFill>
                  <a:srgbClr val="6F6A5F"/>
                </a:solidFill>
                <a:latin typeface="Arial" pitchFamily="34" charset="0"/>
                <a:ea typeface="Arial" pitchFamily="34" charset="-122"/>
                <a:cs typeface="Arial" pitchFamily="34" charset="-120"/>
              </a:rPr>
              <a:t>validation TS distance MAE</a:t>
            </a:r>
            <a:endParaRPr lang="en-US" sz="1950" dirty="0"/>
          </a:p>
        </p:txBody>
      </p:sp>
      <p:sp>
        <p:nvSpPr>
          <p:cNvPr id="8" name="Shape 5"/>
          <p:cNvSpPr/>
          <p:nvPr/>
        </p:nvSpPr>
        <p:spPr>
          <a:xfrm>
            <a:off x="11415415" y="5357366"/>
            <a:ext cx="5824835" cy="9525"/>
          </a:xfrm>
          <a:prstGeom prst="rect">
            <a:avLst/>
          </a:prstGeom>
          <a:solidFill>
            <a:srgbClr val="DDD6C7"/>
          </a:solidFill>
          <a:ln/>
        </p:spPr>
      </p:sp>
      <p:sp>
        <p:nvSpPr>
          <p:cNvPr id="9" name="Text 6"/>
          <p:cNvSpPr/>
          <p:nvPr/>
        </p:nvSpPr>
        <p:spPr>
          <a:xfrm>
            <a:off x="11415415" y="5576441"/>
            <a:ext cx="5999580" cy="163830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20262D"/>
                </a:solidFill>
                <a:latin typeface="Arial" pitchFamily="34" charset="0"/>
                <a:ea typeface="Arial" pitchFamily="34" charset="-122"/>
                <a:cs typeface="Arial" pitchFamily="34" charset="-120"/>
              </a:rPr>
              <a:t>Higher than the 0.113 Å b97d3 result because RGD1 structures are larger and more strained — the target for the intra-fragment penalty on the roadmap.</a:t>
            </a:r>
            <a:endParaRPr lang="en-US" sz="2100" dirty="0"/>
          </a:p>
        </p:txBody>
      </p:sp>
      <p:sp>
        <p:nvSpPr>
          <p:cNvPr id="10" name="Text 7"/>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11" name="Text 8"/>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17</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NEURAL VS. PHYSICS</a:t>
            </a:r>
            <a:endParaRPr lang="en-US" sz="1800" dirty="0"/>
          </a:p>
        </p:txBody>
      </p:sp>
      <p:sp>
        <p:nvSpPr>
          <p:cNvPr id="3" name="Text 1"/>
          <p:cNvSpPr/>
          <p:nvPr/>
        </p:nvSpPr>
        <p:spPr>
          <a:xfrm>
            <a:off x="1047750" y="1428750"/>
            <a:ext cx="9339068"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The learned head roughly triples on the physics model</a:t>
            </a:r>
            <a:endParaRPr lang="en-US" sz="5550" dirty="0"/>
          </a:p>
        </p:txBody>
      </p:sp>
      <p:sp>
        <p:nvSpPr>
          <p:cNvPr id="4" name="Text 2"/>
          <p:cNvSpPr/>
          <p:nvPr/>
        </p:nvSpPr>
        <p:spPr>
          <a:xfrm>
            <a:off x="6186041" y="3656707"/>
            <a:ext cx="3154842"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F6A5F"/>
                </a:solidFill>
                <a:latin typeface="Courier New" pitchFamily="34" charset="0"/>
                <a:ea typeface="Courier New" pitchFamily="34" charset="-122"/>
                <a:cs typeface="Courier New" pitchFamily="34" charset="-120"/>
              </a:rPr>
              <a:t>Ea MAE</a:t>
            </a:r>
            <a:endParaRPr lang="en-US" sz="1800" dirty="0"/>
          </a:p>
        </p:txBody>
      </p:sp>
      <p:sp>
        <p:nvSpPr>
          <p:cNvPr id="5" name="Text 3"/>
          <p:cNvSpPr/>
          <p:nvPr/>
        </p:nvSpPr>
        <p:spPr>
          <a:xfrm>
            <a:off x="9692878" y="3656707"/>
            <a:ext cx="3154996"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F6A5F"/>
                </a:solidFill>
                <a:latin typeface="Courier New" pitchFamily="34" charset="0"/>
                <a:ea typeface="Courier New" pitchFamily="34" charset="-122"/>
                <a:cs typeface="Courier New" pitchFamily="34" charset="-120"/>
              </a:rPr>
              <a:t>RMSE</a:t>
            </a:r>
            <a:endParaRPr lang="en-US" sz="1800" dirty="0"/>
          </a:p>
        </p:txBody>
      </p:sp>
      <p:sp>
        <p:nvSpPr>
          <p:cNvPr id="6" name="Text 4"/>
          <p:cNvSpPr/>
          <p:nvPr/>
        </p:nvSpPr>
        <p:spPr>
          <a:xfrm>
            <a:off x="13199864" y="3656707"/>
            <a:ext cx="3154996"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F6A5F"/>
                </a:solidFill>
                <a:latin typeface="Courier New" pitchFamily="34" charset="0"/>
                <a:ea typeface="Courier New" pitchFamily="34" charset="-122"/>
                <a:cs typeface="Courier New" pitchFamily="34" charset="-120"/>
              </a:rPr>
              <a:t>R²</a:t>
            </a:r>
            <a:endParaRPr lang="en-US" sz="1800" dirty="0"/>
          </a:p>
        </p:txBody>
      </p:sp>
      <p:sp>
        <p:nvSpPr>
          <p:cNvPr id="7" name="Shape 5"/>
          <p:cNvSpPr/>
          <p:nvPr/>
        </p:nvSpPr>
        <p:spPr>
          <a:xfrm>
            <a:off x="1047750" y="4152007"/>
            <a:ext cx="4909691" cy="9525"/>
          </a:xfrm>
          <a:prstGeom prst="rect">
            <a:avLst/>
          </a:prstGeom>
          <a:solidFill>
            <a:srgbClr val="DDD6C7"/>
          </a:solidFill>
          <a:ln/>
        </p:spPr>
      </p:sp>
      <p:sp>
        <p:nvSpPr>
          <p:cNvPr id="8" name="Text 6"/>
          <p:cNvSpPr/>
          <p:nvPr/>
        </p:nvSpPr>
        <p:spPr>
          <a:xfrm>
            <a:off x="1276350" y="4409182"/>
            <a:ext cx="4599782" cy="676275"/>
          </a:xfrm>
          <a:prstGeom prst="rect">
            <a:avLst/>
          </a:prstGeom>
          <a:noFill/>
          <a:ln/>
        </p:spPr>
        <p:txBody>
          <a:bodyPr wrap="square" lIns="25400" tIns="25400" rIns="25400" bIns="25400" rtlCol="0" anchor="t">
            <a:normAutofit/>
          </a:bodyPr>
          <a:lstStyle/>
          <a:p>
            <a:pPr algn="l" indent="0" marL="0">
              <a:buNone/>
            </a:pPr>
            <a:r>
              <a:rPr lang="en-US" sz="2400" dirty="0">
                <a:solidFill>
                  <a:srgbClr val="20262D"/>
                </a:solidFill>
                <a:latin typeface="Arial" pitchFamily="34" charset="0"/>
                <a:ea typeface="Arial" pitchFamily="34" charset="-122"/>
                <a:cs typeface="Arial" pitchFamily="34" charset="-120"/>
              </a:rPr>
              <a:t>Physics baseline</a:t>
            </a:r>
            <a:endParaRPr lang="en-US" sz="2400" dirty="0"/>
          </a:p>
        </p:txBody>
      </p:sp>
      <p:sp>
        <p:nvSpPr>
          <p:cNvPr id="9" name="Shape 7"/>
          <p:cNvSpPr/>
          <p:nvPr/>
        </p:nvSpPr>
        <p:spPr>
          <a:xfrm>
            <a:off x="5957441" y="4152007"/>
            <a:ext cx="3506837" cy="9525"/>
          </a:xfrm>
          <a:prstGeom prst="rect">
            <a:avLst/>
          </a:prstGeom>
          <a:solidFill>
            <a:srgbClr val="DDD6C7"/>
          </a:solidFill>
          <a:ln/>
        </p:spPr>
      </p:sp>
      <p:sp>
        <p:nvSpPr>
          <p:cNvPr id="10" name="Text 8"/>
          <p:cNvSpPr/>
          <p:nvPr/>
        </p:nvSpPr>
        <p:spPr>
          <a:xfrm>
            <a:off x="6186041" y="4409182"/>
            <a:ext cx="3154842" cy="676275"/>
          </a:xfrm>
          <a:prstGeom prst="rect">
            <a:avLst/>
          </a:prstGeom>
          <a:noFill/>
          <a:ln/>
        </p:spPr>
        <p:txBody>
          <a:bodyPr wrap="square" lIns="25400" tIns="25400" rIns="25400" bIns="25400" rtlCol="0" anchor="t">
            <a:normAutofit/>
          </a:bodyPr>
          <a:lstStyle/>
          <a:p>
            <a:pPr algn="l" indent="0" marL="0">
              <a:buNone/>
            </a:pPr>
            <a:r>
              <a:rPr lang="en-US" sz="3300" dirty="0">
                <a:solidFill>
                  <a:srgbClr val="6F6A5F"/>
                </a:solidFill>
                <a:latin typeface="Georgia" pitchFamily="34" charset="0"/>
                <a:ea typeface="Georgia" pitchFamily="34" charset="-122"/>
                <a:cs typeface="Georgia" pitchFamily="34" charset="-120"/>
              </a:rPr>
              <a:t>15.5</a:t>
            </a:r>
            <a:endParaRPr lang="en-US" sz="3300" dirty="0"/>
          </a:p>
        </p:txBody>
      </p:sp>
      <p:sp>
        <p:nvSpPr>
          <p:cNvPr id="11" name="Shape 9"/>
          <p:cNvSpPr/>
          <p:nvPr/>
        </p:nvSpPr>
        <p:spPr>
          <a:xfrm>
            <a:off x="9464278" y="4152007"/>
            <a:ext cx="3506986" cy="9525"/>
          </a:xfrm>
          <a:prstGeom prst="rect">
            <a:avLst/>
          </a:prstGeom>
          <a:solidFill>
            <a:srgbClr val="DDD6C7"/>
          </a:solidFill>
          <a:ln/>
        </p:spPr>
      </p:sp>
      <p:sp>
        <p:nvSpPr>
          <p:cNvPr id="12" name="Text 10"/>
          <p:cNvSpPr/>
          <p:nvPr/>
        </p:nvSpPr>
        <p:spPr>
          <a:xfrm>
            <a:off x="9692878" y="4409182"/>
            <a:ext cx="3154996" cy="676275"/>
          </a:xfrm>
          <a:prstGeom prst="rect">
            <a:avLst/>
          </a:prstGeom>
          <a:noFill/>
          <a:ln/>
        </p:spPr>
        <p:txBody>
          <a:bodyPr wrap="square" lIns="25400" tIns="25400" rIns="25400" bIns="25400" rtlCol="0" anchor="t">
            <a:normAutofit/>
          </a:bodyPr>
          <a:lstStyle/>
          <a:p>
            <a:pPr algn="l" indent="0" marL="0">
              <a:buNone/>
            </a:pPr>
            <a:r>
              <a:rPr lang="en-US" sz="3300" dirty="0">
                <a:solidFill>
                  <a:srgbClr val="6F6A5F"/>
                </a:solidFill>
                <a:latin typeface="Georgia" pitchFamily="34" charset="0"/>
                <a:ea typeface="Georgia" pitchFamily="34" charset="-122"/>
                <a:cs typeface="Georgia" pitchFamily="34" charset="-120"/>
              </a:rPr>
              <a:t>19.5</a:t>
            </a:r>
            <a:endParaRPr lang="en-US" sz="3300" dirty="0"/>
          </a:p>
        </p:txBody>
      </p:sp>
      <p:sp>
        <p:nvSpPr>
          <p:cNvPr id="13" name="Shape 11"/>
          <p:cNvSpPr/>
          <p:nvPr/>
        </p:nvSpPr>
        <p:spPr>
          <a:xfrm>
            <a:off x="12971264" y="4152007"/>
            <a:ext cx="3506986" cy="9525"/>
          </a:xfrm>
          <a:prstGeom prst="rect">
            <a:avLst/>
          </a:prstGeom>
          <a:solidFill>
            <a:srgbClr val="DDD6C7"/>
          </a:solidFill>
          <a:ln/>
        </p:spPr>
      </p:sp>
      <p:sp>
        <p:nvSpPr>
          <p:cNvPr id="14" name="Text 12"/>
          <p:cNvSpPr/>
          <p:nvPr/>
        </p:nvSpPr>
        <p:spPr>
          <a:xfrm>
            <a:off x="13199864" y="4409182"/>
            <a:ext cx="3154996" cy="676275"/>
          </a:xfrm>
          <a:prstGeom prst="rect">
            <a:avLst/>
          </a:prstGeom>
          <a:noFill/>
          <a:ln/>
        </p:spPr>
        <p:txBody>
          <a:bodyPr wrap="square" lIns="25400" tIns="25400" rIns="25400" bIns="25400" rtlCol="0" anchor="t">
            <a:normAutofit/>
          </a:bodyPr>
          <a:lstStyle/>
          <a:p>
            <a:pPr algn="l" indent="0" marL="0">
              <a:buNone/>
            </a:pPr>
            <a:r>
              <a:rPr lang="en-US" sz="3300" dirty="0">
                <a:solidFill>
                  <a:srgbClr val="6F6A5F"/>
                </a:solidFill>
                <a:latin typeface="Georgia" pitchFamily="34" charset="0"/>
                <a:ea typeface="Georgia" pitchFamily="34" charset="-122"/>
                <a:cs typeface="Georgia" pitchFamily="34" charset="-120"/>
              </a:rPr>
              <a:t>0.44</a:t>
            </a:r>
            <a:endParaRPr lang="en-US" sz="3300" dirty="0"/>
          </a:p>
        </p:txBody>
      </p:sp>
      <p:sp>
        <p:nvSpPr>
          <p:cNvPr id="15" name="Shape 13"/>
          <p:cNvSpPr/>
          <p:nvPr/>
        </p:nvSpPr>
        <p:spPr>
          <a:xfrm>
            <a:off x="1047750" y="5295007"/>
            <a:ext cx="4909691" cy="9525"/>
          </a:xfrm>
          <a:prstGeom prst="rect">
            <a:avLst/>
          </a:prstGeom>
          <a:solidFill>
            <a:srgbClr val="DDD6C7"/>
          </a:solidFill>
          <a:ln/>
        </p:spPr>
      </p:sp>
      <p:sp>
        <p:nvSpPr>
          <p:cNvPr id="16" name="Text 14"/>
          <p:cNvSpPr/>
          <p:nvPr/>
        </p:nvSpPr>
        <p:spPr>
          <a:xfrm>
            <a:off x="1276350" y="5552182"/>
            <a:ext cx="4599782" cy="676275"/>
          </a:xfrm>
          <a:prstGeom prst="rect">
            <a:avLst/>
          </a:prstGeom>
          <a:noFill/>
          <a:ln/>
        </p:spPr>
        <p:txBody>
          <a:bodyPr wrap="square" lIns="25400" tIns="25400" rIns="25400" bIns="25400" rtlCol="0" anchor="t">
            <a:normAutofit/>
          </a:bodyPr>
          <a:lstStyle/>
          <a:p>
            <a:pPr algn="l" indent="0" marL="0">
              <a:buNone/>
            </a:pPr>
            <a:r>
              <a:rPr lang="en-US" sz="2400" b="1" dirty="0">
                <a:solidFill>
                  <a:srgbClr val="20262D"/>
                </a:solidFill>
                <a:latin typeface="Arial" pitchFamily="34" charset="0"/>
                <a:ea typeface="Arial" pitchFamily="34" charset="-122"/>
                <a:cs typeface="Arial" pitchFamily="34" charset="-120"/>
              </a:rPr>
              <a:t>Neural Ea head</a:t>
            </a:r>
            <a:endParaRPr lang="en-US" sz="2400" dirty="0"/>
          </a:p>
        </p:txBody>
      </p:sp>
      <p:sp>
        <p:nvSpPr>
          <p:cNvPr id="17" name="Shape 15"/>
          <p:cNvSpPr/>
          <p:nvPr/>
        </p:nvSpPr>
        <p:spPr>
          <a:xfrm>
            <a:off x="5957441" y="5295007"/>
            <a:ext cx="3506837" cy="9525"/>
          </a:xfrm>
          <a:prstGeom prst="rect">
            <a:avLst/>
          </a:prstGeom>
          <a:solidFill>
            <a:srgbClr val="DDD6C7"/>
          </a:solidFill>
          <a:ln/>
        </p:spPr>
      </p:sp>
      <p:sp>
        <p:nvSpPr>
          <p:cNvPr id="18" name="Text 16"/>
          <p:cNvSpPr/>
          <p:nvPr/>
        </p:nvSpPr>
        <p:spPr>
          <a:xfrm>
            <a:off x="6186041" y="5552182"/>
            <a:ext cx="3154842" cy="676275"/>
          </a:xfrm>
          <a:prstGeom prst="rect">
            <a:avLst/>
          </a:prstGeom>
          <a:noFill/>
          <a:ln/>
        </p:spPr>
        <p:txBody>
          <a:bodyPr wrap="square" lIns="25400" tIns="25400" rIns="25400" bIns="25400" rtlCol="0" anchor="t">
            <a:normAutofit/>
          </a:bodyPr>
          <a:lstStyle/>
          <a:p>
            <a:pPr algn="l" indent="0" marL="0">
              <a:buNone/>
            </a:pPr>
            <a:r>
              <a:rPr lang="en-US" sz="3300" dirty="0">
                <a:solidFill>
                  <a:srgbClr val="2F7A6F"/>
                </a:solidFill>
                <a:latin typeface="Georgia" pitchFamily="34" charset="0"/>
                <a:ea typeface="Georgia" pitchFamily="34" charset="-122"/>
                <a:cs typeface="Georgia" pitchFamily="34" charset="-120"/>
              </a:rPr>
              <a:t>5.01</a:t>
            </a:r>
            <a:endParaRPr lang="en-US" sz="3300" dirty="0"/>
          </a:p>
        </p:txBody>
      </p:sp>
      <p:sp>
        <p:nvSpPr>
          <p:cNvPr id="19" name="Shape 17"/>
          <p:cNvSpPr/>
          <p:nvPr/>
        </p:nvSpPr>
        <p:spPr>
          <a:xfrm>
            <a:off x="9464278" y="5295007"/>
            <a:ext cx="3506986" cy="9525"/>
          </a:xfrm>
          <a:prstGeom prst="rect">
            <a:avLst/>
          </a:prstGeom>
          <a:solidFill>
            <a:srgbClr val="DDD6C7"/>
          </a:solidFill>
          <a:ln/>
        </p:spPr>
      </p:sp>
      <p:sp>
        <p:nvSpPr>
          <p:cNvPr id="20" name="Text 18"/>
          <p:cNvSpPr/>
          <p:nvPr/>
        </p:nvSpPr>
        <p:spPr>
          <a:xfrm>
            <a:off x="9692878" y="5552182"/>
            <a:ext cx="3154996" cy="676275"/>
          </a:xfrm>
          <a:prstGeom prst="rect">
            <a:avLst/>
          </a:prstGeom>
          <a:noFill/>
          <a:ln/>
        </p:spPr>
        <p:txBody>
          <a:bodyPr wrap="square" lIns="25400" tIns="25400" rIns="25400" bIns="25400" rtlCol="0" anchor="t">
            <a:normAutofit/>
          </a:bodyPr>
          <a:lstStyle/>
          <a:p>
            <a:pPr algn="l" indent="0" marL="0">
              <a:buNone/>
            </a:pPr>
            <a:r>
              <a:rPr lang="en-US" sz="3300" dirty="0">
                <a:solidFill>
                  <a:srgbClr val="2F7A6F"/>
                </a:solidFill>
                <a:latin typeface="Georgia" pitchFamily="34" charset="0"/>
                <a:ea typeface="Georgia" pitchFamily="34" charset="-122"/>
                <a:cs typeface="Georgia" pitchFamily="34" charset="-120"/>
              </a:rPr>
              <a:t>8.30</a:t>
            </a:r>
            <a:endParaRPr lang="en-US" sz="3300" dirty="0"/>
          </a:p>
        </p:txBody>
      </p:sp>
      <p:sp>
        <p:nvSpPr>
          <p:cNvPr id="21" name="Shape 19"/>
          <p:cNvSpPr/>
          <p:nvPr/>
        </p:nvSpPr>
        <p:spPr>
          <a:xfrm>
            <a:off x="12971264" y="5295007"/>
            <a:ext cx="3506986" cy="9525"/>
          </a:xfrm>
          <a:prstGeom prst="rect">
            <a:avLst/>
          </a:prstGeom>
          <a:solidFill>
            <a:srgbClr val="DDD6C7"/>
          </a:solidFill>
          <a:ln/>
        </p:spPr>
      </p:sp>
      <p:sp>
        <p:nvSpPr>
          <p:cNvPr id="22" name="Text 20"/>
          <p:cNvSpPr/>
          <p:nvPr/>
        </p:nvSpPr>
        <p:spPr>
          <a:xfrm>
            <a:off x="13199864" y="5552182"/>
            <a:ext cx="3154996" cy="676275"/>
          </a:xfrm>
          <a:prstGeom prst="rect">
            <a:avLst/>
          </a:prstGeom>
          <a:noFill/>
          <a:ln/>
        </p:spPr>
        <p:txBody>
          <a:bodyPr wrap="square" lIns="25400" tIns="25400" rIns="25400" bIns="25400" rtlCol="0" anchor="t">
            <a:normAutofit/>
          </a:bodyPr>
          <a:lstStyle/>
          <a:p>
            <a:pPr algn="l" indent="0" marL="0">
              <a:buNone/>
            </a:pPr>
            <a:r>
              <a:rPr lang="en-US" sz="3300" dirty="0">
                <a:solidFill>
                  <a:srgbClr val="2F7A6F"/>
                </a:solidFill>
                <a:latin typeface="Georgia" pitchFamily="34" charset="0"/>
                <a:ea typeface="Georgia" pitchFamily="34" charset="-122"/>
                <a:cs typeface="Georgia" pitchFamily="34" charset="-120"/>
              </a:rPr>
              <a:t>0.90</a:t>
            </a:r>
            <a:endParaRPr lang="en-US" sz="3300" dirty="0"/>
          </a:p>
        </p:txBody>
      </p:sp>
      <p:sp>
        <p:nvSpPr>
          <p:cNvPr id="23" name="Text 21"/>
          <p:cNvSpPr/>
          <p:nvPr/>
        </p:nvSpPr>
        <p:spPr>
          <a:xfrm>
            <a:off x="1047750" y="6857107"/>
            <a:ext cx="13735050"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6F6A5F"/>
                </a:solidFill>
                <a:latin typeface="Arial" pitchFamily="34" charset="0"/>
                <a:ea typeface="Arial" pitchFamily="34" charset="-122"/>
                <a:cs typeface="Arial" pitchFamily="34" charset="-120"/>
              </a:rPr>
              <a:t>Measured on the same held-out b97d3 validation set. The physics model (Marcus / Hammond / OLS) is kept only as a fallback for legacy checkpoints.</a:t>
            </a:r>
            <a:endParaRPr lang="en-US" sz="2025" dirty="0"/>
          </a:p>
        </p:txBody>
      </p:sp>
      <p:sp>
        <p:nvSpPr>
          <p:cNvPr id="24" name="Text 22"/>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25" name="Text 23"/>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18</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REMAINING ERROR</a:t>
            </a:r>
            <a:endParaRPr lang="en-US" sz="1800" dirty="0"/>
          </a:p>
        </p:txBody>
      </p:sp>
      <p:sp>
        <p:nvSpPr>
          <p:cNvPr id="3" name="Text 1"/>
          <p:cNvSpPr/>
          <p:nvPr/>
        </p:nvSpPr>
        <p:spPr>
          <a:xfrm>
            <a:off x="1047750" y="1428750"/>
            <a:ext cx="8560799"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Error concentrates in the high-barrier tail</a:t>
            </a:r>
            <a:endParaRPr lang="en-US" sz="5550" dirty="0"/>
          </a:p>
        </p:txBody>
      </p:sp>
      <p:sp>
        <p:nvSpPr>
          <p:cNvPr id="4" name="Text 2"/>
          <p:cNvSpPr/>
          <p:nvPr/>
        </p:nvSpPr>
        <p:spPr>
          <a:xfrm>
            <a:off x="1047750" y="3390007"/>
            <a:ext cx="8824020" cy="314325"/>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6F6A5F"/>
                </a:solidFill>
                <a:latin typeface="Courier New" pitchFamily="34" charset="0"/>
                <a:ea typeface="Courier New" pitchFamily="34" charset="-122"/>
                <a:cs typeface="Courier New" pitchFamily="34" charset="-120"/>
              </a:rPr>
              <a:t>Ea MAE BY TRUE BARRIER (kcal/mol)</a:t>
            </a:r>
            <a:endParaRPr lang="en-US" sz="1650" dirty="0"/>
          </a:p>
        </p:txBody>
      </p:sp>
      <p:sp>
        <p:nvSpPr>
          <p:cNvPr id="5" name="Text 3"/>
          <p:cNvSpPr/>
          <p:nvPr/>
        </p:nvSpPr>
        <p:spPr>
          <a:xfrm>
            <a:off x="1595140" y="6110436"/>
            <a:ext cx="433388" cy="476250"/>
          </a:xfrm>
          <a:prstGeom prst="rect">
            <a:avLst/>
          </a:prstGeom>
          <a:noFill/>
          <a:ln/>
        </p:spPr>
        <p:txBody>
          <a:bodyPr wrap="square" lIns="25400" tIns="25400" rIns="25400" bIns="25400" rtlCol="0" anchor="t">
            <a:normAutofit/>
          </a:bodyPr>
          <a:lstStyle/>
          <a:p>
            <a:pPr algn="l" indent="0" marL="0">
              <a:buNone/>
            </a:pPr>
            <a:r>
              <a:rPr lang="en-US" sz="2250" dirty="0">
                <a:solidFill>
                  <a:srgbClr val="20262D"/>
                </a:solidFill>
                <a:latin typeface="Georgia" pitchFamily="34" charset="0"/>
                <a:ea typeface="Georgia" pitchFamily="34" charset="-122"/>
                <a:cs typeface="Georgia" pitchFamily="34" charset="-120"/>
              </a:rPr>
              <a:t>3.2</a:t>
            </a:r>
            <a:endParaRPr lang="en-US" sz="2250" dirty="0"/>
          </a:p>
        </p:txBody>
      </p:sp>
      <p:sp>
        <p:nvSpPr>
          <p:cNvPr id="6" name="Shape 4"/>
          <p:cNvSpPr/>
          <p:nvPr/>
        </p:nvSpPr>
        <p:spPr>
          <a:xfrm>
            <a:off x="1047750" y="6624786"/>
            <a:ext cx="1451967" cy="308521"/>
          </a:xfrm>
          <a:prstGeom prst="roundRect">
            <a:avLst>
              <a:gd name="adj" fmla="val 9262"/>
            </a:avLst>
          </a:prstGeom>
          <a:solidFill>
            <a:srgbClr val="2F7A6F"/>
          </a:solidFill>
          <a:ln/>
        </p:spPr>
      </p:sp>
      <p:sp>
        <p:nvSpPr>
          <p:cNvPr id="7" name="Text 5"/>
          <p:cNvSpPr/>
          <p:nvPr/>
        </p:nvSpPr>
        <p:spPr>
          <a:xfrm>
            <a:off x="1523405" y="7028557"/>
            <a:ext cx="576709" cy="314325"/>
          </a:xfrm>
          <a:prstGeom prst="rect">
            <a:avLst/>
          </a:prstGeom>
          <a:noFill/>
          <a:ln/>
        </p:spPr>
        <p:txBody>
          <a:bodyPr wrap="square" lIns="25400" tIns="25400" rIns="25400" bIns="25400" rtlCol="0" anchor="t">
            <a:normAutofit/>
          </a:bodyPr>
          <a:lstStyle/>
          <a:p>
            <a:pPr algn="l" indent="0" marL="0">
              <a:buNone/>
            </a:pPr>
            <a:r>
              <a:rPr lang="en-US" sz="1650" dirty="0">
                <a:solidFill>
                  <a:srgbClr val="6F6A5F"/>
                </a:solidFill>
                <a:latin typeface="Arial" pitchFamily="34" charset="0"/>
                <a:ea typeface="Arial" pitchFamily="34" charset="-122"/>
                <a:cs typeface="Arial" pitchFamily="34" charset="-120"/>
              </a:rPr>
              <a:t>0–20</a:t>
            </a:r>
            <a:endParaRPr lang="en-US" sz="1650" dirty="0"/>
          </a:p>
        </p:txBody>
      </p:sp>
      <p:sp>
        <p:nvSpPr>
          <p:cNvPr id="8" name="Text 6"/>
          <p:cNvSpPr/>
          <p:nvPr/>
        </p:nvSpPr>
        <p:spPr>
          <a:xfrm>
            <a:off x="3237607" y="5904607"/>
            <a:ext cx="433388" cy="476250"/>
          </a:xfrm>
          <a:prstGeom prst="rect">
            <a:avLst/>
          </a:prstGeom>
          <a:noFill/>
          <a:ln/>
        </p:spPr>
        <p:txBody>
          <a:bodyPr wrap="square" lIns="25400" tIns="25400" rIns="25400" bIns="25400" rtlCol="0" anchor="t">
            <a:normAutofit/>
          </a:bodyPr>
          <a:lstStyle/>
          <a:p>
            <a:pPr algn="l" indent="0" marL="0">
              <a:buNone/>
            </a:pPr>
            <a:r>
              <a:rPr lang="en-US" sz="2250" dirty="0">
                <a:solidFill>
                  <a:srgbClr val="20262D"/>
                </a:solidFill>
                <a:latin typeface="Georgia" pitchFamily="34" charset="0"/>
                <a:ea typeface="Georgia" pitchFamily="34" charset="-122"/>
                <a:cs typeface="Georgia" pitchFamily="34" charset="-120"/>
              </a:rPr>
              <a:t>5.3</a:t>
            </a:r>
            <a:endParaRPr lang="en-US" sz="2250" dirty="0"/>
          </a:p>
        </p:txBody>
      </p:sp>
      <p:sp>
        <p:nvSpPr>
          <p:cNvPr id="9" name="Shape 7"/>
          <p:cNvSpPr/>
          <p:nvPr/>
        </p:nvSpPr>
        <p:spPr>
          <a:xfrm>
            <a:off x="2690217" y="6418957"/>
            <a:ext cx="1451967" cy="514350"/>
          </a:xfrm>
          <a:prstGeom prst="roundRect">
            <a:avLst>
              <a:gd name="adj" fmla="val 5556"/>
            </a:avLst>
          </a:prstGeom>
          <a:solidFill>
            <a:srgbClr val="2F7A6F"/>
          </a:solidFill>
          <a:ln/>
        </p:spPr>
      </p:sp>
      <p:sp>
        <p:nvSpPr>
          <p:cNvPr id="10" name="Text 8"/>
          <p:cNvSpPr/>
          <p:nvPr/>
        </p:nvSpPr>
        <p:spPr>
          <a:xfrm>
            <a:off x="3103066" y="7028557"/>
            <a:ext cx="702469" cy="314325"/>
          </a:xfrm>
          <a:prstGeom prst="rect">
            <a:avLst/>
          </a:prstGeom>
          <a:noFill/>
          <a:ln/>
        </p:spPr>
        <p:txBody>
          <a:bodyPr wrap="square" lIns="25400" tIns="25400" rIns="25400" bIns="25400" rtlCol="0" anchor="t">
            <a:normAutofit/>
          </a:bodyPr>
          <a:lstStyle/>
          <a:p>
            <a:pPr algn="l" indent="0" marL="0">
              <a:buNone/>
            </a:pPr>
            <a:r>
              <a:rPr lang="en-US" sz="1650" dirty="0">
                <a:solidFill>
                  <a:srgbClr val="6F6A5F"/>
                </a:solidFill>
                <a:latin typeface="Arial" pitchFamily="34" charset="0"/>
                <a:ea typeface="Arial" pitchFamily="34" charset="-122"/>
                <a:cs typeface="Arial" pitchFamily="34" charset="-120"/>
              </a:rPr>
              <a:t>40–60</a:t>
            </a:r>
            <a:endParaRPr lang="en-US" sz="1650" dirty="0"/>
          </a:p>
        </p:txBody>
      </p:sp>
      <p:sp>
        <p:nvSpPr>
          <p:cNvPr id="11" name="Text 9"/>
          <p:cNvSpPr/>
          <p:nvPr/>
        </p:nvSpPr>
        <p:spPr>
          <a:xfrm>
            <a:off x="4880074" y="5733157"/>
            <a:ext cx="433388" cy="476250"/>
          </a:xfrm>
          <a:prstGeom prst="rect">
            <a:avLst/>
          </a:prstGeom>
          <a:noFill/>
          <a:ln/>
        </p:spPr>
        <p:txBody>
          <a:bodyPr wrap="square" lIns="25400" tIns="25400" rIns="25400" bIns="25400" rtlCol="0" anchor="t">
            <a:normAutofit/>
          </a:bodyPr>
          <a:lstStyle/>
          <a:p>
            <a:pPr algn="l" indent="0" marL="0">
              <a:buNone/>
            </a:pPr>
            <a:r>
              <a:rPr lang="en-US" sz="2250" dirty="0">
                <a:solidFill>
                  <a:srgbClr val="20262D"/>
                </a:solidFill>
                <a:latin typeface="Georgia" pitchFamily="34" charset="0"/>
                <a:ea typeface="Georgia" pitchFamily="34" charset="-122"/>
                <a:cs typeface="Georgia" pitchFamily="34" charset="-120"/>
              </a:rPr>
              <a:t>6.9</a:t>
            </a:r>
            <a:endParaRPr lang="en-US" sz="2250" dirty="0"/>
          </a:p>
        </p:txBody>
      </p:sp>
      <p:sp>
        <p:nvSpPr>
          <p:cNvPr id="12" name="Shape 10"/>
          <p:cNvSpPr/>
          <p:nvPr/>
        </p:nvSpPr>
        <p:spPr>
          <a:xfrm>
            <a:off x="4332684" y="6247507"/>
            <a:ext cx="1451967" cy="685800"/>
          </a:xfrm>
          <a:prstGeom prst="roundRect">
            <a:avLst>
              <a:gd name="adj" fmla="val 4167"/>
            </a:avLst>
          </a:prstGeom>
          <a:solidFill>
            <a:srgbClr val="2F7A6F"/>
          </a:solidFill>
          <a:ln/>
        </p:spPr>
      </p:sp>
      <p:sp>
        <p:nvSpPr>
          <p:cNvPr id="13" name="Text 11"/>
          <p:cNvSpPr/>
          <p:nvPr/>
        </p:nvSpPr>
        <p:spPr>
          <a:xfrm>
            <a:off x="4682728" y="7028557"/>
            <a:ext cx="82808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6F6A5F"/>
                </a:solidFill>
                <a:latin typeface="Arial" pitchFamily="34" charset="0"/>
                <a:ea typeface="Arial" pitchFamily="34" charset="-122"/>
                <a:cs typeface="Arial" pitchFamily="34" charset="-120"/>
              </a:rPr>
              <a:t>80–100</a:t>
            </a:r>
            <a:endParaRPr lang="en-US" sz="1650" dirty="0"/>
          </a:p>
        </p:txBody>
      </p:sp>
      <p:sp>
        <p:nvSpPr>
          <p:cNvPr id="14" name="Text 12"/>
          <p:cNvSpPr/>
          <p:nvPr/>
        </p:nvSpPr>
        <p:spPr>
          <a:xfrm>
            <a:off x="6451104" y="4670227"/>
            <a:ext cx="576263" cy="476250"/>
          </a:xfrm>
          <a:prstGeom prst="rect">
            <a:avLst/>
          </a:prstGeom>
          <a:noFill/>
          <a:ln/>
        </p:spPr>
        <p:txBody>
          <a:bodyPr wrap="square" lIns="25400" tIns="25400" rIns="25400" bIns="25400" rtlCol="0" anchor="t">
            <a:normAutofit/>
          </a:bodyPr>
          <a:lstStyle/>
          <a:p>
            <a:pPr algn="l" indent="0" marL="0">
              <a:buNone/>
            </a:pPr>
            <a:r>
              <a:rPr lang="en-US" sz="2250" dirty="0">
                <a:solidFill>
                  <a:srgbClr val="20262D"/>
                </a:solidFill>
                <a:latin typeface="Georgia" pitchFamily="34" charset="0"/>
                <a:ea typeface="Georgia" pitchFamily="34" charset="-122"/>
                <a:cs typeface="Georgia" pitchFamily="34" charset="-120"/>
              </a:rPr>
              <a:t>17.9</a:t>
            </a:r>
            <a:endParaRPr lang="en-US" sz="2250" dirty="0"/>
          </a:p>
        </p:txBody>
      </p:sp>
      <p:sp>
        <p:nvSpPr>
          <p:cNvPr id="15" name="Shape 13"/>
          <p:cNvSpPr/>
          <p:nvPr/>
        </p:nvSpPr>
        <p:spPr>
          <a:xfrm>
            <a:off x="5975152" y="5184577"/>
            <a:ext cx="1451967" cy="1748730"/>
          </a:xfrm>
          <a:prstGeom prst="roundRect">
            <a:avLst>
              <a:gd name="adj" fmla="val 1968"/>
            </a:avLst>
          </a:prstGeom>
          <a:solidFill>
            <a:srgbClr val="C08A3E"/>
          </a:solidFill>
          <a:ln/>
        </p:spPr>
      </p:sp>
      <p:sp>
        <p:nvSpPr>
          <p:cNvPr id="16" name="Text 14"/>
          <p:cNvSpPr/>
          <p:nvPr/>
        </p:nvSpPr>
        <p:spPr>
          <a:xfrm>
            <a:off x="6262241" y="7028557"/>
            <a:ext cx="953839" cy="314325"/>
          </a:xfrm>
          <a:prstGeom prst="rect">
            <a:avLst/>
          </a:prstGeom>
          <a:noFill/>
          <a:ln/>
        </p:spPr>
        <p:txBody>
          <a:bodyPr wrap="square" lIns="25400" tIns="25400" rIns="25400" bIns="25400" rtlCol="0" anchor="t">
            <a:normAutofit/>
          </a:bodyPr>
          <a:lstStyle/>
          <a:p>
            <a:pPr algn="l" indent="0" marL="0">
              <a:buNone/>
            </a:pPr>
            <a:r>
              <a:rPr lang="en-US" sz="1650" dirty="0">
                <a:solidFill>
                  <a:srgbClr val="6F6A5F"/>
                </a:solidFill>
                <a:latin typeface="Arial" pitchFamily="34" charset="0"/>
                <a:ea typeface="Arial" pitchFamily="34" charset="-122"/>
                <a:cs typeface="Arial" pitchFamily="34" charset="-120"/>
              </a:rPr>
              <a:t>100–120</a:t>
            </a:r>
            <a:endParaRPr lang="en-US" sz="1650" dirty="0"/>
          </a:p>
        </p:txBody>
      </p:sp>
      <p:sp>
        <p:nvSpPr>
          <p:cNvPr id="17" name="Text 15"/>
          <p:cNvSpPr/>
          <p:nvPr/>
        </p:nvSpPr>
        <p:spPr>
          <a:xfrm>
            <a:off x="8093571" y="3875782"/>
            <a:ext cx="576263" cy="476250"/>
          </a:xfrm>
          <a:prstGeom prst="rect">
            <a:avLst/>
          </a:prstGeom>
          <a:noFill/>
          <a:ln/>
        </p:spPr>
        <p:txBody>
          <a:bodyPr wrap="square" lIns="25400" tIns="25400" rIns="25400" bIns="25400" rtlCol="0" anchor="t">
            <a:normAutofit/>
          </a:bodyPr>
          <a:lstStyle/>
          <a:p>
            <a:pPr algn="l" indent="0" marL="0">
              <a:buNone/>
            </a:pPr>
            <a:r>
              <a:rPr lang="en-US" sz="2250" dirty="0">
                <a:solidFill>
                  <a:srgbClr val="B4462F"/>
                </a:solidFill>
                <a:latin typeface="Georgia" pitchFamily="34" charset="0"/>
                <a:ea typeface="Georgia" pitchFamily="34" charset="-122"/>
                <a:cs typeface="Georgia" pitchFamily="34" charset="-120"/>
              </a:rPr>
              <a:t>34.9</a:t>
            </a:r>
            <a:endParaRPr lang="en-US" sz="2250" dirty="0"/>
          </a:p>
        </p:txBody>
      </p:sp>
      <p:sp>
        <p:nvSpPr>
          <p:cNvPr id="18" name="Shape 16"/>
          <p:cNvSpPr/>
          <p:nvPr/>
        </p:nvSpPr>
        <p:spPr>
          <a:xfrm>
            <a:off x="7617619" y="4390132"/>
            <a:ext cx="1451967" cy="2543175"/>
          </a:xfrm>
          <a:prstGeom prst="roundRect">
            <a:avLst>
              <a:gd name="adj" fmla="val 1968"/>
            </a:avLst>
          </a:prstGeom>
          <a:solidFill>
            <a:srgbClr val="B4462F"/>
          </a:solidFill>
          <a:ln/>
        </p:spPr>
      </p:sp>
      <p:sp>
        <p:nvSpPr>
          <p:cNvPr id="19" name="Text 17"/>
          <p:cNvSpPr/>
          <p:nvPr/>
        </p:nvSpPr>
        <p:spPr>
          <a:xfrm>
            <a:off x="8092083" y="7028557"/>
            <a:ext cx="579239" cy="314325"/>
          </a:xfrm>
          <a:prstGeom prst="rect">
            <a:avLst/>
          </a:prstGeom>
          <a:noFill/>
          <a:ln/>
        </p:spPr>
        <p:txBody>
          <a:bodyPr wrap="square" lIns="25400" tIns="25400" rIns="25400" bIns="25400" rtlCol="0" anchor="t">
            <a:normAutofit/>
          </a:bodyPr>
          <a:lstStyle/>
          <a:p>
            <a:pPr algn="l" indent="0" marL="0">
              <a:buNone/>
            </a:pPr>
            <a:r>
              <a:rPr lang="en-US" sz="1650" dirty="0">
                <a:solidFill>
                  <a:srgbClr val="6F6A5F"/>
                </a:solidFill>
                <a:latin typeface="Arial" pitchFamily="34" charset="0"/>
                <a:ea typeface="Arial" pitchFamily="34" charset="-122"/>
                <a:cs typeface="Arial" pitchFamily="34" charset="-120"/>
              </a:rPr>
              <a:t>120+</a:t>
            </a:r>
            <a:endParaRPr lang="en-US" sz="1650" dirty="0"/>
          </a:p>
        </p:txBody>
      </p:sp>
      <p:sp>
        <p:nvSpPr>
          <p:cNvPr id="20" name="Shape 18"/>
          <p:cNvSpPr/>
          <p:nvPr/>
        </p:nvSpPr>
        <p:spPr>
          <a:xfrm>
            <a:off x="9564886" y="3813870"/>
            <a:ext cx="7484864" cy="3490913"/>
          </a:xfrm>
          <a:prstGeom prst="roundRect">
            <a:avLst>
              <a:gd name="adj" fmla="val 2183"/>
            </a:avLst>
          </a:prstGeom>
          <a:solidFill>
            <a:srgbClr val="20262D"/>
          </a:solidFill>
          <a:ln/>
        </p:spPr>
      </p:sp>
      <p:sp>
        <p:nvSpPr>
          <p:cNvPr id="21" name="Text 19"/>
          <p:cNvSpPr/>
          <p:nvPr/>
        </p:nvSpPr>
        <p:spPr>
          <a:xfrm>
            <a:off x="9964936" y="4175820"/>
            <a:ext cx="7353240" cy="3238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C08A3E"/>
                </a:solidFill>
                <a:latin typeface="Courier New" pitchFamily="34" charset="0"/>
                <a:ea typeface="Courier New" pitchFamily="34" charset="-122"/>
                <a:cs typeface="Courier New" pitchFamily="34" charset="-120"/>
              </a:rPr>
              <a:t>THE PATTERN</a:t>
            </a:r>
            <a:endParaRPr lang="en-US" sz="1725" dirty="0"/>
          </a:p>
        </p:txBody>
      </p:sp>
      <p:sp>
        <p:nvSpPr>
          <p:cNvPr id="22" name="Text 20"/>
          <p:cNvSpPr/>
          <p:nvPr/>
        </p:nvSpPr>
        <p:spPr>
          <a:xfrm>
            <a:off x="9964936" y="4671120"/>
            <a:ext cx="6885307" cy="1290638"/>
          </a:xfrm>
          <a:prstGeom prst="rect">
            <a:avLst/>
          </a:prstGeom>
          <a:noFill/>
          <a:ln/>
        </p:spPr>
        <p:txBody>
          <a:bodyPr wrap="square" lIns="25400" tIns="25400" rIns="25400" bIns="25400" rtlCol="0" anchor="t">
            <a:normAutofit/>
          </a:bodyPr>
          <a:lstStyle/>
          <a:p>
            <a:pPr algn="l" indent="0" marL="0">
              <a:lnSpc>
                <a:spcPct val="131818"/>
              </a:lnSpc>
              <a:buNone/>
            </a:pPr>
            <a:r>
              <a:rPr lang="en-US" sz="2175" dirty="0">
                <a:solidFill>
                  <a:srgbClr val="F2EDE1"/>
                </a:solidFill>
                <a:latin typeface="Arial" pitchFamily="34" charset="0"/>
                <a:ea typeface="Arial" pitchFamily="34" charset="-122"/>
                <a:cs typeface="Arial" pitchFamily="34" charset="-120"/>
              </a:rPr>
              <a:t>Reliable below ~80 kcal/mol. Above it, the model regresses rare high barriers toward the mean — the 120+ bin is underpredicted </a:t>
            </a:r>
            <a:pPr algn="l" indent="0" marL="0">
              <a:lnSpc>
                <a:spcPct val="131818"/>
              </a:lnSpc>
              <a:buNone/>
            </a:pPr>
            <a:r>
              <a:rPr lang="en-US" sz="2175" b="1" dirty="0">
                <a:solidFill>
                  <a:srgbClr val="F2EDE1"/>
                </a:solidFill>
                <a:latin typeface="Arial" pitchFamily="34" charset="0"/>
                <a:ea typeface="Arial" pitchFamily="34" charset="-122"/>
                <a:cs typeface="Arial" pitchFamily="34" charset="-120"/>
              </a:rPr>
              <a:t>every time</a:t>
            </a:r>
            <a:pPr algn="l" indent="0" marL="0">
              <a:lnSpc>
                <a:spcPct val="131818"/>
              </a:lnSpc>
              <a:buNone/>
            </a:pPr>
            <a:r>
              <a:rPr lang="en-US" sz="2175" dirty="0">
                <a:solidFill>
                  <a:srgbClr val="F2EDE1"/>
                </a:solidFill>
                <a:latin typeface="Arial" pitchFamily="34" charset="0"/>
                <a:ea typeface="Arial" pitchFamily="34" charset="-122"/>
                <a:cs typeface="Arial" pitchFamily="34" charset="-120"/>
              </a:rPr>
              <a:t>.</a:t>
            </a:r>
            <a:endParaRPr lang="en-US" sz="2175" dirty="0"/>
          </a:p>
        </p:txBody>
      </p:sp>
      <p:sp>
        <p:nvSpPr>
          <p:cNvPr id="23" name="Text 21"/>
          <p:cNvSpPr/>
          <p:nvPr/>
        </p:nvSpPr>
        <p:spPr>
          <a:xfrm>
            <a:off x="9964936" y="6114157"/>
            <a:ext cx="6885307" cy="866775"/>
          </a:xfrm>
          <a:prstGeom prst="rect">
            <a:avLst/>
          </a:prstGeom>
          <a:noFill/>
          <a:ln/>
        </p:spPr>
        <p:txBody>
          <a:bodyPr wrap="square" lIns="25400" tIns="25400" rIns="25400" bIns="25400" rtlCol="0" anchor="t">
            <a:normAutofit/>
          </a:bodyPr>
          <a:lstStyle/>
          <a:p>
            <a:pPr algn="l" indent="0" marL="0">
              <a:lnSpc>
                <a:spcPct val="131818"/>
              </a:lnSpc>
              <a:buNone/>
            </a:pPr>
            <a:r>
              <a:rPr lang="en-US" sz="2175" dirty="0">
                <a:solidFill>
                  <a:srgbClr val="A9A396"/>
                </a:solidFill>
                <a:latin typeface="Arial" pitchFamily="34" charset="0"/>
                <a:ea typeface="Arial" pitchFamily="34" charset="-122"/>
                <a:cs typeface="Arial" pitchFamily="34" charset="-120"/>
              </a:rPr>
              <a:t>These ~2% of cases dominate RMSE and are the top target for tail weighting.</a:t>
            </a:r>
            <a:endParaRPr lang="en-US" sz="2175" dirty="0"/>
          </a:p>
        </p:txBody>
      </p:sp>
      <p:sp>
        <p:nvSpPr>
          <p:cNvPr id="24" name="Text 22"/>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25" name="Text 23"/>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19</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GEOMETRY–ENERGY COUPLING</a:t>
            </a:r>
            <a:endParaRPr lang="en-US" sz="1800" dirty="0"/>
          </a:p>
        </p:txBody>
      </p:sp>
      <p:sp>
        <p:nvSpPr>
          <p:cNvPr id="3" name="Text 1"/>
          <p:cNvSpPr/>
          <p:nvPr/>
        </p:nvSpPr>
        <p:spPr>
          <a:xfrm>
            <a:off x="1047750" y="1428750"/>
            <a:ext cx="9339068"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Better geometry is also an energy fix</a:t>
            </a:r>
            <a:endParaRPr lang="en-US" sz="5550" dirty="0"/>
          </a:p>
        </p:txBody>
      </p:sp>
      <p:sp>
        <p:nvSpPr>
          <p:cNvPr id="4" name="Text 2"/>
          <p:cNvSpPr/>
          <p:nvPr/>
        </p:nvSpPr>
        <p:spPr>
          <a:xfrm>
            <a:off x="1047750" y="3390007"/>
            <a:ext cx="8824020" cy="314325"/>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6F6A5F"/>
                </a:solidFill>
                <a:latin typeface="Courier New" pitchFamily="34" charset="0"/>
                <a:ea typeface="Courier New" pitchFamily="34" charset="-122"/>
                <a:cs typeface="Courier New" pitchFamily="34" charset="-120"/>
              </a:rPr>
              <a:t>Ea MAE BY GEOMETRY MAE BIN (Å)</a:t>
            </a:r>
            <a:endParaRPr lang="en-US" sz="1650" dirty="0"/>
          </a:p>
        </p:txBody>
      </p:sp>
      <p:sp>
        <p:nvSpPr>
          <p:cNvPr id="5" name="Text 3"/>
          <p:cNvSpPr/>
          <p:nvPr/>
        </p:nvSpPr>
        <p:spPr>
          <a:xfrm>
            <a:off x="1579811" y="5801767"/>
            <a:ext cx="433388" cy="476250"/>
          </a:xfrm>
          <a:prstGeom prst="rect">
            <a:avLst/>
          </a:prstGeom>
          <a:noFill/>
          <a:ln/>
        </p:spPr>
        <p:txBody>
          <a:bodyPr wrap="square" lIns="25400" tIns="25400" rIns="25400" bIns="25400" rtlCol="0" anchor="t">
            <a:normAutofit/>
          </a:bodyPr>
          <a:lstStyle/>
          <a:p>
            <a:pPr algn="l" indent="0" marL="0">
              <a:buNone/>
            </a:pPr>
            <a:r>
              <a:rPr lang="en-US" sz="2250" dirty="0">
                <a:solidFill>
                  <a:srgbClr val="20262D"/>
                </a:solidFill>
                <a:latin typeface="Georgia" pitchFamily="34" charset="0"/>
                <a:ea typeface="Georgia" pitchFamily="34" charset="-122"/>
                <a:cs typeface="Georgia" pitchFamily="34" charset="-120"/>
              </a:rPr>
              <a:t>2.7</a:t>
            </a:r>
            <a:endParaRPr lang="en-US" sz="2250" dirty="0"/>
          </a:p>
        </p:txBody>
      </p:sp>
      <p:sp>
        <p:nvSpPr>
          <p:cNvPr id="6" name="Shape 4"/>
          <p:cNvSpPr/>
          <p:nvPr/>
        </p:nvSpPr>
        <p:spPr>
          <a:xfrm>
            <a:off x="1047750" y="6316117"/>
            <a:ext cx="1421457" cy="617190"/>
          </a:xfrm>
          <a:prstGeom prst="roundRect">
            <a:avLst>
              <a:gd name="adj" fmla="val 4630"/>
            </a:avLst>
          </a:prstGeom>
          <a:solidFill>
            <a:srgbClr val="2F7A6F"/>
          </a:solidFill>
          <a:ln/>
        </p:spPr>
      </p:sp>
      <p:sp>
        <p:nvSpPr>
          <p:cNvPr id="7" name="Text 5"/>
          <p:cNvSpPr/>
          <p:nvPr/>
        </p:nvSpPr>
        <p:spPr>
          <a:xfrm>
            <a:off x="1478459" y="7028557"/>
            <a:ext cx="63624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6F6A5F"/>
                </a:solidFill>
                <a:latin typeface="Arial" pitchFamily="34" charset="0"/>
                <a:ea typeface="Arial" pitchFamily="34" charset="-122"/>
                <a:cs typeface="Arial" pitchFamily="34" charset="-120"/>
              </a:rPr>
              <a:t>&lt;0.05</a:t>
            </a:r>
            <a:endParaRPr lang="en-US" sz="1650" dirty="0"/>
          </a:p>
        </p:txBody>
      </p:sp>
      <p:sp>
        <p:nvSpPr>
          <p:cNvPr id="8" name="Text 6"/>
          <p:cNvSpPr/>
          <p:nvPr/>
        </p:nvSpPr>
        <p:spPr>
          <a:xfrm>
            <a:off x="3230017" y="5561707"/>
            <a:ext cx="433388" cy="476250"/>
          </a:xfrm>
          <a:prstGeom prst="rect">
            <a:avLst/>
          </a:prstGeom>
          <a:noFill/>
          <a:ln/>
        </p:spPr>
        <p:txBody>
          <a:bodyPr wrap="square" lIns="25400" tIns="25400" rIns="25400" bIns="25400" rtlCol="0" anchor="t">
            <a:normAutofit/>
          </a:bodyPr>
          <a:lstStyle/>
          <a:p>
            <a:pPr algn="l" indent="0" marL="0">
              <a:buNone/>
            </a:pPr>
            <a:r>
              <a:rPr lang="en-US" sz="2250" dirty="0">
                <a:solidFill>
                  <a:srgbClr val="20262D"/>
                </a:solidFill>
                <a:latin typeface="Georgia" pitchFamily="34" charset="0"/>
                <a:ea typeface="Georgia" pitchFamily="34" charset="-122"/>
                <a:cs typeface="Georgia" pitchFamily="34" charset="-120"/>
              </a:rPr>
              <a:t>3.8</a:t>
            </a:r>
            <a:endParaRPr lang="en-US" sz="2250" dirty="0"/>
          </a:p>
        </p:txBody>
      </p:sp>
      <p:sp>
        <p:nvSpPr>
          <p:cNvPr id="9" name="Shape 7"/>
          <p:cNvSpPr/>
          <p:nvPr/>
        </p:nvSpPr>
        <p:spPr>
          <a:xfrm>
            <a:off x="2697807" y="6076057"/>
            <a:ext cx="1421606" cy="857250"/>
          </a:xfrm>
          <a:prstGeom prst="roundRect">
            <a:avLst>
              <a:gd name="adj" fmla="val 3333"/>
            </a:avLst>
          </a:prstGeom>
          <a:solidFill>
            <a:srgbClr val="2F7A6F"/>
          </a:solidFill>
          <a:ln/>
        </p:spPr>
      </p:sp>
      <p:sp>
        <p:nvSpPr>
          <p:cNvPr id="10" name="Text 8"/>
          <p:cNvSpPr/>
          <p:nvPr/>
        </p:nvSpPr>
        <p:spPr>
          <a:xfrm>
            <a:off x="2912715" y="7028557"/>
            <a:ext cx="1067842" cy="314325"/>
          </a:xfrm>
          <a:prstGeom prst="rect">
            <a:avLst/>
          </a:prstGeom>
          <a:noFill/>
          <a:ln/>
        </p:spPr>
        <p:txBody>
          <a:bodyPr wrap="square" lIns="25400" tIns="25400" rIns="25400" bIns="25400" rtlCol="0" anchor="t">
            <a:normAutofit/>
          </a:bodyPr>
          <a:lstStyle/>
          <a:p>
            <a:pPr algn="l" indent="0" marL="0">
              <a:buNone/>
            </a:pPr>
            <a:r>
              <a:rPr lang="en-US" sz="1650" dirty="0">
                <a:solidFill>
                  <a:srgbClr val="6F6A5F"/>
                </a:solidFill>
                <a:latin typeface="Arial" pitchFamily="34" charset="0"/>
                <a:ea typeface="Arial" pitchFamily="34" charset="-122"/>
                <a:cs typeface="Arial" pitchFamily="34" charset="-120"/>
              </a:rPr>
              <a:t>0.05–0.10</a:t>
            </a:r>
            <a:endParaRPr lang="en-US" sz="1650" dirty="0"/>
          </a:p>
        </p:txBody>
      </p:sp>
      <p:sp>
        <p:nvSpPr>
          <p:cNvPr id="11" name="Text 9"/>
          <p:cNvSpPr/>
          <p:nvPr/>
        </p:nvSpPr>
        <p:spPr>
          <a:xfrm>
            <a:off x="4880074" y="5047357"/>
            <a:ext cx="433388" cy="476250"/>
          </a:xfrm>
          <a:prstGeom prst="rect">
            <a:avLst/>
          </a:prstGeom>
          <a:noFill/>
          <a:ln/>
        </p:spPr>
        <p:txBody>
          <a:bodyPr wrap="square" lIns="25400" tIns="25400" rIns="25400" bIns="25400" rtlCol="0" anchor="t">
            <a:normAutofit/>
          </a:bodyPr>
          <a:lstStyle/>
          <a:p>
            <a:pPr algn="l" indent="0" marL="0">
              <a:buNone/>
            </a:pPr>
            <a:r>
              <a:rPr lang="en-US" sz="2250" dirty="0">
                <a:solidFill>
                  <a:srgbClr val="20262D"/>
                </a:solidFill>
                <a:latin typeface="Georgia" pitchFamily="34" charset="0"/>
                <a:ea typeface="Georgia" pitchFamily="34" charset="-122"/>
                <a:cs typeface="Georgia" pitchFamily="34" charset="-120"/>
              </a:rPr>
              <a:t>6.0</a:t>
            </a:r>
            <a:endParaRPr lang="en-US" sz="2250" dirty="0"/>
          </a:p>
        </p:txBody>
      </p:sp>
      <p:sp>
        <p:nvSpPr>
          <p:cNvPr id="12" name="Shape 10"/>
          <p:cNvSpPr/>
          <p:nvPr/>
        </p:nvSpPr>
        <p:spPr>
          <a:xfrm>
            <a:off x="4348014" y="5561707"/>
            <a:ext cx="1421457" cy="1371600"/>
          </a:xfrm>
          <a:prstGeom prst="roundRect">
            <a:avLst>
              <a:gd name="adj" fmla="val 2083"/>
            </a:avLst>
          </a:prstGeom>
          <a:solidFill>
            <a:srgbClr val="2F7A6F"/>
          </a:solidFill>
          <a:ln/>
        </p:spPr>
      </p:sp>
      <p:sp>
        <p:nvSpPr>
          <p:cNvPr id="13" name="Text 11"/>
          <p:cNvSpPr/>
          <p:nvPr/>
        </p:nvSpPr>
        <p:spPr>
          <a:xfrm>
            <a:off x="4562921" y="7028557"/>
            <a:ext cx="1067842" cy="314325"/>
          </a:xfrm>
          <a:prstGeom prst="rect">
            <a:avLst/>
          </a:prstGeom>
          <a:noFill/>
          <a:ln/>
        </p:spPr>
        <p:txBody>
          <a:bodyPr wrap="square" lIns="25400" tIns="25400" rIns="25400" bIns="25400" rtlCol="0" anchor="t">
            <a:normAutofit/>
          </a:bodyPr>
          <a:lstStyle/>
          <a:p>
            <a:pPr algn="l" indent="0" marL="0">
              <a:buNone/>
            </a:pPr>
            <a:r>
              <a:rPr lang="en-US" sz="1650" dirty="0">
                <a:solidFill>
                  <a:srgbClr val="6F6A5F"/>
                </a:solidFill>
                <a:latin typeface="Arial" pitchFamily="34" charset="0"/>
                <a:ea typeface="Arial" pitchFamily="34" charset="-122"/>
                <a:cs typeface="Arial" pitchFamily="34" charset="-120"/>
              </a:rPr>
              <a:t>0.10–0.20</a:t>
            </a:r>
            <a:endParaRPr lang="en-US" sz="1650" dirty="0"/>
          </a:p>
        </p:txBody>
      </p:sp>
      <p:sp>
        <p:nvSpPr>
          <p:cNvPr id="14" name="Text 12"/>
          <p:cNvSpPr/>
          <p:nvPr/>
        </p:nvSpPr>
        <p:spPr>
          <a:xfrm>
            <a:off x="6530132" y="4704457"/>
            <a:ext cx="433388" cy="476250"/>
          </a:xfrm>
          <a:prstGeom prst="rect">
            <a:avLst/>
          </a:prstGeom>
          <a:noFill/>
          <a:ln/>
        </p:spPr>
        <p:txBody>
          <a:bodyPr wrap="square" lIns="25400" tIns="25400" rIns="25400" bIns="25400" rtlCol="0" anchor="t">
            <a:normAutofit/>
          </a:bodyPr>
          <a:lstStyle/>
          <a:p>
            <a:pPr algn="l" indent="0" marL="0">
              <a:buNone/>
            </a:pPr>
            <a:r>
              <a:rPr lang="en-US" sz="2250" dirty="0">
                <a:solidFill>
                  <a:srgbClr val="20262D"/>
                </a:solidFill>
                <a:latin typeface="Georgia" pitchFamily="34" charset="0"/>
                <a:ea typeface="Georgia" pitchFamily="34" charset="-122"/>
                <a:cs typeface="Georgia" pitchFamily="34" charset="-120"/>
              </a:rPr>
              <a:t>7.6</a:t>
            </a:r>
            <a:endParaRPr lang="en-US" sz="2250" dirty="0"/>
          </a:p>
        </p:txBody>
      </p:sp>
      <p:sp>
        <p:nvSpPr>
          <p:cNvPr id="15" name="Shape 13"/>
          <p:cNvSpPr/>
          <p:nvPr/>
        </p:nvSpPr>
        <p:spPr>
          <a:xfrm>
            <a:off x="5998071" y="5218807"/>
            <a:ext cx="1421457" cy="1714500"/>
          </a:xfrm>
          <a:prstGeom prst="roundRect">
            <a:avLst>
              <a:gd name="adj" fmla="val 2010"/>
            </a:avLst>
          </a:prstGeom>
          <a:solidFill>
            <a:srgbClr val="C08A3E"/>
          </a:solidFill>
          <a:ln/>
        </p:spPr>
      </p:sp>
      <p:sp>
        <p:nvSpPr>
          <p:cNvPr id="16" name="Text 14"/>
          <p:cNvSpPr/>
          <p:nvPr/>
        </p:nvSpPr>
        <p:spPr>
          <a:xfrm>
            <a:off x="6212979" y="7028557"/>
            <a:ext cx="1067842" cy="314325"/>
          </a:xfrm>
          <a:prstGeom prst="rect">
            <a:avLst/>
          </a:prstGeom>
          <a:noFill/>
          <a:ln/>
        </p:spPr>
        <p:txBody>
          <a:bodyPr wrap="square" lIns="25400" tIns="25400" rIns="25400" bIns="25400" rtlCol="0" anchor="t">
            <a:normAutofit/>
          </a:bodyPr>
          <a:lstStyle/>
          <a:p>
            <a:pPr algn="l" indent="0" marL="0">
              <a:buNone/>
            </a:pPr>
            <a:r>
              <a:rPr lang="en-US" sz="1650" dirty="0">
                <a:solidFill>
                  <a:srgbClr val="6F6A5F"/>
                </a:solidFill>
                <a:latin typeface="Arial" pitchFamily="34" charset="0"/>
                <a:ea typeface="Arial" pitchFamily="34" charset="-122"/>
                <a:cs typeface="Arial" pitchFamily="34" charset="-120"/>
              </a:rPr>
              <a:t>0.20–0.30</a:t>
            </a:r>
            <a:endParaRPr lang="en-US" sz="1650" dirty="0"/>
          </a:p>
        </p:txBody>
      </p:sp>
      <p:sp>
        <p:nvSpPr>
          <p:cNvPr id="17" name="Text 15"/>
          <p:cNvSpPr/>
          <p:nvPr/>
        </p:nvSpPr>
        <p:spPr>
          <a:xfrm>
            <a:off x="8108752" y="3875782"/>
            <a:ext cx="576263" cy="476250"/>
          </a:xfrm>
          <a:prstGeom prst="rect">
            <a:avLst/>
          </a:prstGeom>
          <a:noFill/>
          <a:ln/>
        </p:spPr>
        <p:txBody>
          <a:bodyPr wrap="square" lIns="25400" tIns="25400" rIns="25400" bIns="25400" rtlCol="0" anchor="t">
            <a:normAutofit/>
          </a:bodyPr>
          <a:lstStyle/>
          <a:p>
            <a:pPr algn="l" indent="0" marL="0">
              <a:buNone/>
            </a:pPr>
            <a:r>
              <a:rPr lang="en-US" sz="2250" dirty="0">
                <a:solidFill>
                  <a:srgbClr val="B4462F"/>
                </a:solidFill>
                <a:latin typeface="Georgia" pitchFamily="34" charset="0"/>
                <a:ea typeface="Georgia" pitchFamily="34" charset="-122"/>
                <a:cs typeface="Georgia" pitchFamily="34" charset="-120"/>
              </a:rPr>
              <a:t>15.0</a:t>
            </a:r>
            <a:endParaRPr lang="en-US" sz="2250" dirty="0"/>
          </a:p>
        </p:txBody>
      </p:sp>
      <p:sp>
        <p:nvSpPr>
          <p:cNvPr id="18" name="Shape 16"/>
          <p:cNvSpPr/>
          <p:nvPr/>
        </p:nvSpPr>
        <p:spPr>
          <a:xfrm>
            <a:off x="7648129" y="4390132"/>
            <a:ext cx="1421457" cy="2543175"/>
          </a:xfrm>
          <a:prstGeom prst="roundRect">
            <a:avLst>
              <a:gd name="adj" fmla="val 2010"/>
            </a:avLst>
          </a:prstGeom>
          <a:solidFill>
            <a:srgbClr val="B4462F"/>
          </a:solidFill>
          <a:ln/>
        </p:spPr>
      </p:sp>
      <p:sp>
        <p:nvSpPr>
          <p:cNvPr id="19" name="Text 17"/>
          <p:cNvSpPr/>
          <p:nvPr/>
        </p:nvSpPr>
        <p:spPr>
          <a:xfrm>
            <a:off x="8084195" y="7028557"/>
            <a:ext cx="625525" cy="314325"/>
          </a:xfrm>
          <a:prstGeom prst="rect">
            <a:avLst/>
          </a:prstGeom>
          <a:noFill/>
          <a:ln/>
        </p:spPr>
        <p:txBody>
          <a:bodyPr wrap="square" lIns="25400" tIns="25400" rIns="25400" bIns="25400" rtlCol="0" anchor="t">
            <a:normAutofit/>
          </a:bodyPr>
          <a:lstStyle/>
          <a:p>
            <a:pPr algn="l" indent="0" marL="0">
              <a:buNone/>
            </a:pPr>
            <a:r>
              <a:rPr lang="en-US" sz="1650" dirty="0">
                <a:solidFill>
                  <a:srgbClr val="6F6A5F"/>
                </a:solidFill>
                <a:latin typeface="Arial" pitchFamily="34" charset="0"/>
                <a:ea typeface="Arial" pitchFamily="34" charset="-122"/>
                <a:cs typeface="Arial" pitchFamily="34" charset="-120"/>
              </a:rPr>
              <a:t>≥0.30</a:t>
            </a:r>
            <a:endParaRPr lang="en-US" sz="1650" dirty="0"/>
          </a:p>
        </p:txBody>
      </p:sp>
      <p:sp>
        <p:nvSpPr>
          <p:cNvPr id="20" name="Shape 18"/>
          <p:cNvSpPr/>
          <p:nvPr/>
        </p:nvSpPr>
        <p:spPr>
          <a:xfrm>
            <a:off x="9564886" y="4237732"/>
            <a:ext cx="7484864" cy="3067050"/>
          </a:xfrm>
          <a:prstGeom prst="roundRect">
            <a:avLst>
              <a:gd name="adj" fmla="val 2484"/>
            </a:avLst>
          </a:prstGeom>
          <a:solidFill>
            <a:srgbClr val="20262D"/>
          </a:solidFill>
          <a:ln/>
        </p:spPr>
      </p:sp>
      <p:sp>
        <p:nvSpPr>
          <p:cNvPr id="21" name="Text 19"/>
          <p:cNvSpPr/>
          <p:nvPr/>
        </p:nvSpPr>
        <p:spPr>
          <a:xfrm>
            <a:off x="9964936" y="4599682"/>
            <a:ext cx="7353240" cy="3238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C08A3E"/>
                </a:solidFill>
                <a:latin typeface="Courier New" pitchFamily="34" charset="0"/>
                <a:ea typeface="Courier New" pitchFamily="34" charset="-122"/>
                <a:cs typeface="Courier New" pitchFamily="34" charset="-120"/>
              </a:rPr>
              <a:t>IMPLICATION</a:t>
            </a:r>
            <a:endParaRPr lang="en-US" sz="1725" dirty="0"/>
          </a:p>
        </p:txBody>
      </p:sp>
      <p:sp>
        <p:nvSpPr>
          <p:cNvPr id="22" name="Text 20"/>
          <p:cNvSpPr/>
          <p:nvPr/>
        </p:nvSpPr>
        <p:spPr>
          <a:xfrm>
            <a:off x="9964936" y="5094982"/>
            <a:ext cx="6885307" cy="866775"/>
          </a:xfrm>
          <a:prstGeom prst="rect">
            <a:avLst/>
          </a:prstGeom>
          <a:noFill/>
          <a:ln/>
        </p:spPr>
        <p:txBody>
          <a:bodyPr wrap="square" lIns="25400" tIns="25400" rIns="25400" bIns="25400" rtlCol="0" anchor="t">
            <a:normAutofit/>
          </a:bodyPr>
          <a:lstStyle/>
          <a:p>
            <a:pPr algn="l" indent="0" marL="0">
              <a:lnSpc>
                <a:spcPct val="131818"/>
              </a:lnSpc>
              <a:buNone/>
            </a:pPr>
            <a:r>
              <a:rPr lang="en-US" sz="2175" dirty="0">
                <a:solidFill>
                  <a:srgbClr val="F2EDE1"/>
                </a:solidFill>
                <a:latin typeface="Arial" pitchFamily="34" charset="0"/>
                <a:ea typeface="Arial" pitchFamily="34" charset="-122"/>
                <a:cs typeface="Arial" pitchFamily="34" charset="-120"/>
              </a:rPr>
              <a:t>Ea error scales directly with geometry error — from 2.7 to 15.0 kcal/mol across the geometry range.</a:t>
            </a:r>
            <a:endParaRPr lang="en-US" sz="2175" dirty="0"/>
          </a:p>
        </p:txBody>
      </p:sp>
      <p:sp>
        <p:nvSpPr>
          <p:cNvPr id="23" name="Text 21"/>
          <p:cNvSpPr/>
          <p:nvPr/>
        </p:nvSpPr>
        <p:spPr>
          <a:xfrm>
            <a:off x="9964936" y="6114157"/>
            <a:ext cx="6885307" cy="866775"/>
          </a:xfrm>
          <a:prstGeom prst="rect">
            <a:avLst/>
          </a:prstGeom>
          <a:noFill/>
          <a:ln/>
        </p:spPr>
        <p:txBody>
          <a:bodyPr wrap="square" lIns="25400" tIns="25400" rIns="25400" bIns="25400" rtlCol="0" anchor="t">
            <a:normAutofit/>
          </a:bodyPr>
          <a:lstStyle/>
          <a:p>
            <a:pPr algn="l" indent="0" marL="0">
              <a:lnSpc>
                <a:spcPct val="131818"/>
              </a:lnSpc>
              <a:buNone/>
            </a:pPr>
            <a:r>
              <a:rPr lang="en-US" sz="2175" dirty="0">
                <a:solidFill>
                  <a:srgbClr val="A9A396"/>
                </a:solidFill>
                <a:latin typeface="Arial" pitchFamily="34" charset="0"/>
                <a:ea typeface="Arial" pitchFamily="34" charset="-122"/>
                <a:cs typeface="Arial" pitchFamily="34" charset="-120"/>
              </a:rPr>
              <a:t>So the high-error tail is not purely an energy-head problem. Tightening geometry pays off twice.</a:t>
            </a:r>
            <a:endParaRPr lang="en-US" sz="2175" dirty="0"/>
          </a:p>
        </p:txBody>
      </p:sp>
      <p:sp>
        <p:nvSpPr>
          <p:cNvPr id="24" name="Text 22"/>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25" name="Text 23"/>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20</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0262D"/>
        </a:solidFill>
      </p:bgPr>
    </p:bg>
    <p:spTree>
      <p:nvGrpSpPr>
        <p:cNvPr id="1" name=""/>
        <p:cNvGrpSpPr/>
        <p:nvPr/>
      </p:nvGrpSpPr>
      <p:grpSpPr>
        <a:xfrm>
          <a:off x="0" y="0"/>
          <a:ext cx="0" cy="0"/>
          <a:chOff x="0" y="0"/>
          <a:chExt cx="0" cy="0"/>
        </a:xfrm>
      </p:grpSpPr>
      <p:sp>
        <p:nvSpPr>
          <p:cNvPr id="2" name="Text 0"/>
          <p:cNvSpPr/>
          <p:nvPr/>
        </p:nvSpPr>
        <p:spPr>
          <a:xfrm>
            <a:off x="1047750" y="1848296"/>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C08A3E"/>
                </a:solidFill>
                <a:latin typeface="Courier New" pitchFamily="34" charset="0"/>
                <a:ea typeface="Courier New" pitchFamily="34" charset="-122"/>
                <a:cs typeface="Courier New" pitchFamily="34" charset="-120"/>
              </a:rPr>
              <a:t>HOW FAR CAN WE GO</a:t>
            </a:r>
            <a:endParaRPr lang="en-US" sz="1800" dirty="0"/>
          </a:p>
        </p:txBody>
      </p:sp>
      <p:sp>
        <p:nvSpPr>
          <p:cNvPr id="3" name="Text 1"/>
          <p:cNvSpPr/>
          <p:nvPr/>
        </p:nvSpPr>
        <p:spPr>
          <a:xfrm>
            <a:off x="1047750" y="2400746"/>
            <a:ext cx="10117336"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F2EDE1"/>
                </a:solidFill>
                <a:latin typeface="Georgia" pitchFamily="34" charset="0"/>
                <a:ea typeface="Georgia" pitchFamily="34" charset="-122"/>
                <a:cs typeface="Georgia" pitchFamily="34" charset="-120"/>
              </a:rPr>
              <a:t>The target is chemical accuracy — 1 kcal/mol</a:t>
            </a:r>
            <a:endParaRPr lang="en-US" sz="5550" dirty="0"/>
          </a:p>
        </p:txBody>
      </p:sp>
      <p:sp>
        <p:nvSpPr>
          <p:cNvPr id="4" name="Text 2"/>
          <p:cNvSpPr/>
          <p:nvPr/>
        </p:nvSpPr>
        <p:spPr>
          <a:xfrm>
            <a:off x="1047750" y="4533454"/>
            <a:ext cx="4088190" cy="1466850"/>
          </a:xfrm>
          <a:prstGeom prst="rect">
            <a:avLst/>
          </a:prstGeom>
          <a:noFill/>
          <a:ln/>
        </p:spPr>
        <p:txBody>
          <a:bodyPr wrap="square" lIns="25400" tIns="25400" rIns="25400" bIns="25400" rtlCol="0" anchor="t">
            <a:normAutofit/>
          </a:bodyPr>
          <a:lstStyle/>
          <a:p>
            <a:pPr algn="l" indent="0" marL="0">
              <a:lnSpc>
                <a:spcPct val="87719"/>
              </a:lnSpc>
              <a:buNone/>
            </a:pPr>
            <a:r>
              <a:rPr lang="en-US" sz="11250" dirty="0">
                <a:solidFill>
                  <a:srgbClr val="2F7A6F"/>
                </a:solidFill>
                <a:latin typeface="Georgia" pitchFamily="34" charset="0"/>
                <a:ea typeface="Georgia" pitchFamily="34" charset="-122"/>
                <a:cs typeface="Georgia" pitchFamily="34" charset="-120"/>
              </a:rPr>
              <a:t>4.8</a:t>
            </a:r>
            <a:endParaRPr lang="en-US" sz="11250" dirty="0"/>
          </a:p>
        </p:txBody>
      </p:sp>
      <p:sp>
        <p:nvSpPr>
          <p:cNvPr id="5" name="Text 3"/>
          <p:cNvSpPr/>
          <p:nvPr/>
        </p:nvSpPr>
        <p:spPr>
          <a:xfrm>
            <a:off x="1047750" y="6057454"/>
            <a:ext cx="408819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9A396"/>
                </a:solidFill>
                <a:latin typeface="Arial" pitchFamily="34" charset="0"/>
                <a:ea typeface="Arial" pitchFamily="34" charset="-122"/>
                <a:cs typeface="Arial" pitchFamily="34" charset="-120"/>
              </a:rPr>
              <a:t>where we are today — kcal/mol</a:t>
            </a:r>
            <a:endParaRPr lang="en-US" sz="2100" dirty="0"/>
          </a:p>
        </p:txBody>
      </p:sp>
      <p:sp>
        <p:nvSpPr>
          <p:cNvPr id="6" name="Text 4"/>
          <p:cNvSpPr/>
          <p:nvPr/>
        </p:nvSpPr>
        <p:spPr>
          <a:xfrm>
            <a:off x="5431036" y="5171629"/>
            <a:ext cx="742950" cy="1047750"/>
          </a:xfrm>
          <a:prstGeom prst="rect">
            <a:avLst/>
          </a:prstGeom>
          <a:noFill/>
          <a:ln/>
        </p:spPr>
        <p:txBody>
          <a:bodyPr wrap="square" lIns="25400" tIns="25400" rIns="25400" bIns="25400" rtlCol="0" anchor="t">
            <a:normAutofit/>
          </a:bodyPr>
          <a:lstStyle/>
          <a:p>
            <a:pPr algn="l" indent="0" marL="0">
              <a:buNone/>
            </a:pPr>
            <a:r>
              <a:rPr lang="en-US" sz="5250" dirty="0">
                <a:solidFill>
                  <a:srgbClr val="A9A396"/>
                </a:solidFill>
                <a:latin typeface="Georgia" pitchFamily="34" charset="0"/>
                <a:ea typeface="Georgia" pitchFamily="34" charset="-122"/>
                <a:cs typeface="Georgia" pitchFamily="34" charset="-120"/>
              </a:rPr>
              <a:t>→</a:t>
            </a:r>
            <a:endParaRPr lang="en-US" sz="5250" dirty="0"/>
          </a:p>
        </p:txBody>
      </p:sp>
      <p:sp>
        <p:nvSpPr>
          <p:cNvPr id="7" name="Text 5"/>
          <p:cNvSpPr/>
          <p:nvPr/>
        </p:nvSpPr>
        <p:spPr>
          <a:xfrm>
            <a:off x="6764536" y="4533454"/>
            <a:ext cx="3852937" cy="1466850"/>
          </a:xfrm>
          <a:prstGeom prst="rect">
            <a:avLst/>
          </a:prstGeom>
          <a:noFill/>
          <a:ln/>
        </p:spPr>
        <p:txBody>
          <a:bodyPr wrap="square" lIns="25400" tIns="25400" rIns="25400" bIns="25400" rtlCol="0" anchor="t">
            <a:normAutofit/>
          </a:bodyPr>
          <a:lstStyle/>
          <a:p>
            <a:pPr algn="l" indent="0" marL="0">
              <a:lnSpc>
                <a:spcPct val="87719"/>
              </a:lnSpc>
              <a:buNone/>
            </a:pPr>
            <a:r>
              <a:rPr lang="en-US" sz="11250" dirty="0">
                <a:solidFill>
                  <a:srgbClr val="C08A3E"/>
                </a:solidFill>
                <a:latin typeface="Georgia" pitchFamily="34" charset="0"/>
                <a:ea typeface="Georgia" pitchFamily="34" charset="-122"/>
                <a:cs typeface="Georgia" pitchFamily="34" charset="-120"/>
              </a:rPr>
              <a:t>1.0</a:t>
            </a:r>
            <a:endParaRPr lang="en-US" sz="11250" dirty="0"/>
          </a:p>
        </p:txBody>
      </p:sp>
      <p:sp>
        <p:nvSpPr>
          <p:cNvPr id="8" name="Text 6"/>
          <p:cNvSpPr/>
          <p:nvPr/>
        </p:nvSpPr>
        <p:spPr>
          <a:xfrm>
            <a:off x="6764536" y="6057454"/>
            <a:ext cx="3852937"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9A396"/>
                </a:solidFill>
                <a:latin typeface="Arial" pitchFamily="34" charset="0"/>
                <a:ea typeface="Arial" pitchFamily="34" charset="-122"/>
                <a:cs typeface="Arial" pitchFamily="34" charset="-120"/>
              </a:rPr>
              <a:t>chemical accuracy — the goal</a:t>
            </a:r>
            <a:endParaRPr lang="en-US" sz="2100" dirty="0"/>
          </a:p>
        </p:txBody>
      </p:sp>
      <p:sp>
        <p:nvSpPr>
          <p:cNvPr id="9" name="Text 7"/>
          <p:cNvSpPr/>
          <p:nvPr/>
        </p:nvSpPr>
        <p:spPr>
          <a:xfrm>
            <a:off x="1047750" y="6981379"/>
            <a:ext cx="6710553" cy="1323975"/>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A9A396"/>
                </a:solidFill>
                <a:latin typeface="Arial" pitchFamily="34" charset="0"/>
                <a:ea typeface="Arial" pitchFamily="34" charset="-122"/>
                <a:cs typeface="Arial" pitchFamily="34" charset="-120"/>
              </a:rPr>
              <a:t>The gap is a well-characterized tail, not a broad failure — which is exactly the kind of problem the roadmap is built to close.</a:t>
            </a:r>
            <a:endParaRPr lang="en-US" sz="2250" dirty="0"/>
          </a:p>
        </p:txBody>
      </p:sp>
      <p:sp>
        <p:nvSpPr>
          <p:cNvPr id="10" name="Text 8"/>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A9A396"/>
                </a:solidFill>
                <a:latin typeface="Courier New" pitchFamily="34" charset="0"/>
                <a:ea typeface="Courier New" pitchFamily="34" charset="-122"/>
                <a:cs typeface="Courier New" pitchFamily="34" charset="-120"/>
              </a:rPr>
              <a:t>PSI · TRANSITION-STATE PREDICTION</a:t>
            </a:r>
            <a:endParaRPr lang="en-US" sz="1500" dirty="0"/>
          </a:p>
        </p:txBody>
      </p:sp>
      <p:sp>
        <p:nvSpPr>
          <p:cNvPr id="11" name="Text 9"/>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A9A396"/>
                </a:solidFill>
                <a:latin typeface="Courier New" pitchFamily="34" charset="0"/>
                <a:ea typeface="Courier New" pitchFamily="34" charset="-122"/>
                <a:cs typeface="Courier New" pitchFamily="34" charset="-120"/>
              </a:rPr>
              <a:t>21</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ROADMAP</a:t>
            </a:r>
            <a:endParaRPr lang="en-US" sz="1800" dirty="0"/>
          </a:p>
        </p:txBody>
      </p:sp>
      <p:sp>
        <p:nvSpPr>
          <p:cNvPr id="3" name="Text 1"/>
          <p:cNvSpPr/>
          <p:nvPr/>
        </p:nvSpPr>
        <p:spPr>
          <a:xfrm>
            <a:off x="1047750" y="1428750"/>
            <a:ext cx="9973761" cy="771079"/>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Four phases to close the tail</a:t>
            </a:r>
            <a:endParaRPr lang="en-US" sz="5550" dirty="0"/>
          </a:p>
        </p:txBody>
      </p:sp>
      <p:sp>
        <p:nvSpPr>
          <p:cNvPr id="4" name="Shape 2"/>
          <p:cNvSpPr/>
          <p:nvPr/>
        </p:nvSpPr>
        <p:spPr>
          <a:xfrm>
            <a:off x="1047750" y="2752279"/>
            <a:ext cx="7772400" cy="2155329"/>
          </a:xfrm>
          <a:prstGeom prst="roundRect">
            <a:avLst>
              <a:gd name="adj" fmla="val 3535"/>
            </a:avLst>
          </a:prstGeom>
          <a:solidFill>
            <a:srgbClr val="20262D"/>
          </a:solidFill>
          <a:ln/>
        </p:spPr>
      </p:sp>
      <p:sp>
        <p:nvSpPr>
          <p:cNvPr id="5" name="Text 3"/>
          <p:cNvSpPr/>
          <p:nvPr/>
        </p:nvSpPr>
        <p:spPr>
          <a:xfrm>
            <a:off x="1428750" y="3095179"/>
            <a:ext cx="3005733" cy="590550"/>
          </a:xfrm>
          <a:prstGeom prst="rect">
            <a:avLst/>
          </a:prstGeom>
          <a:noFill/>
          <a:ln/>
        </p:spPr>
        <p:txBody>
          <a:bodyPr wrap="square" lIns="25400" tIns="25400" rIns="25400" bIns="25400" rtlCol="0" anchor="t">
            <a:normAutofit/>
          </a:bodyPr>
          <a:lstStyle/>
          <a:p>
            <a:pPr algn="l" indent="0" marL="0">
              <a:buNone/>
            </a:pPr>
            <a:r>
              <a:rPr lang="en-US" sz="2850" dirty="0">
                <a:solidFill>
                  <a:srgbClr val="F2EDE1"/>
                </a:solidFill>
                <a:latin typeface="Georgia" pitchFamily="34" charset="0"/>
                <a:ea typeface="Georgia" pitchFamily="34" charset="-122"/>
                <a:cs typeface="Georgia" pitchFamily="34" charset="-120"/>
              </a:rPr>
              <a:t>Ea tail weighting</a:t>
            </a:r>
            <a:endParaRPr lang="en-US" sz="2850" dirty="0"/>
          </a:p>
        </p:txBody>
      </p:sp>
      <p:sp>
        <p:nvSpPr>
          <p:cNvPr id="6" name="Text 4"/>
          <p:cNvSpPr/>
          <p:nvPr/>
        </p:nvSpPr>
        <p:spPr>
          <a:xfrm>
            <a:off x="7684740" y="3257104"/>
            <a:ext cx="83061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C08A3E"/>
                </a:solidFill>
                <a:latin typeface="Courier New" pitchFamily="34" charset="0"/>
                <a:ea typeface="Courier New" pitchFamily="34" charset="-122"/>
                <a:cs typeface="Courier New" pitchFamily="34" charset="-120"/>
              </a:rPr>
              <a:t>ACTIVE</a:t>
            </a:r>
            <a:endParaRPr lang="en-US" sz="1650" dirty="0"/>
          </a:p>
        </p:txBody>
      </p:sp>
      <p:sp>
        <p:nvSpPr>
          <p:cNvPr id="7" name="Text 5"/>
          <p:cNvSpPr/>
          <p:nvPr/>
        </p:nvSpPr>
        <p:spPr>
          <a:xfrm>
            <a:off x="1428750" y="3800029"/>
            <a:ext cx="7220712"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A9A396"/>
                </a:solidFill>
                <a:latin typeface="Arial" pitchFamily="34" charset="0"/>
                <a:ea typeface="Arial" pitchFamily="34" charset="-122"/>
                <a:cs typeface="Arial" pitchFamily="34" charset="-120"/>
              </a:rPr>
              <a:t>Piecewise sample weights above 80 / 100 / 120 kcal/mol pull the high-barrier tail up.</a:t>
            </a:r>
            <a:endParaRPr lang="en-US" sz="2025" dirty="0"/>
          </a:p>
        </p:txBody>
      </p:sp>
      <p:sp>
        <p:nvSpPr>
          <p:cNvPr id="8" name="Shape 6"/>
          <p:cNvSpPr/>
          <p:nvPr/>
        </p:nvSpPr>
        <p:spPr>
          <a:xfrm>
            <a:off x="9086850" y="2752279"/>
            <a:ext cx="7772400" cy="2155329"/>
          </a:xfrm>
          <a:prstGeom prst="roundRect">
            <a:avLst>
              <a:gd name="adj" fmla="val 3535"/>
            </a:avLst>
          </a:prstGeom>
          <a:solidFill>
            <a:srgbClr val="FFFFFF"/>
          </a:solidFill>
          <a:ln w="9525">
            <a:solidFill>
              <a:srgbClr val="DDD6C7"/>
            </a:solidFill>
            <a:prstDash val="solid"/>
          </a:ln>
        </p:spPr>
      </p:sp>
      <p:sp>
        <p:nvSpPr>
          <p:cNvPr id="9" name="Text 7"/>
          <p:cNvSpPr/>
          <p:nvPr/>
        </p:nvSpPr>
        <p:spPr>
          <a:xfrm>
            <a:off x="9477375" y="3104704"/>
            <a:ext cx="3323005" cy="590550"/>
          </a:xfrm>
          <a:prstGeom prst="rect">
            <a:avLst/>
          </a:prstGeom>
          <a:noFill/>
          <a:ln/>
        </p:spPr>
        <p:txBody>
          <a:bodyPr wrap="square" lIns="25400" tIns="25400" rIns="25400" bIns="25400" rtlCol="0" anchor="t">
            <a:normAutofit/>
          </a:bodyPr>
          <a:lstStyle/>
          <a:p>
            <a:pPr algn="l" indent="0" marL="0">
              <a:buNone/>
            </a:pPr>
            <a:r>
              <a:rPr lang="en-US" sz="2850" dirty="0">
                <a:solidFill>
                  <a:srgbClr val="20262D"/>
                </a:solidFill>
                <a:latin typeface="Georgia" pitchFamily="34" charset="0"/>
                <a:ea typeface="Georgia" pitchFamily="34" charset="-122"/>
                <a:cs typeface="Georgia" pitchFamily="34" charset="-120"/>
              </a:rPr>
              <a:t>Reaction-class loss</a:t>
            </a:r>
            <a:endParaRPr lang="en-US" sz="2850" dirty="0"/>
          </a:p>
        </p:txBody>
      </p:sp>
      <p:sp>
        <p:nvSpPr>
          <p:cNvPr id="10" name="Text 8"/>
          <p:cNvSpPr/>
          <p:nvPr/>
        </p:nvSpPr>
        <p:spPr>
          <a:xfrm>
            <a:off x="15588555" y="3266629"/>
            <a:ext cx="95637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6F6A5F"/>
                </a:solidFill>
                <a:latin typeface="Courier New" pitchFamily="34" charset="0"/>
                <a:ea typeface="Courier New" pitchFamily="34" charset="-122"/>
                <a:cs typeface="Courier New" pitchFamily="34" charset="-120"/>
              </a:rPr>
              <a:t>PHASE 3</a:t>
            </a:r>
            <a:endParaRPr lang="en-US" sz="1650" dirty="0"/>
          </a:p>
        </p:txBody>
      </p:sp>
      <p:sp>
        <p:nvSpPr>
          <p:cNvPr id="11" name="Text 9"/>
          <p:cNvSpPr/>
          <p:nvPr/>
        </p:nvSpPr>
        <p:spPr>
          <a:xfrm>
            <a:off x="9477375" y="3809554"/>
            <a:ext cx="7201091"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6F6A5F"/>
                </a:solidFill>
                <a:latin typeface="Arial" pitchFamily="34" charset="0"/>
                <a:ea typeface="Arial" pitchFamily="34" charset="-122"/>
                <a:cs typeface="Arial" pitchFamily="34" charset="-120"/>
              </a:rPr>
              <a:t>Up-weight the hard families — C–C skeletal, C–N / N–N rich rearrangements.</a:t>
            </a:r>
            <a:endParaRPr lang="en-US" sz="2025" dirty="0"/>
          </a:p>
        </p:txBody>
      </p:sp>
      <p:sp>
        <p:nvSpPr>
          <p:cNvPr id="12" name="Shape 10"/>
          <p:cNvSpPr/>
          <p:nvPr/>
        </p:nvSpPr>
        <p:spPr>
          <a:xfrm>
            <a:off x="1047750" y="5174307"/>
            <a:ext cx="7772400" cy="2155329"/>
          </a:xfrm>
          <a:prstGeom prst="roundRect">
            <a:avLst>
              <a:gd name="adj" fmla="val 3535"/>
            </a:avLst>
          </a:prstGeom>
          <a:solidFill>
            <a:srgbClr val="FFFFFF"/>
          </a:solidFill>
          <a:ln w="9525">
            <a:solidFill>
              <a:srgbClr val="DDD6C7"/>
            </a:solidFill>
            <a:prstDash val="solid"/>
          </a:ln>
        </p:spPr>
      </p:sp>
      <p:sp>
        <p:nvSpPr>
          <p:cNvPr id="13" name="Text 11"/>
          <p:cNvSpPr/>
          <p:nvPr/>
        </p:nvSpPr>
        <p:spPr>
          <a:xfrm>
            <a:off x="1438275" y="5526732"/>
            <a:ext cx="4033674" cy="590550"/>
          </a:xfrm>
          <a:prstGeom prst="rect">
            <a:avLst/>
          </a:prstGeom>
          <a:noFill/>
          <a:ln/>
        </p:spPr>
        <p:txBody>
          <a:bodyPr wrap="square" lIns="25400" tIns="25400" rIns="25400" bIns="25400" rtlCol="0" anchor="t">
            <a:normAutofit/>
          </a:bodyPr>
          <a:lstStyle/>
          <a:p>
            <a:pPr algn="l" indent="0" marL="0">
              <a:buNone/>
            </a:pPr>
            <a:r>
              <a:rPr lang="en-US" sz="2850" dirty="0">
                <a:solidFill>
                  <a:srgbClr val="20262D"/>
                </a:solidFill>
                <a:latin typeface="Georgia" pitchFamily="34" charset="0"/>
                <a:ea typeface="Georgia" pitchFamily="34" charset="-122"/>
                <a:cs typeface="Georgia" pitchFamily="34" charset="-120"/>
              </a:rPr>
              <a:t>Intra-fragment penalty</a:t>
            </a:r>
            <a:endParaRPr lang="en-US" sz="2850" dirty="0"/>
          </a:p>
        </p:txBody>
      </p:sp>
      <p:sp>
        <p:nvSpPr>
          <p:cNvPr id="14" name="Text 12"/>
          <p:cNvSpPr/>
          <p:nvPr/>
        </p:nvSpPr>
        <p:spPr>
          <a:xfrm>
            <a:off x="7423696" y="5688657"/>
            <a:ext cx="1082129" cy="314325"/>
          </a:xfrm>
          <a:prstGeom prst="rect">
            <a:avLst/>
          </a:prstGeom>
          <a:noFill/>
          <a:ln/>
        </p:spPr>
        <p:txBody>
          <a:bodyPr wrap="square" lIns="25400" tIns="25400" rIns="25400" bIns="25400" rtlCol="0" anchor="t">
            <a:normAutofit/>
          </a:bodyPr>
          <a:lstStyle/>
          <a:p>
            <a:pPr algn="l" indent="0" marL="0">
              <a:buNone/>
            </a:pPr>
            <a:r>
              <a:rPr lang="en-US" sz="1650" dirty="0">
                <a:solidFill>
                  <a:srgbClr val="6F6A5F"/>
                </a:solidFill>
                <a:latin typeface="Courier New" pitchFamily="34" charset="0"/>
                <a:ea typeface="Courier New" pitchFamily="34" charset="-122"/>
                <a:cs typeface="Courier New" pitchFamily="34" charset="-120"/>
              </a:rPr>
              <a:t>PHASE 2b</a:t>
            </a:r>
            <a:endParaRPr lang="en-US" sz="1650" dirty="0"/>
          </a:p>
        </p:txBody>
      </p:sp>
      <p:sp>
        <p:nvSpPr>
          <p:cNvPr id="15" name="Text 13"/>
          <p:cNvSpPr/>
          <p:nvPr/>
        </p:nvSpPr>
        <p:spPr>
          <a:xfrm>
            <a:off x="1438275" y="6231582"/>
            <a:ext cx="7201091"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6F6A5F"/>
                </a:solidFill>
                <a:latin typeface="Arial" pitchFamily="34" charset="0"/>
                <a:ea typeface="Arial" pitchFamily="34" charset="-122"/>
                <a:cs typeface="Arial" pitchFamily="34" charset="-120"/>
              </a:rPr>
              <a:t>Explicit Huber term on in-fragment bonds keeps rigid fragments intact.</a:t>
            </a:r>
            <a:endParaRPr lang="en-US" sz="2025" dirty="0"/>
          </a:p>
        </p:txBody>
      </p:sp>
      <p:sp>
        <p:nvSpPr>
          <p:cNvPr id="16" name="Shape 14"/>
          <p:cNvSpPr/>
          <p:nvPr/>
        </p:nvSpPr>
        <p:spPr>
          <a:xfrm>
            <a:off x="9086850" y="5174307"/>
            <a:ext cx="7772400" cy="2155329"/>
          </a:xfrm>
          <a:prstGeom prst="roundRect">
            <a:avLst>
              <a:gd name="adj" fmla="val 3535"/>
            </a:avLst>
          </a:prstGeom>
          <a:solidFill>
            <a:srgbClr val="FFFFFF"/>
          </a:solidFill>
          <a:ln w="9525">
            <a:solidFill>
              <a:srgbClr val="DDD6C7"/>
            </a:solidFill>
            <a:prstDash val="solid"/>
          </a:ln>
        </p:spPr>
      </p:sp>
      <p:sp>
        <p:nvSpPr>
          <p:cNvPr id="17" name="Text 15"/>
          <p:cNvSpPr/>
          <p:nvPr/>
        </p:nvSpPr>
        <p:spPr>
          <a:xfrm>
            <a:off x="9477375" y="5526732"/>
            <a:ext cx="2710235" cy="590550"/>
          </a:xfrm>
          <a:prstGeom prst="rect">
            <a:avLst/>
          </a:prstGeom>
          <a:noFill/>
          <a:ln/>
        </p:spPr>
        <p:txBody>
          <a:bodyPr wrap="square" lIns="25400" tIns="25400" rIns="25400" bIns="25400" rtlCol="0" anchor="t">
            <a:normAutofit/>
          </a:bodyPr>
          <a:lstStyle/>
          <a:p>
            <a:pPr algn="l" indent="0" marL="0">
              <a:buNone/>
            </a:pPr>
            <a:r>
              <a:rPr lang="en-US" sz="2850" dirty="0">
                <a:solidFill>
                  <a:srgbClr val="20262D"/>
                </a:solidFill>
                <a:latin typeface="Georgia" pitchFamily="34" charset="0"/>
                <a:ea typeface="Georgia" pitchFamily="34" charset="-122"/>
                <a:cs typeface="Georgia" pitchFamily="34" charset="-120"/>
              </a:rPr>
              <a:t>Error-tail focus</a:t>
            </a:r>
            <a:endParaRPr lang="en-US" sz="2850" dirty="0"/>
          </a:p>
        </p:txBody>
      </p:sp>
      <p:sp>
        <p:nvSpPr>
          <p:cNvPr id="18" name="Text 16"/>
          <p:cNvSpPr/>
          <p:nvPr/>
        </p:nvSpPr>
        <p:spPr>
          <a:xfrm>
            <a:off x="15588555" y="5688657"/>
            <a:ext cx="95637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6F6A5F"/>
                </a:solidFill>
                <a:latin typeface="Courier New" pitchFamily="34" charset="0"/>
                <a:ea typeface="Courier New" pitchFamily="34" charset="-122"/>
                <a:cs typeface="Courier New" pitchFamily="34" charset="-120"/>
              </a:rPr>
              <a:t>PHASE 4</a:t>
            </a:r>
            <a:endParaRPr lang="en-US" sz="1650" dirty="0"/>
          </a:p>
        </p:txBody>
      </p:sp>
      <p:sp>
        <p:nvSpPr>
          <p:cNvPr id="19" name="Text 17"/>
          <p:cNvSpPr/>
          <p:nvPr/>
        </p:nvSpPr>
        <p:spPr>
          <a:xfrm>
            <a:off x="9477375" y="6231582"/>
            <a:ext cx="7201091" cy="78372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6F6A5F"/>
                </a:solidFill>
                <a:latin typeface="Arial" pitchFamily="34" charset="0"/>
                <a:ea typeface="Arial" pitchFamily="34" charset="-122"/>
                <a:cs typeface="Arial" pitchFamily="34" charset="-120"/>
              </a:rPr>
              <a:t>Per-sample geometry-error tracking reweights the worst residuals during training.</a:t>
            </a:r>
            <a:endParaRPr lang="en-US" sz="2025" dirty="0"/>
          </a:p>
        </p:txBody>
      </p:sp>
      <p:sp>
        <p:nvSpPr>
          <p:cNvPr id="20" name="Text 18"/>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21" name="Text 19"/>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22</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IMPROVING THE CODE · PHASE 3</a:t>
            </a:r>
            <a:endParaRPr lang="en-US" sz="1800" dirty="0"/>
          </a:p>
        </p:txBody>
      </p:sp>
      <p:sp>
        <p:nvSpPr>
          <p:cNvPr id="3" name="Text 1"/>
          <p:cNvSpPr/>
          <p:nvPr/>
        </p:nvSpPr>
        <p:spPr>
          <a:xfrm>
            <a:off x="1047750" y="1428750"/>
            <a:ext cx="9339068"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Weight the energy loss by reaction class</a:t>
            </a:r>
            <a:endParaRPr lang="en-US" sz="5550" dirty="0"/>
          </a:p>
        </p:txBody>
      </p:sp>
      <p:sp>
        <p:nvSpPr>
          <p:cNvPr id="4" name="Text 2"/>
          <p:cNvSpPr/>
          <p:nvPr/>
        </p:nvSpPr>
        <p:spPr>
          <a:xfrm>
            <a:off x="1047750" y="3390007"/>
            <a:ext cx="7768734" cy="1990725"/>
          </a:xfrm>
          <a:prstGeom prst="rect">
            <a:avLst/>
          </a:prstGeom>
          <a:noFill/>
          <a:ln/>
        </p:spPr>
        <p:txBody>
          <a:bodyPr wrap="square" lIns="25400" tIns="25400" rIns="25400" bIns="25400" rtlCol="0" anchor="t">
            <a:normAutofit/>
          </a:bodyPr>
          <a:lstStyle/>
          <a:p>
            <a:pPr algn="l" indent="0" marL="0">
              <a:lnSpc>
                <a:spcPct val="130769"/>
              </a:lnSpc>
              <a:buNone/>
            </a:pPr>
            <a:r>
              <a:rPr lang="en-US" sz="2550" dirty="0">
                <a:solidFill>
                  <a:srgbClr val="20262D"/>
                </a:solidFill>
                <a:latin typeface="Arial" pitchFamily="34" charset="0"/>
                <a:ea typeface="Arial" pitchFamily="34" charset="-122"/>
                <a:cs typeface="Arial" pitchFamily="34" charset="-120"/>
              </a:rPr>
              <a:t>Reuse the formed/broken bond counts and risky bond types we already compute — apply moderate class weights </a:t>
            </a:r>
            <a:pPr algn="l" indent="0" marL="0">
              <a:lnSpc>
                <a:spcPct val="130769"/>
              </a:lnSpc>
              <a:buNone/>
            </a:pPr>
            <a:r>
              <a:rPr lang="en-US" sz="2550" b="1" dirty="0">
                <a:solidFill>
                  <a:srgbClr val="20262D"/>
                </a:solidFill>
                <a:latin typeface="Arial" pitchFamily="34" charset="0"/>
                <a:ea typeface="Arial" pitchFamily="34" charset="-122"/>
                <a:cs typeface="Arial" pitchFamily="34" charset="-120"/>
              </a:rPr>
              <a:t>inside the Ea loss only </a:t>
            </a:r>
            <a:pPr algn="l" indent="0" marL="0">
              <a:lnSpc>
                <a:spcPct val="130769"/>
              </a:lnSpc>
              <a:buNone/>
            </a:pPr>
            <a:r>
              <a:rPr lang="en-US" sz="2550" dirty="0">
                <a:solidFill>
                  <a:srgbClr val="20262D"/>
                </a:solidFill>
                <a:latin typeface="Arial" pitchFamily="34" charset="0"/>
                <a:ea typeface="Arial" pitchFamily="34" charset="-122"/>
                <a:cs typeface="Arial" pitchFamily="34" charset="-120"/>
              </a:rPr>
              <a:t>, keeping geometry loss stable.</a:t>
            </a:r>
            <a:endParaRPr lang="en-US" sz="2550" dirty="0"/>
          </a:p>
        </p:txBody>
      </p:sp>
      <p:sp>
        <p:nvSpPr>
          <p:cNvPr id="5" name="Shape 3"/>
          <p:cNvSpPr/>
          <p:nvPr/>
        </p:nvSpPr>
        <p:spPr>
          <a:xfrm>
            <a:off x="1047750" y="5590282"/>
            <a:ext cx="7542461" cy="1794272"/>
          </a:xfrm>
          <a:prstGeom prst="roundRect">
            <a:avLst>
              <a:gd name="adj" fmla="val 4247"/>
            </a:avLst>
          </a:prstGeom>
          <a:solidFill>
            <a:srgbClr val="20262D"/>
          </a:solidFill>
          <a:ln/>
        </p:spPr>
      </p:sp>
      <p:sp>
        <p:nvSpPr>
          <p:cNvPr id="6" name="Text 4"/>
          <p:cNvSpPr/>
          <p:nvPr/>
        </p:nvSpPr>
        <p:spPr>
          <a:xfrm>
            <a:off x="1371600" y="5856982"/>
            <a:ext cx="7101603" cy="361950"/>
          </a:xfrm>
          <a:prstGeom prst="rect">
            <a:avLst/>
          </a:prstGeom>
          <a:noFill/>
          <a:ln/>
        </p:spPr>
        <p:txBody>
          <a:bodyPr wrap="square" lIns="25400" tIns="25400" rIns="25400" bIns="25400" rtlCol="0" anchor="t">
            <a:normAutofit/>
          </a:bodyPr>
          <a:lstStyle/>
          <a:p>
            <a:pPr algn="l" indent="0" marL="0">
              <a:lnSpc>
                <a:spcPct val="147826"/>
              </a:lnSpc>
              <a:buNone/>
            </a:pPr>
            <a:r>
              <a:rPr lang="en-US" sz="1500" spc="150" kern="0" dirty="0">
                <a:solidFill>
                  <a:srgbClr val="A9A396"/>
                </a:solidFill>
                <a:latin typeface="Courier New" pitchFamily="34" charset="0"/>
                <a:ea typeface="Courier New" pitchFamily="34" charset="-122"/>
                <a:cs typeface="Courier New" pitchFamily="34" charset="-120"/>
              </a:rPr>
              <a:t>IN run_epoch</a:t>
            </a:r>
            <a:endParaRPr lang="en-US" sz="1500" dirty="0"/>
          </a:p>
        </p:txBody>
      </p:sp>
      <p:sp>
        <p:nvSpPr>
          <p:cNvPr id="7" name="Text 5"/>
          <p:cNvSpPr/>
          <p:nvPr/>
        </p:nvSpPr>
        <p:spPr>
          <a:xfrm>
            <a:off x="1371600" y="6276082"/>
            <a:ext cx="7101603" cy="458986"/>
          </a:xfrm>
          <a:prstGeom prst="rect">
            <a:avLst/>
          </a:prstGeom>
          <a:noFill/>
          <a:ln/>
        </p:spPr>
        <p:txBody>
          <a:bodyPr wrap="square" lIns="25400" tIns="25400" rIns="25400" bIns="25400" rtlCol="0" anchor="t">
            <a:normAutofit/>
          </a:bodyPr>
          <a:lstStyle/>
          <a:p>
            <a:pPr algn="l" indent="0" marL="0">
              <a:lnSpc>
                <a:spcPct val="147333"/>
              </a:lnSpc>
              <a:buNone/>
            </a:pPr>
            <a:r>
              <a:rPr lang="en-US" sz="1950" dirty="0">
                <a:solidFill>
                  <a:srgbClr val="F2EDE1"/>
                </a:solidFill>
                <a:latin typeface="Courier New" pitchFamily="34" charset="0"/>
                <a:ea typeface="Courier New" pitchFamily="34" charset="-122"/>
                <a:cs typeface="Courier New" pitchFamily="34" charset="-120"/>
              </a:rPr>
              <a:t>w = class_weight[bond_signature]</a:t>
            </a:r>
            <a:endParaRPr lang="en-US" sz="1950" dirty="0"/>
          </a:p>
        </p:txBody>
      </p:sp>
      <p:sp>
        <p:nvSpPr>
          <p:cNvPr id="8" name="Text 6"/>
          <p:cNvSpPr/>
          <p:nvPr/>
        </p:nvSpPr>
        <p:spPr>
          <a:xfrm>
            <a:off x="1371600" y="6696968"/>
            <a:ext cx="7101603" cy="458986"/>
          </a:xfrm>
          <a:prstGeom prst="rect">
            <a:avLst/>
          </a:prstGeom>
          <a:noFill/>
          <a:ln/>
        </p:spPr>
        <p:txBody>
          <a:bodyPr wrap="square" lIns="25400" tIns="25400" rIns="25400" bIns="25400" rtlCol="0" anchor="t">
            <a:normAutofit/>
          </a:bodyPr>
          <a:lstStyle/>
          <a:p>
            <a:pPr algn="l" indent="0" marL="0">
              <a:lnSpc>
                <a:spcPct val="147333"/>
              </a:lnSpc>
              <a:buNone/>
            </a:pPr>
            <a:r>
              <a:rPr lang="en-US" sz="1950" dirty="0">
                <a:solidFill>
                  <a:srgbClr val="C08A3E"/>
                </a:solidFill>
                <a:latin typeface="Courier New" pitchFamily="34" charset="0"/>
                <a:ea typeface="Courier New" pitchFamily="34" charset="-122"/>
                <a:cs typeface="Courier New" pitchFamily="34" charset="-120"/>
              </a:rPr>
              <a:t>l_ea = weighted_mean(l_ea_i, w)</a:t>
            </a:r>
            <a:endParaRPr lang="en-US" sz="1950" dirty="0"/>
          </a:p>
        </p:txBody>
      </p:sp>
      <p:sp>
        <p:nvSpPr>
          <p:cNvPr id="9" name="Shape 7"/>
          <p:cNvSpPr/>
          <p:nvPr/>
        </p:nvSpPr>
        <p:spPr>
          <a:xfrm>
            <a:off x="9085511" y="3390007"/>
            <a:ext cx="7964239" cy="3994547"/>
          </a:xfrm>
          <a:prstGeom prst="roundRect">
            <a:avLst>
              <a:gd name="adj" fmla="val 1908"/>
            </a:avLst>
          </a:prstGeom>
          <a:solidFill>
            <a:srgbClr val="FFFFFF"/>
          </a:solidFill>
          <a:ln w="9525">
            <a:solidFill>
              <a:srgbClr val="DDD6C7"/>
            </a:solidFill>
            <a:prstDash val="solid"/>
          </a:ln>
        </p:spPr>
      </p:sp>
      <p:sp>
        <p:nvSpPr>
          <p:cNvPr id="10" name="Text 8"/>
          <p:cNvSpPr/>
          <p:nvPr/>
        </p:nvSpPr>
        <p:spPr>
          <a:xfrm>
            <a:off x="9476036" y="3742432"/>
            <a:ext cx="7901508" cy="3238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2F7A6F"/>
                </a:solidFill>
                <a:latin typeface="Courier New" pitchFamily="34" charset="0"/>
                <a:ea typeface="Courier New" pitchFamily="34" charset="-122"/>
                <a:cs typeface="Courier New" pitchFamily="34" charset="-120"/>
              </a:rPr>
              <a:t>ACCEPTANCE TARGETS</a:t>
            </a:r>
            <a:endParaRPr lang="en-US" sz="1725" dirty="0"/>
          </a:p>
        </p:txBody>
      </p:sp>
      <p:sp>
        <p:nvSpPr>
          <p:cNvPr id="11" name="Shape 9"/>
          <p:cNvSpPr/>
          <p:nvPr/>
        </p:nvSpPr>
        <p:spPr>
          <a:xfrm>
            <a:off x="9476036" y="4723507"/>
            <a:ext cx="7183189" cy="9525"/>
          </a:xfrm>
          <a:prstGeom prst="rect">
            <a:avLst/>
          </a:prstGeom>
          <a:solidFill>
            <a:srgbClr val="DDD6C7"/>
          </a:solidFill>
          <a:ln/>
        </p:spPr>
      </p:sp>
      <p:sp>
        <p:nvSpPr>
          <p:cNvPr id="12" name="Text 10"/>
          <p:cNvSpPr/>
          <p:nvPr/>
        </p:nvSpPr>
        <p:spPr>
          <a:xfrm>
            <a:off x="9476036" y="4237732"/>
            <a:ext cx="230505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20262D"/>
                </a:solidFill>
                <a:latin typeface="Arial" pitchFamily="34" charset="0"/>
                <a:ea typeface="Arial" pitchFamily="34" charset="-122"/>
                <a:cs typeface="Arial" pitchFamily="34" charset="-120"/>
              </a:rPr>
              <a:t>C–C skeletal MAE</a:t>
            </a:r>
            <a:endParaRPr lang="en-US" sz="2100" dirty="0"/>
          </a:p>
        </p:txBody>
      </p:sp>
      <p:sp>
        <p:nvSpPr>
          <p:cNvPr id="13" name="Text 11"/>
          <p:cNvSpPr/>
          <p:nvPr/>
        </p:nvSpPr>
        <p:spPr>
          <a:xfrm>
            <a:off x="15859125" y="4237732"/>
            <a:ext cx="87630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2F7A6F"/>
                </a:solidFill>
                <a:latin typeface="Courier New" pitchFamily="34" charset="0"/>
                <a:ea typeface="Courier New" pitchFamily="34" charset="-122"/>
                <a:cs typeface="Courier New" pitchFamily="34" charset="-120"/>
              </a:rPr>
              <a:t>&lt; 6.0</a:t>
            </a:r>
            <a:endParaRPr lang="en-US" sz="2100" dirty="0"/>
          </a:p>
        </p:txBody>
      </p:sp>
      <p:sp>
        <p:nvSpPr>
          <p:cNvPr id="14" name="Shape 12"/>
          <p:cNvSpPr/>
          <p:nvPr/>
        </p:nvSpPr>
        <p:spPr>
          <a:xfrm>
            <a:off x="9476036" y="5390257"/>
            <a:ext cx="7183189" cy="9525"/>
          </a:xfrm>
          <a:prstGeom prst="rect">
            <a:avLst/>
          </a:prstGeom>
          <a:solidFill>
            <a:srgbClr val="DDD6C7"/>
          </a:solidFill>
          <a:ln/>
        </p:spPr>
      </p:sp>
      <p:sp>
        <p:nvSpPr>
          <p:cNvPr id="15" name="Text 13"/>
          <p:cNvSpPr/>
          <p:nvPr/>
        </p:nvSpPr>
        <p:spPr>
          <a:xfrm>
            <a:off x="9476036" y="4904482"/>
            <a:ext cx="3012118" cy="390525"/>
          </a:xfrm>
          <a:prstGeom prst="rect">
            <a:avLst/>
          </a:prstGeom>
          <a:noFill/>
          <a:ln/>
        </p:spPr>
        <p:txBody>
          <a:bodyPr wrap="square" lIns="25400" tIns="25400" rIns="25400" bIns="25400" rtlCol="0" anchor="t">
            <a:normAutofit/>
          </a:bodyPr>
          <a:lstStyle/>
          <a:p>
            <a:pPr algn="l" indent="0" marL="0">
              <a:buNone/>
            </a:pPr>
            <a:r>
              <a:rPr lang="en-US" sz="2100" dirty="0">
                <a:solidFill>
                  <a:srgbClr val="20262D"/>
                </a:solidFill>
                <a:latin typeface="Arial" pitchFamily="34" charset="0"/>
                <a:ea typeface="Arial" pitchFamily="34" charset="-122"/>
                <a:cs typeface="Arial" pitchFamily="34" charset="-120"/>
              </a:rPr>
              <a:t>Heteroatom rearr. MAE</a:t>
            </a:r>
            <a:endParaRPr lang="en-US" sz="2100" dirty="0"/>
          </a:p>
        </p:txBody>
      </p:sp>
      <p:sp>
        <p:nvSpPr>
          <p:cNvPr id="16" name="Text 14"/>
          <p:cNvSpPr/>
          <p:nvPr/>
        </p:nvSpPr>
        <p:spPr>
          <a:xfrm>
            <a:off x="15859125" y="4904482"/>
            <a:ext cx="87630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2F7A6F"/>
                </a:solidFill>
                <a:latin typeface="Courier New" pitchFamily="34" charset="0"/>
                <a:ea typeface="Courier New" pitchFamily="34" charset="-122"/>
                <a:cs typeface="Courier New" pitchFamily="34" charset="-120"/>
              </a:rPr>
              <a:t>&lt; 5.5</a:t>
            </a:r>
            <a:endParaRPr lang="en-US" sz="2100" dirty="0"/>
          </a:p>
        </p:txBody>
      </p:sp>
      <p:sp>
        <p:nvSpPr>
          <p:cNvPr id="17" name="Shape 15"/>
          <p:cNvSpPr/>
          <p:nvPr/>
        </p:nvSpPr>
        <p:spPr>
          <a:xfrm>
            <a:off x="9476036" y="6057007"/>
            <a:ext cx="7183189" cy="9525"/>
          </a:xfrm>
          <a:prstGeom prst="rect">
            <a:avLst/>
          </a:prstGeom>
          <a:solidFill>
            <a:srgbClr val="DDD6C7"/>
          </a:solidFill>
          <a:ln/>
        </p:spPr>
      </p:sp>
      <p:sp>
        <p:nvSpPr>
          <p:cNvPr id="18" name="Text 16"/>
          <p:cNvSpPr/>
          <p:nvPr/>
        </p:nvSpPr>
        <p:spPr>
          <a:xfrm>
            <a:off x="9476036" y="5571232"/>
            <a:ext cx="200676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20262D"/>
                </a:solidFill>
                <a:latin typeface="Arial" pitchFamily="34" charset="0"/>
                <a:ea typeface="Arial" pitchFamily="34" charset="-122"/>
                <a:cs typeface="Arial" pitchFamily="34" charset="-120"/>
              </a:rPr>
              <a:t>C–N / N–N bias</a:t>
            </a:r>
            <a:endParaRPr lang="en-US" sz="2100" dirty="0"/>
          </a:p>
        </p:txBody>
      </p:sp>
      <p:sp>
        <p:nvSpPr>
          <p:cNvPr id="19" name="Text 17"/>
          <p:cNvSpPr/>
          <p:nvPr/>
        </p:nvSpPr>
        <p:spPr>
          <a:xfrm>
            <a:off x="16192500" y="5571232"/>
            <a:ext cx="54292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2F7A6F"/>
                </a:solidFill>
                <a:latin typeface="Courier New" pitchFamily="34" charset="0"/>
                <a:ea typeface="Courier New" pitchFamily="34" charset="-122"/>
                <a:cs typeface="Courier New" pitchFamily="34" charset="-120"/>
              </a:rPr>
              <a:t>→ 0</a:t>
            </a:r>
            <a:endParaRPr lang="en-US" sz="2100" dirty="0"/>
          </a:p>
        </p:txBody>
      </p:sp>
      <p:sp>
        <p:nvSpPr>
          <p:cNvPr id="20" name="Text 18"/>
          <p:cNvSpPr/>
          <p:nvPr/>
        </p:nvSpPr>
        <p:spPr>
          <a:xfrm>
            <a:off x="9476036" y="6237982"/>
            <a:ext cx="304551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20262D"/>
                </a:solidFill>
                <a:latin typeface="Arial" pitchFamily="34" charset="0"/>
                <a:ea typeface="Arial" pitchFamily="34" charset="-122"/>
                <a:cs typeface="Arial" pitchFamily="34" charset="-120"/>
              </a:rPr>
              <a:t>Overall MAE regression</a:t>
            </a:r>
            <a:endParaRPr lang="en-US" sz="2100" dirty="0"/>
          </a:p>
        </p:txBody>
      </p:sp>
      <p:sp>
        <p:nvSpPr>
          <p:cNvPr id="21" name="Text 19"/>
          <p:cNvSpPr/>
          <p:nvPr/>
        </p:nvSpPr>
        <p:spPr>
          <a:xfrm>
            <a:off x="15872371" y="6237982"/>
            <a:ext cx="863054" cy="390525"/>
          </a:xfrm>
          <a:prstGeom prst="rect">
            <a:avLst/>
          </a:prstGeom>
          <a:noFill/>
          <a:ln/>
        </p:spPr>
        <p:txBody>
          <a:bodyPr wrap="square" lIns="25400" tIns="25400" rIns="25400" bIns="25400" rtlCol="0" anchor="t">
            <a:normAutofit/>
          </a:bodyPr>
          <a:lstStyle/>
          <a:p>
            <a:pPr algn="l" indent="0" marL="0">
              <a:buNone/>
            </a:pPr>
            <a:r>
              <a:rPr lang="en-US" sz="2100" dirty="0">
                <a:solidFill>
                  <a:srgbClr val="2F7A6F"/>
                </a:solidFill>
                <a:latin typeface="Courier New" pitchFamily="34" charset="0"/>
                <a:ea typeface="Courier New" pitchFamily="34" charset="-122"/>
                <a:cs typeface="Courier New" pitchFamily="34" charset="-120"/>
              </a:rPr>
              <a:t>≤ 0.2</a:t>
            </a:r>
            <a:endParaRPr lang="en-US" sz="2100" dirty="0"/>
          </a:p>
        </p:txBody>
      </p:sp>
      <p:sp>
        <p:nvSpPr>
          <p:cNvPr id="22" name="Text 20"/>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23" name="Text 21"/>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23</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IMPROVING THE CODE · PHASE 4</a:t>
            </a:r>
            <a:endParaRPr lang="en-US" sz="1800" dirty="0"/>
          </a:p>
        </p:txBody>
      </p:sp>
      <p:sp>
        <p:nvSpPr>
          <p:cNvPr id="3" name="Text 1"/>
          <p:cNvSpPr/>
          <p:nvPr/>
        </p:nvSpPr>
        <p:spPr>
          <a:xfrm>
            <a:off x="1047750" y="1428750"/>
            <a:ext cx="9339068"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Attack the geometry tail directly</a:t>
            </a:r>
            <a:endParaRPr lang="en-US" sz="5550" dirty="0"/>
          </a:p>
        </p:txBody>
      </p:sp>
      <p:sp>
        <p:nvSpPr>
          <p:cNvPr id="4" name="Text 2"/>
          <p:cNvSpPr/>
          <p:nvPr/>
        </p:nvSpPr>
        <p:spPr>
          <a:xfrm>
            <a:off x="1047750" y="3390007"/>
            <a:ext cx="8307348" cy="3238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2F7A6F"/>
                </a:solidFill>
                <a:latin typeface="Courier New" pitchFamily="34" charset="0"/>
                <a:ea typeface="Courier New" pitchFamily="34" charset="-122"/>
                <a:cs typeface="Courier New" pitchFamily="34" charset="-120"/>
              </a:rPr>
              <a:t>WHAT TO CHANGE</a:t>
            </a:r>
            <a:endParaRPr lang="en-US" sz="1725" dirty="0"/>
          </a:p>
        </p:txBody>
      </p:sp>
      <p:sp>
        <p:nvSpPr>
          <p:cNvPr id="5" name="Text 3"/>
          <p:cNvSpPr/>
          <p:nvPr/>
        </p:nvSpPr>
        <p:spPr>
          <a:xfrm>
            <a:off x="1102043" y="3885307"/>
            <a:ext cx="7574042" cy="2152650"/>
          </a:xfrm>
          <a:prstGeom prst="rect">
            <a:avLst/>
          </a:prstGeom>
          <a:noFill/>
          <a:ln/>
        </p:spPr>
        <p:txBody>
          <a:bodyPr wrap="square" lIns="25400" tIns="25400" rIns="25400" bIns="25400" rtlCol="0" anchor="t">
            <a:normAutofit/>
          </a:bodyPr>
          <a:lstStyle/>
          <a:p>
            <a:pPr algn="l" marL="193358" indent="-193358">
              <a:lnSpc>
                <a:spcPct val="131818"/>
              </a:lnSpc>
              <a:buSzPct val="100000"/>
              <a:buChar char="•"/>
              <a:tabLst>
                <a:tab pos="193358" algn="l"/>
              </a:tabLst>
            </a:pPr>
            <a:r>
              <a:rPr lang="en-US" sz="2175" dirty="0">
                <a:solidFill>
                  <a:srgbClr val="20262D"/>
                </a:solidFill>
                <a:latin typeface="Arial" pitchFamily="34" charset="0"/>
                <a:ea typeface="Arial" pitchFamily="34" charset="-122"/>
                <a:cs typeface="Arial" pitchFamily="34" charset="-120"/>
              </a:rPr>
              <a:t>Increase geometry weight on active / risk pairs</a:t>
            </a:r>
            <a:endParaRPr lang="en-US" sz="2175" dirty="0"/>
          </a:p>
          <a:p>
            <a:pPr algn="l" marL="193358" indent="-193358">
              <a:lnSpc>
                <a:spcPct val="131818"/>
              </a:lnSpc>
              <a:buSzPct val="100000"/>
              <a:buChar char="•"/>
              <a:tabLst>
                <a:tab pos="193358" algn="l"/>
              </a:tabLst>
            </a:pPr>
            <a:r>
              <a:rPr lang="en-US" sz="2175" dirty="0">
                <a:solidFill>
                  <a:srgbClr val="20262D"/>
                </a:solidFill>
                <a:latin typeface="Arial" pitchFamily="34" charset="0"/>
                <a:ea typeface="Arial" pitchFamily="34" charset="-122"/>
                <a:cs typeface="Arial" pitchFamily="34" charset="-120"/>
              </a:rPr>
              <a:t>Add targeted weight for complex bond-change reactions</a:t>
            </a:r>
            <a:endParaRPr lang="en-US" sz="2175" dirty="0"/>
          </a:p>
          <a:p>
            <a:pPr algn="l" marL="193358" indent="-193358">
              <a:lnSpc>
                <a:spcPct val="131818"/>
              </a:lnSpc>
              <a:buSzPct val="100000"/>
              <a:buChar char="•"/>
              <a:tabLst>
                <a:tab pos="193358" algn="l"/>
              </a:tabLst>
            </a:pPr>
            <a:r>
              <a:rPr lang="en-US" sz="2175" dirty="0">
                <a:solidFill>
                  <a:srgbClr val="20262D"/>
                </a:solidFill>
                <a:latin typeface="Arial" pitchFamily="34" charset="0"/>
                <a:ea typeface="Arial" pitchFamily="34" charset="-122"/>
                <a:cs typeface="Arial" pitchFamily="34" charset="-120"/>
              </a:rPr>
              <a:t>Select checkpoints on P90 / P95, not mean geometry MAE</a:t>
            </a:r>
            <a:endParaRPr lang="en-US" sz="2175" dirty="0"/>
          </a:p>
          <a:p>
            <a:pPr algn="l" marL="193358" indent="-193358">
              <a:lnSpc>
                <a:spcPct val="131818"/>
              </a:lnSpc>
              <a:buSzPct val="100000"/>
              <a:buChar char="•"/>
              <a:tabLst>
                <a:tab pos="193358" algn="l"/>
              </a:tabLst>
            </a:pPr>
            <a:r>
              <a:rPr lang="en-US" sz="2175" dirty="0">
                <a:solidFill>
                  <a:srgbClr val="20262D"/>
                </a:solidFill>
                <a:latin typeface="Arial" pitchFamily="34" charset="0"/>
                <a:ea typeface="Arial" pitchFamily="34" charset="-122"/>
                <a:cs typeface="Arial" pitchFamily="34" charset="-120"/>
              </a:rPr>
              <a:t>Track the ≥0.30 Å bin as its own signal</a:t>
            </a:r>
            <a:endParaRPr lang="en-US" sz="2175" dirty="0"/>
          </a:p>
        </p:txBody>
      </p:sp>
      <p:sp>
        <p:nvSpPr>
          <p:cNvPr id="6" name="Shape 4"/>
          <p:cNvSpPr/>
          <p:nvPr/>
        </p:nvSpPr>
        <p:spPr>
          <a:xfrm>
            <a:off x="9095184" y="3390007"/>
            <a:ext cx="7954566" cy="2867025"/>
          </a:xfrm>
          <a:prstGeom prst="roundRect">
            <a:avLst>
              <a:gd name="adj" fmla="val 2658"/>
            </a:avLst>
          </a:prstGeom>
          <a:solidFill>
            <a:srgbClr val="20262D"/>
          </a:solidFill>
          <a:ln/>
        </p:spPr>
      </p:sp>
      <p:sp>
        <p:nvSpPr>
          <p:cNvPr id="7" name="Text 5"/>
          <p:cNvSpPr/>
          <p:nvPr/>
        </p:nvSpPr>
        <p:spPr>
          <a:xfrm>
            <a:off x="9476184" y="3732907"/>
            <a:ext cx="7911822" cy="3238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C08A3E"/>
                </a:solidFill>
                <a:latin typeface="Courier New" pitchFamily="34" charset="0"/>
                <a:ea typeface="Courier New" pitchFamily="34" charset="-122"/>
                <a:cs typeface="Courier New" pitchFamily="34" charset="-120"/>
              </a:rPr>
              <a:t>ACCEPTANCE TARGETS</a:t>
            </a:r>
            <a:endParaRPr lang="en-US" sz="1725" dirty="0"/>
          </a:p>
        </p:txBody>
      </p:sp>
      <p:sp>
        <p:nvSpPr>
          <p:cNvPr id="8" name="Shape 6"/>
          <p:cNvSpPr/>
          <p:nvPr/>
        </p:nvSpPr>
        <p:spPr>
          <a:xfrm>
            <a:off x="9476184" y="4713982"/>
            <a:ext cx="7192566" cy="9525"/>
          </a:xfrm>
          <a:prstGeom prst="rect">
            <a:avLst/>
          </a:prstGeom>
          <a:solidFill>
            <a:srgbClr val="3A4149"/>
          </a:solidFill>
          <a:ln/>
        </p:spPr>
      </p:sp>
      <p:sp>
        <p:nvSpPr>
          <p:cNvPr id="9" name="Text 7"/>
          <p:cNvSpPr/>
          <p:nvPr/>
        </p:nvSpPr>
        <p:spPr>
          <a:xfrm>
            <a:off x="9476184" y="4228207"/>
            <a:ext cx="190559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2EDE1"/>
                </a:solidFill>
                <a:latin typeface="Arial" pitchFamily="34" charset="0"/>
                <a:ea typeface="Arial" pitchFamily="34" charset="-122"/>
                <a:cs typeface="Arial" pitchFamily="34" charset="-120"/>
              </a:rPr>
              <a:t>Geometry P95</a:t>
            </a:r>
            <a:endParaRPr lang="en-US" sz="2100" dirty="0"/>
          </a:p>
        </p:txBody>
      </p:sp>
      <p:sp>
        <p:nvSpPr>
          <p:cNvPr id="10" name="Text 8"/>
          <p:cNvSpPr/>
          <p:nvPr/>
        </p:nvSpPr>
        <p:spPr>
          <a:xfrm>
            <a:off x="15228540" y="4228207"/>
            <a:ext cx="158423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C08A3E"/>
                </a:solidFill>
                <a:latin typeface="Courier New" pitchFamily="34" charset="0"/>
                <a:ea typeface="Courier New" pitchFamily="34" charset="-122"/>
                <a:cs typeface="Courier New" pitchFamily="34" charset="-120"/>
              </a:rPr>
              <a:t>&lt; 0.259 Å</a:t>
            </a:r>
            <a:endParaRPr lang="en-US" sz="2100" dirty="0"/>
          </a:p>
        </p:txBody>
      </p:sp>
      <p:sp>
        <p:nvSpPr>
          <p:cNvPr id="11" name="Shape 9"/>
          <p:cNvSpPr/>
          <p:nvPr/>
        </p:nvSpPr>
        <p:spPr>
          <a:xfrm>
            <a:off x="9476184" y="5380732"/>
            <a:ext cx="7192566" cy="9525"/>
          </a:xfrm>
          <a:prstGeom prst="rect">
            <a:avLst/>
          </a:prstGeom>
          <a:solidFill>
            <a:srgbClr val="3A4149"/>
          </a:solidFill>
          <a:ln/>
        </p:spPr>
      </p:sp>
      <p:sp>
        <p:nvSpPr>
          <p:cNvPr id="12" name="Text 10"/>
          <p:cNvSpPr/>
          <p:nvPr/>
        </p:nvSpPr>
        <p:spPr>
          <a:xfrm>
            <a:off x="9476184" y="4894957"/>
            <a:ext cx="2321094"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2EDE1"/>
                </a:solidFill>
                <a:latin typeface="Arial" pitchFamily="34" charset="0"/>
                <a:ea typeface="Arial" pitchFamily="34" charset="-122"/>
                <a:cs typeface="Arial" pitchFamily="34" charset="-120"/>
              </a:rPr>
              <a:t>≥0.30 Å bin count</a:t>
            </a:r>
            <a:endParaRPr lang="en-US" sz="2100" dirty="0"/>
          </a:p>
        </p:txBody>
      </p:sp>
      <p:sp>
        <p:nvSpPr>
          <p:cNvPr id="13" name="Text 11"/>
          <p:cNvSpPr/>
          <p:nvPr/>
        </p:nvSpPr>
        <p:spPr>
          <a:xfrm>
            <a:off x="16028640" y="4894957"/>
            <a:ext cx="71631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C08A3E"/>
                </a:solidFill>
                <a:latin typeface="Courier New" pitchFamily="34" charset="0"/>
                <a:ea typeface="Courier New" pitchFamily="34" charset="-122"/>
                <a:cs typeface="Courier New" pitchFamily="34" charset="-120"/>
              </a:rPr>
              <a:t>&lt; 35</a:t>
            </a:r>
            <a:endParaRPr lang="en-US" sz="2100" dirty="0"/>
          </a:p>
        </p:txBody>
      </p:sp>
      <p:sp>
        <p:nvSpPr>
          <p:cNvPr id="14" name="Text 12"/>
          <p:cNvSpPr/>
          <p:nvPr/>
        </p:nvSpPr>
        <p:spPr>
          <a:xfrm>
            <a:off x="9476184" y="5561707"/>
            <a:ext cx="2878202"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2EDE1"/>
                </a:solidFill>
                <a:latin typeface="Arial" pitchFamily="34" charset="0"/>
                <a:ea typeface="Arial" pitchFamily="34" charset="-122"/>
                <a:cs typeface="Arial" pitchFamily="34" charset="-120"/>
              </a:rPr>
              <a:t>Ea MAE in ≥0.30 Å bin</a:t>
            </a:r>
            <a:endParaRPr lang="en-US" sz="2100" dirty="0"/>
          </a:p>
        </p:txBody>
      </p:sp>
      <p:sp>
        <p:nvSpPr>
          <p:cNvPr id="15" name="Text 13"/>
          <p:cNvSpPr/>
          <p:nvPr/>
        </p:nvSpPr>
        <p:spPr>
          <a:xfrm>
            <a:off x="16028640" y="5561707"/>
            <a:ext cx="71631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C08A3E"/>
                </a:solidFill>
                <a:latin typeface="Courier New" pitchFamily="34" charset="0"/>
                <a:ea typeface="Courier New" pitchFamily="34" charset="-122"/>
                <a:cs typeface="Courier New" pitchFamily="34" charset="-120"/>
              </a:rPr>
              <a:t>&lt; 12</a:t>
            </a:r>
            <a:endParaRPr lang="en-US" sz="2100" dirty="0"/>
          </a:p>
        </p:txBody>
      </p:sp>
      <p:sp>
        <p:nvSpPr>
          <p:cNvPr id="16" name="Text 14"/>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17" name="Text 15"/>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24</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IMPROVING THE CODE · FALLBACK</a:t>
            </a:r>
            <a:endParaRPr lang="en-US" sz="1800" dirty="0"/>
          </a:p>
        </p:txBody>
      </p:sp>
      <p:sp>
        <p:nvSpPr>
          <p:cNvPr id="3" name="Text 1"/>
          <p:cNvSpPr/>
          <p:nvPr/>
        </p:nvSpPr>
        <p:spPr>
          <a:xfrm>
            <a:off x="1047750" y="1428750"/>
            <a:ext cx="9339068"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If melting persists, add an explicit fragment penalty</a:t>
            </a:r>
            <a:endParaRPr lang="en-US" sz="5550" dirty="0"/>
          </a:p>
        </p:txBody>
      </p:sp>
      <p:sp>
        <p:nvSpPr>
          <p:cNvPr id="4" name="Text 2"/>
          <p:cNvSpPr/>
          <p:nvPr/>
        </p:nvSpPr>
        <p:spPr>
          <a:xfrm>
            <a:off x="1047750" y="3428107"/>
            <a:ext cx="7573899" cy="2466975"/>
          </a:xfrm>
          <a:prstGeom prst="rect">
            <a:avLst/>
          </a:prstGeom>
          <a:noFill/>
          <a:ln/>
        </p:spPr>
        <p:txBody>
          <a:bodyPr wrap="square" lIns="25400" tIns="25400" rIns="25400" bIns="25400" rtlCol="0" anchor="t">
            <a:normAutofit/>
          </a:bodyPr>
          <a:lstStyle/>
          <a:p>
            <a:pPr algn="l" indent="0" marL="0">
              <a:lnSpc>
                <a:spcPct val="130769"/>
              </a:lnSpc>
              <a:buNone/>
            </a:pPr>
            <a:r>
              <a:rPr lang="en-US" sz="2550" dirty="0">
                <a:solidFill>
                  <a:srgbClr val="20262D"/>
                </a:solidFill>
                <a:latin typeface="Arial" pitchFamily="34" charset="0"/>
                <a:ea typeface="Arial" pitchFamily="34" charset="-122"/>
                <a:cs typeface="Arial" pitchFamily="34" charset="-120"/>
              </a:rPr>
              <a:t>Inverse-distance weighting is the first line of defense. If any &gt;0.30 Å geometries remain, add a hard Huber penalty on intra-fragment bonds — using the </a:t>
            </a:r>
            <a:pPr algn="l" indent="0" marL="0">
              <a:lnSpc>
                <a:spcPct val="130769"/>
              </a:lnSpc>
              <a:buNone/>
            </a:pPr>
            <a:r>
              <a:rPr lang="en-US" sz="2550" dirty="0">
                <a:solidFill>
                  <a:srgbClr val="20262D"/>
                </a:solidFill>
                <a:latin typeface="Courier New" pitchFamily="34" charset="0"/>
                <a:ea typeface="Courier New" pitchFamily="34" charset="-122"/>
                <a:cs typeface="Courier New" pitchFamily="34" charset="-120"/>
              </a:rPr>
              <a:t>geom_mask </a:t>
            </a:r>
            <a:pPr algn="l" indent="0" marL="0">
              <a:lnSpc>
                <a:spcPct val="130769"/>
              </a:lnSpc>
              <a:buNone/>
            </a:pPr>
            <a:r>
              <a:rPr lang="en-US" sz="2550" dirty="0">
                <a:solidFill>
                  <a:srgbClr val="20262D"/>
                </a:solidFill>
                <a:latin typeface="Arial" pitchFamily="34" charset="0"/>
                <a:ea typeface="Arial" pitchFamily="34" charset="-122"/>
                <a:cs typeface="Arial" pitchFamily="34" charset="-120"/>
              </a:rPr>
              <a:t>already constructed from the true TS fragments.</a:t>
            </a:r>
            <a:endParaRPr lang="en-US" sz="2550" dirty="0"/>
          </a:p>
        </p:txBody>
      </p:sp>
      <p:sp>
        <p:nvSpPr>
          <p:cNvPr id="5" name="Text 3"/>
          <p:cNvSpPr/>
          <p:nvPr/>
        </p:nvSpPr>
        <p:spPr>
          <a:xfrm>
            <a:off x="1047750" y="6104632"/>
            <a:ext cx="7573899" cy="781050"/>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6F6A5F"/>
                </a:solidFill>
                <a:latin typeface="Arial" pitchFamily="34" charset="0"/>
                <a:ea typeface="Arial" pitchFamily="34" charset="-122"/>
                <a:cs typeface="Arial" pitchFamily="34" charset="-120"/>
              </a:rPr>
              <a:t>Expected outcome: total elimination of &gt;0.30 Å transition-state geometries.</a:t>
            </a:r>
            <a:endParaRPr lang="en-US" sz="1950" dirty="0"/>
          </a:p>
        </p:txBody>
      </p:sp>
      <p:sp>
        <p:nvSpPr>
          <p:cNvPr id="6" name="Shape 4"/>
          <p:cNvSpPr/>
          <p:nvPr/>
        </p:nvSpPr>
        <p:spPr>
          <a:xfrm>
            <a:off x="8896350" y="3588246"/>
            <a:ext cx="8153400" cy="3099197"/>
          </a:xfrm>
          <a:prstGeom prst="roundRect">
            <a:avLst>
              <a:gd name="adj" fmla="val 2459"/>
            </a:avLst>
          </a:prstGeom>
          <a:solidFill>
            <a:srgbClr val="20262D"/>
          </a:solidFill>
          <a:ln/>
        </p:spPr>
      </p:sp>
      <p:sp>
        <p:nvSpPr>
          <p:cNvPr id="7" name="Text 5"/>
          <p:cNvSpPr/>
          <p:nvPr/>
        </p:nvSpPr>
        <p:spPr>
          <a:xfrm>
            <a:off x="9296400" y="3969246"/>
            <a:ext cx="8088630" cy="314325"/>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C08A3E"/>
                </a:solidFill>
                <a:latin typeface="Courier New" pitchFamily="34" charset="0"/>
                <a:ea typeface="Courier New" pitchFamily="34" charset="-122"/>
                <a:cs typeface="Courier New" pitchFamily="34" charset="-120"/>
              </a:rPr>
              <a:t>EXPLICIT geom_mask PENALTY</a:t>
            </a:r>
            <a:endParaRPr lang="en-US" sz="1650" dirty="0"/>
          </a:p>
        </p:txBody>
      </p:sp>
      <p:sp>
        <p:nvSpPr>
          <p:cNvPr id="8" name="Text 6"/>
          <p:cNvSpPr/>
          <p:nvPr/>
        </p:nvSpPr>
        <p:spPr>
          <a:xfrm>
            <a:off x="9296400" y="4455021"/>
            <a:ext cx="7573899" cy="500955"/>
          </a:xfrm>
          <a:prstGeom prst="rect">
            <a:avLst/>
          </a:prstGeom>
          <a:noFill/>
          <a:ln/>
        </p:spPr>
        <p:txBody>
          <a:bodyPr wrap="square" lIns="25400" tIns="25400" rIns="25400" bIns="25400" rtlCol="0" anchor="t">
            <a:normAutofit/>
          </a:bodyPr>
          <a:lstStyle/>
          <a:p>
            <a:pPr algn="l" indent="0" marL="0">
              <a:lnSpc>
                <a:spcPct val="162000"/>
              </a:lnSpc>
              <a:buNone/>
            </a:pPr>
            <a:r>
              <a:rPr lang="en-US" sz="2025" dirty="0">
                <a:solidFill>
                  <a:srgbClr val="A9A396"/>
                </a:solidFill>
                <a:latin typeface="Courier New" pitchFamily="34" charset="0"/>
                <a:ea typeface="Courier New" pitchFamily="34" charset="-122"/>
                <a:cs typeface="Courier New" pitchFamily="34" charset="-120"/>
              </a:rPr>
              <a:t>m = geom_mask # in-fragment bonds</a:t>
            </a:r>
            <a:endParaRPr lang="en-US" sz="2025" dirty="0"/>
          </a:p>
        </p:txBody>
      </p:sp>
      <p:sp>
        <p:nvSpPr>
          <p:cNvPr id="9" name="Text 7"/>
          <p:cNvSpPr/>
          <p:nvPr/>
        </p:nvSpPr>
        <p:spPr>
          <a:xfrm>
            <a:off x="9296400" y="4917877"/>
            <a:ext cx="7573899" cy="500955"/>
          </a:xfrm>
          <a:prstGeom prst="rect">
            <a:avLst/>
          </a:prstGeom>
          <a:noFill/>
          <a:ln/>
        </p:spPr>
        <p:txBody>
          <a:bodyPr wrap="square" lIns="25400" tIns="25400" rIns="25400" bIns="25400" rtlCol="0" anchor="t">
            <a:normAutofit/>
          </a:bodyPr>
          <a:lstStyle/>
          <a:p>
            <a:pPr algn="l" indent="0" marL="0">
              <a:lnSpc>
                <a:spcPct val="162000"/>
              </a:lnSpc>
              <a:buNone/>
            </a:pPr>
            <a:r>
              <a:rPr lang="en-US" sz="2025" dirty="0">
                <a:solidFill>
                  <a:srgbClr val="C08A3E"/>
                </a:solidFill>
                <a:latin typeface="Courier New" pitchFamily="34" charset="0"/>
                <a:ea typeface="Courier New" pitchFamily="34" charset="-122"/>
                <a:cs typeface="Courier New" pitchFamily="34" charset="-120"/>
              </a:rPr>
              <a:t>l_frag = 5.0 * huber(</a:t>
            </a:r>
            <a:endParaRPr lang="en-US" sz="2025" dirty="0"/>
          </a:p>
        </p:txBody>
      </p:sp>
      <p:sp>
        <p:nvSpPr>
          <p:cNvPr id="10" name="Text 8"/>
          <p:cNvSpPr/>
          <p:nvPr/>
        </p:nvSpPr>
        <p:spPr>
          <a:xfrm>
            <a:off x="9682163" y="5380732"/>
            <a:ext cx="7188136" cy="500955"/>
          </a:xfrm>
          <a:prstGeom prst="rect">
            <a:avLst/>
          </a:prstGeom>
          <a:noFill/>
          <a:ln/>
        </p:spPr>
        <p:txBody>
          <a:bodyPr wrap="square" lIns="25400" tIns="25400" rIns="25400" bIns="25400" rtlCol="0" anchor="t">
            <a:normAutofit/>
          </a:bodyPr>
          <a:lstStyle/>
          <a:p>
            <a:pPr algn="l" indent="0" marL="0">
              <a:lnSpc>
                <a:spcPct val="162000"/>
              </a:lnSpc>
              <a:buNone/>
            </a:pPr>
            <a:r>
              <a:rPr lang="en-US" sz="2025" dirty="0">
                <a:solidFill>
                  <a:srgbClr val="F2EDE1"/>
                </a:solidFill>
                <a:latin typeface="Courier New" pitchFamily="34" charset="0"/>
                <a:ea typeface="Courier New" pitchFamily="34" charset="-122"/>
                <a:cs typeface="Courier New" pitchFamily="34" charset="-120"/>
              </a:rPr>
              <a:t>D_pred[m], D_ts[m])</a:t>
            </a:r>
            <a:endParaRPr lang="en-US" sz="2025" dirty="0"/>
          </a:p>
        </p:txBody>
      </p:sp>
      <p:sp>
        <p:nvSpPr>
          <p:cNvPr id="11" name="Text 9"/>
          <p:cNvSpPr/>
          <p:nvPr/>
        </p:nvSpPr>
        <p:spPr>
          <a:xfrm>
            <a:off x="9296400" y="5843588"/>
            <a:ext cx="7573899" cy="500955"/>
          </a:xfrm>
          <a:prstGeom prst="rect">
            <a:avLst/>
          </a:prstGeom>
          <a:noFill/>
          <a:ln/>
        </p:spPr>
        <p:txBody>
          <a:bodyPr wrap="square" lIns="25400" tIns="25400" rIns="25400" bIns="25400" rtlCol="0" anchor="t">
            <a:normAutofit/>
          </a:bodyPr>
          <a:lstStyle/>
          <a:p>
            <a:pPr algn="l" indent="0" marL="0">
              <a:lnSpc>
                <a:spcPct val="162000"/>
              </a:lnSpc>
              <a:buNone/>
            </a:pPr>
            <a:r>
              <a:rPr lang="en-US" sz="2025" dirty="0">
                <a:solidFill>
                  <a:srgbClr val="F2EDE1"/>
                </a:solidFill>
                <a:latin typeface="Courier New" pitchFamily="34" charset="0"/>
                <a:ea typeface="Courier New" pitchFamily="34" charset="-122"/>
                <a:cs typeface="Courier New" pitchFamily="34" charset="-120"/>
              </a:rPr>
              <a:t>L += l_frag</a:t>
            </a:r>
            <a:endParaRPr lang="en-US" sz="2025" dirty="0"/>
          </a:p>
        </p:txBody>
      </p:sp>
      <p:sp>
        <p:nvSpPr>
          <p:cNvPr id="12" name="Text 10"/>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13" name="Text 11"/>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25</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IMPROVING THE CODE · DISCIPLINE</a:t>
            </a:r>
            <a:endParaRPr lang="en-US" sz="1800" dirty="0"/>
          </a:p>
        </p:txBody>
      </p:sp>
      <p:sp>
        <p:nvSpPr>
          <p:cNvPr id="3" name="Text 1"/>
          <p:cNvSpPr/>
          <p:nvPr/>
        </p:nvSpPr>
        <p:spPr>
          <a:xfrm>
            <a:off x="1047750" y="1428750"/>
            <a:ext cx="9339068"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Keep or reject — the guardrails</a:t>
            </a:r>
            <a:endParaRPr lang="en-US" sz="5550" dirty="0"/>
          </a:p>
        </p:txBody>
      </p:sp>
      <p:sp>
        <p:nvSpPr>
          <p:cNvPr id="4" name="Shape 2"/>
          <p:cNvSpPr/>
          <p:nvPr/>
        </p:nvSpPr>
        <p:spPr>
          <a:xfrm>
            <a:off x="1047750" y="3428107"/>
            <a:ext cx="7800975" cy="3696593"/>
          </a:xfrm>
          <a:prstGeom prst="roundRect">
            <a:avLst>
              <a:gd name="adj" fmla="val 2061"/>
            </a:avLst>
          </a:prstGeom>
          <a:solidFill>
            <a:srgbClr val="FFFFFF"/>
          </a:solidFill>
          <a:ln w="9525">
            <a:solidFill>
              <a:srgbClr val="2F7A6F"/>
            </a:solidFill>
            <a:prstDash val="solid"/>
          </a:ln>
        </p:spPr>
      </p:sp>
      <p:sp>
        <p:nvSpPr>
          <p:cNvPr id="5" name="Text 3"/>
          <p:cNvSpPr/>
          <p:nvPr/>
        </p:nvSpPr>
        <p:spPr>
          <a:xfrm>
            <a:off x="1438275" y="3780532"/>
            <a:ext cx="7721918" cy="3238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2F7A6F"/>
                </a:solidFill>
                <a:latin typeface="Courier New" pitchFamily="34" charset="0"/>
                <a:ea typeface="Courier New" pitchFamily="34" charset="-122"/>
                <a:cs typeface="Courier New" pitchFamily="34" charset="-120"/>
              </a:rPr>
              <a:t>KEEP — IF ANY ONE HOLDS</a:t>
            </a:r>
            <a:endParaRPr lang="en-US" sz="1725" dirty="0"/>
          </a:p>
        </p:txBody>
      </p:sp>
      <p:sp>
        <p:nvSpPr>
          <p:cNvPr id="6" name="Text 4"/>
          <p:cNvSpPr/>
          <p:nvPr/>
        </p:nvSpPr>
        <p:spPr>
          <a:xfrm>
            <a:off x="1486853" y="4256782"/>
            <a:ext cx="7047548" cy="1462088"/>
          </a:xfrm>
          <a:prstGeom prst="rect">
            <a:avLst/>
          </a:prstGeom>
          <a:noFill/>
          <a:ln/>
        </p:spPr>
        <p:txBody>
          <a:bodyPr wrap="square" lIns="25400" tIns="25400" rIns="25400" bIns="25400" rtlCol="0" anchor="t">
            <a:normAutofit/>
          </a:bodyPr>
          <a:lstStyle/>
          <a:p>
            <a:pPr algn="l" marL="180023" indent="-180023">
              <a:lnSpc>
                <a:spcPct val="130645"/>
              </a:lnSpc>
              <a:buSzPct val="100000"/>
              <a:buChar char="•"/>
              <a:tabLst>
                <a:tab pos="180023" algn="l"/>
              </a:tabLst>
            </a:pPr>
            <a:r>
              <a:rPr lang="en-US" sz="2025" dirty="0">
                <a:solidFill>
                  <a:srgbClr val="20262D"/>
                </a:solidFill>
                <a:latin typeface="Arial" pitchFamily="34" charset="0"/>
                <a:ea typeface="Arial" pitchFamily="34" charset="-122"/>
                <a:cs typeface="Arial" pitchFamily="34" charset="-120"/>
              </a:rPr>
              <a:t>Validation Ea MAE improves ≥ 0.2 kcal/mol</a:t>
            </a:r>
            <a:endParaRPr lang="en-US" sz="2025" dirty="0"/>
          </a:p>
          <a:p>
            <a:pPr algn="l" marL="180023" indent="-180023">
              <a:lnSpc>
                <a:spcPct val="130645"/>
              </a:lnSpc>
              <a:buSzPct val="100000"/>
              <a:buChar char="•"/>
              <a:tabLst>
                <a:tab pos="180023" algn="l"/>
              </a:tabLst>
            </a:pPr>
            <a:r>
              <a:rPr lang="en-US" sz="2025" dirty="0">
                <a:solidFill>
                  <a:srgbClr val="20262D"/>
                </a:solidFill>
                <a:latin typeface="Arial" pitchFamily="34" charset="0"/>
                <a:ea typeface="Arial" pitchFamily="34" charset="-122"/>
                <a:cs typeface="Arial" pitchFamily="34" charset="-120"/>
              </a:rPr>
              <a:t>High-Ea 80+ MAE improves ≥ 10%</a:t>
            </a:r>
            <a:endParaRPr lang="en-US" sz="2025" dirty="0"/>
          </a:p>
          <a:p>
            <a:pPr algn="l" marL="180023" indent="-180023">
              <a:lnSpc>
                <a:spcPct val="130645"/>
              </a:lnSpc>
              <a:buSzPct val="100000"/>
              <a:buChar char="•"/>
              <a:tabLst>
                <a:tab pos="180023" algn="l"/>
              </a:tabLst>
            </a:pPr>
            <a:r>
              <a:rPr lang="en-US" sz="2025" dirty="0">
                <a:solidFill>
                  <a:srgbClr val="20262D"/>
                </a:solidFill>
                <a:latin typeface="Arial" pitchFamily="34" charset="0"/>
                <a:ea typeface="Arial" pitchFamily="34" charset="-122"/>
                <a:cs typeface="Arial" pitchFamily="34" charset="-120"/>
              </a:rPr>
              <a:t>Severe underpredictions drop ≥ 25%</a:t>
            </a:r>
            <a:endParaRPr lang="en-US" sz="2025" dirty="0"/>
          </a:p>
        </p:txBody>
      </p:sp>
      <p:sp>
        <p:nvSpPr>
          <p:cNvPr id="7" name="Shape 5"/>
          <p:cNvSpPr/>
          <p:nvPr/>
        </p:nvSpPr>
        <p:spPr>
          <a:xfrm>
            <a:off x="1438275" y="5909370"/>
            <a:ext cx="7019925" cy="9525"/>
          </a:xfrm>
          <a:prstGeom prst="rect">
            <a:avLst/>
          </a:prstGeom>
          <a:solidFill>
            <a:srgbClr val="DDD6C7"/>
          </a:solidFill>
          <a:ln/>
        </p:spPr>
      </p:sp>
      <p:sp>
        <p:nvSpPr>
          <p:cNvPr id="8" name="Text 6"/>
          <p:cNvSpPr/>
          <p:nvPr/>
        </p:nvSpPr>
        <p:spPr>
          <a:xfrm>
            <a:off x="1438275" y="6109395"/>
            <a:ext cx="7230523" cy="70098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6F6A5F"/>
                </a:solidFill>
                <a:latin typeface="Arial" pitchFamily="34" charset="0"/>
                <a:ea typeface="Arial" pitchFamily="34" charset="-122"/>
                <a:cs typeface="Arial" pitchFamily="34" charset="-120"/>
              </a:rPr>
              <a:t>…and geometry stays ≤ 0.115 Å, bias not more negative, P95 not worse.</a:t>
            </a:r>
            <a:endParaRPr lang="en-US" sz="1800" dirty="0"/>
          </a:p>
        </p:txBody>
      </p:sp>
      <p:sp>
        <p:nvSpPr>
          <p:cNvPr id="9" name="Shape 7"/>
          <p:cNvSpPr/>
          <p:nvPr/>
        </p:nvSpPr>
        <p:spPr>
          <a:xfrm>
            <a:off x="9267825" y="3428107"/>
            <a:ext cx="7781925" cy="3696593"/>
          </a:xfrm>
          <a:prstGeom prst="roundRect">
            <a:avLst>
              <a:gd name="adj" fmla="val 2061"/>
            </a:avLst>
          </a:prstGeom>
          <a:solidFill>
            <a:srgbClr val="20262D"/>
          </a:solidFill>
          <a:ln/>
        </p:spPr>
      </p:sp>
      <p:sp>
        <p:nvSpPr>
          <p:cNvPr id="10" name="Text 8"/>
          <p:cNvSpPr/>
          <p:nvPr/>
        </p:nvSpPr>
        <p:spPr>
          <a:xfrm>
            <a:off x="9648825" y="3771007"/>
            <a:ext cx="7721918" cy="3238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E08A6F"/>
                </a:solidFill>
                <a:latin typeface="Courier New" pitchFamily="34" charset="0"/>
                <a:ea typeface="Courier New" pitchFamily="34" charset="-122"/>
                <a:cs typeface="Courier New" pitchFamily="34" charset="-120"/>
              </a:rPr>
              <a:t>REJECT — IF ANY ONE HOLDS</a:t>
            </a:r>
            <a:endParaRPr lang="en-US" sz="1725" dirty="0"/>
          </a:p>
        </p:txBody>
      </p:sp>
      <p:sp>
        <p:nvSpPr>
          <p:cNvPr id="11" name="Text 9"/>
          <p:cNvSpPr/>
          <p:nvPr/>
        </p:nvSpPr>
        <p:spPr>
          <a:xfrm>
            <a:off x="9697403" y="4247257"/>
            <a:ext cx="7047548" cy="1981200"/>
          </a:xfrm>
          <a:prstGeom prst="rect">
            <a:avLst/>
          </a:prstGeom>
          <a:noFill/>
          <a:ln/>
        </p:spPr>
        <p:txBody>
          <a:bodyPr wrap="square" lIns="25400" tIns="25400" rIns="25400" bIns="25400" rtlCol="0" anchor="t">
            <a:normAutofit/>
          </a:bodyPr>
          <a:lstStyle/>
          <a:p>
            <a:pPr algn="l" marL="180023" indent="-180023">
              <a:lnSpc>
                <a:spcPct val="130645"/>
              </a:lnSpc>
              <a:buSzPct val="100000"/>
              <a:buChar char="•"/>
              <a:tabLst>
                <a:tab pos="180023" algn="l"/>
              </a:tabLst>
            </a:pPr>
            <a:r>
              <a:rPr lang="en-US" sz="2025" dirty="0">
                <a:solidFill>
                  <a:srgbClr val="F2EDE1"/>
                </a:solidFill>
                <a:latin typeface="Arial" pitchFamily="34" charset="0"/>
                <a:ea typeface="Arial" pitchFamily="34" charset="-122"/>
                <a:cs typeface="Arial" pitchFamily="34" charset="-120"/>
              </a:rPr>
              <a:t>Gain comes only from overfitting train Ea</a:t>
            </a:r>
            <a:endParaRPr lang="en-US" sz="2025" dirty="0"/>
          </a:p>
          <a:p>
            <a:pPr algn="l" marL="180023" indent="-180023">
              <a:lnSpc>
                <a:spcPct val="130645"/>
              </a:lnSpc>
              <a:buSzPct val="100000"/>
              <a:buChar char="•"/>
              <a:tabLst>
                <a:tab pos="180023" algn="l"/>
              </a:tabLst>
            </a:pPr>
            <a:r>
              <a:rPr lang="en-US" sz="2025" dirty="0">
                <a:solidFill>
                  <a:srgbClr val="F2EDE1"/>
                </a:solidFill>
                <a:latin typeface="Arial" pitchFamily="34" charset="0"/>
                <a:ea typeface="Arial" pitchFamily="34" charset="-122"/>
                <a:cs typeface="Arial" pitchFamily="34" charset="-120"/>
              </a:rPr>
              <a:t>Validation geometry worsens materially</a:t>
            </a:r>
            <a:endParaRPr lang="en-US" sz="2025" dirty="0"/>
          </a:p>
          <a:p>
            <a:pPr algn="l" marL="180023" indent="-180023">
              <a:lnSpc>
                <a:spcPct val="130645"/>
              </a:lnSpc>
              <a:buSzPct val="100000"/>
              <a:buChar char="•"/>
              <a:tabLst>
                <a:tab pos="180023" algn="l"/>
              </a:tabLst>
            </a:pPr>
            <a:r>
              <a:rPr lang="en-US" sz="2025" dirty="0">
                <a:solidFill>
                  <a:srgbClr val="F2EDE1"/>
                </a:solidFill>
                <a:latin typeface="Arial" pitchFamily="34" charset="0"/>
                <a:ea typeface="Arial" pitchFamily="34" charset="-122"/>
                <a:cs typeface="Arial" pitchFamily="34" charset="-120"/>
              </a:rPr>
              <a:t>High-Ea underprediction is unchanged</a:t>
            </a:r>
            <a:endParaRPr lang="en-US" sz="2025" dirty="0"/>
          </a:p>
          <a:p>
            <a:pPr algn="l" marL="180023" indent="-180023">
              <a:lnSpc>
                <a:spcPct val="130645"/>
              </a:lnSpc>
              <a:buSzPct val="100000"/>
              <a:buChar char="•"/>
              <a:tabLst>
                <a:tab pos="180023" algn="l"/>
              </a:tabLst>
            </a:pPr>
            <a:r>
              <a:rPr lang="en-US" sz="2025" dirty="0">
                <a:solidFill>
                  <a:srgbClr val="F2EDE1"/>
                </a:solidFill>
                <a:latin typeface="Arial" pitchFamily="34" charset="0"/>
                <a:ea typeface="Arial" pitchFamily="34" charset="-122"/>
                <a:cs typeface="Arial" pitchFamily="34" charset="-120"/>
              </a:rPr>
              <a:t>Low-Ea cases become badly overpredicted</a:t>
            </a:r>
            <a:endParaRPr lang="en-US" sz="2025" dirty="0"/>
          </a:p>
        </p:txBody>
      </p:sp>
      <p:sp>
        <p:nvSpPr>
          <p:cNvPr id="12" name="Text 10"/>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13" name="Text 11"/>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26</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047750" y="876300"/>
            <a:ext cx="17811750" cy="3429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2F7A6F"/>
                </a:solidFill>
                <a:latin typeface="Courier New" pitchFamily="34" charset="0"/>
                <a:ea typeface="Courier New" pitchFamily="34" charset="-122"/>
                <a:cs typeface="Courier New" pitchFamily="34" charset="-120"/>
              </a:rPr>
              <a:t>SCALING DIRECTIONS</a:t>
            </a:r>
            <a:endParaRPr lang="en-US" sz="1800" dirty="0"/>
          </a:p>
        </p:txBody>
      </p:sp>
      <p:sp>
        <p:nvSpPr>
          <p:cNvPr id="3" name="Text 1"/>
          <p:cNvSpPr/>
          <p:nvPr/>
        </p:nvSpPr>
        <p:spPr>
          <a:xfrm>
            <a:off x="1047750" y="1428750"/>
            <a:ext cx="9339068" cy="1504057"/>
          </a:xfrm>
          <a:prstGeom prst="rect">
            <a:avLst/>
          </a:prstGeom>
          <a:noFill/>
          <a:ln/>
        </p:spPr>
        <p:txBody>
          <a:bodyPr wrap="square" lIns="25400" tIns="25400" rIns="25400" bIns="25400" rtlCol="0" anchor="t">
            <a:normAutofit/>
          </a:bodyPr>
          <a:lstStyle/>
          <a:p>
            <a:pPr algn="l" indent="0" marL="0">
              <a:lnSpc>
                <a:spcPct val="91619"/>
              </a:lnSpc>
              <a:buNone/>
            </a:pPr>
            <a:r>
              <a:rPr lang="en-US" sz="5550" b="1" spc="-55" kern="0" dirty="0">
                <a:solidFill>
                  <a:srgbClr val="20262D"/>
                </a:solidFill>
                <a:latin typeface="Georgia" pitchFamily="34" charset="0"/>
                <a:ea typeface="Georgia" pitchFamily="34" charset="-122"/>
                <a:cs typeface="Georgia" pitchFamily="34" charset="-120"/>
              </a:rPr>
              <a:t>Three levers beyond the loss function</a:t>
            </a:r>
            <a:endParaRPr lang="en-US" sz="5550" dirty="0"/>
          </a:p>
        </p:txBody>
      </p:sp>
      <p:sp>
        <p:nvSpPr>
          <p:cNvPr id="4" name="Shape 2"/>
          <p:cNvSpPr/>
          <p:nvPr/>
        </p:nvSpPr>
        <p:spPr>
          <a:xfrm>
            <a:off x="1047750" y="3504307"/>
            <a:ext cx="5079950" cy="2984897"/>
          </a:xfrm>
          <a:prstGeom prst="roundRect">
            <a:avLst>
              <a:gd name="adj" fmla="val 2553"/>
            </a:avLst>
          </a:prstGeom>
          <a:solidFill>
            <a:srgbClr val="FFFFFF"/>
          </a:solidFill>
          <a:ln w="9525">
            <a:solidFill>
              <a:srgbClr val="DDD6C7"/>
            </a:solidFill>
            <a:prstDash val="solid"/>
          </a:ln>
        </p:spPr>
      </p:sp>
      <p:sp>
        <p:nvSpPr>
          <p:cNvPr id="5" name="Text 3"/>
          <p:cNvSpPr/>
          <p:nvPr/>
        </p:nvSpPr>
        <p:spPr>
          <a:xfrm>
            <a:off x="1438275" y="3894832"/>
            <a:ext cx="4728790" cy="3238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2F7A6F"/>
                </a:solidFill>
                <a:latin typeface="Courier New" pitchFamily="34" charset="0"/>
                <a:ea typeface="Courier New" pitchFamily="34" charset="-122"/>
                <a:cs typeface="Courier New" pitchFamily="34" charset="-120"/>
              </a:rPr>
              <a:t>DATA</a:t>
            </a:r>
            <a:endParaRPr lang="en-US" sz="1725" dirty="0"/>
          </a:p>
        </p:txBody>
      </p:sp>
      <p:sp>
        <p:nvSpPr>
          <p:cNvPr id="6" name="Text 4"/>
          <p:cNvSpPr/>
          <p:nvPr/>
        </p:nvSpPr>
        <p:spPr>
          <a:xfrm>
            <a:off x="1438275" y="4332982"/>
            <a:ext cx="4427867" cy="9144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20262D"/>
                </a:solidFill>
                <a:latin typeface="Georgia" pitchFamily="34" charset="0"/>
                <a:ea typeface="Georgia" pitchFamily="34" charset="-122"/>
                <a:cs typeface="Georgia" pitchFamily="34" charset="-120"/>
              </a:rPr>
              <a:t>More reactions, more elements</a:t>
            </a:r>
            <a:endParaRPr lang="en-US" sz="3000" dirty="0"/>
          </a:p>
        </p:txBody>
      </p:sp>
      <p:sp>
        <p:nvSpPr>
          <p:cNvPr id="7" name="Text 5"/>
          <p:cNvSpPr/>
          <p:nvPr/>
        </p:nvSpPr>
        <p:spPr>
          <a:xfrm>
            <a:off x="1438275" y="5380732"/>
            <a:ext cx="4427867" cy="756047"/>
          </a:xfrm>
          <a:prstGeom prst="rect">
            <a:avLst/>
          </a:prstGeom>
          <a:noFill/>
          <a:ln/>
        </p:spPr>
        <p:txBody>
          <a:bodyPr wrap="square" lIns="25400" tIns="25400" rIns="25400" bIns="25400" rtlCol="0" anchor="t">
            <a:normAutofit/>
          </a:bodyPr>
          <a:lstStyle/>
          <a:p>
            <a:pPr algn="l" indent="0" marL="0">
              <a:lnSpc>
                <a:spcPct val="121613"/>
              </a:lnSpc>
              <a:buNone/>
            </a:pPr>
            <a:r>
              <a:rPr lang="en-US" sz="1950" dirty="0">
                <a:solidFill>
                  <a:srgbClr val="6F6A5F"/>
                </a:solidFill>
                <a:latin typeface="Arial" pitchFamily="34" charset="0"/>
                <a:ea typeface="Arial" pitchFamily="34" charset="-122"/>
                <a:cs typeface="Arial" pitchFamily="34" charset="-120"/>
              </a:rPr>
              <a:t>Extend past C/H/N/O and 30-atom cap toward larger, more diverse chemistry.</a:t>
            </a:r>
            <a:endParaRPr lang="en-US" sz="1950" dirty="0"/>
          </a:p>
        </p:txBody>
      </p:sp>
      <p:sp>
        <p:nvSpPr>
          <p:cNvPr id="8" name="Shape 6"/>
          <p:cNvSpPr/>
          <p:nvPr/>
        </p:nvSpPr>
        <p:spPr>
          <a:xfrm>
            <a:off x="6413450" y="3504307"/>
            <a:ext cx="5079950" cy="2984897"/>
          </a:xfrm>
          <a:prstGeom prst="roundRect">
            <a:avLst>
              <a:gd name="adj" fmla="val 2553"/>
            </a:avLst>
          </a:prstGeom>
          <a:solidFill>
            <a:srgbClr val="FFFFFF"/>
          </a:solidFill>
          <a:ln w="9525">
            <a:solidFill>
              <a:srgbClr val="DDD6C7"/>
            </a:solidFill>
            <a:prstDash val="solid"/>
          </a:ln>
        </p:spPr>
      </p:sp>
      <p:sp>
        <p:nvSpPr>
          <p:cNvPr id="9" name="Text 7"/>
          <p:cNvSpPr/>
          <p:nvPr/>
        </p:nvSpPr>
        <p:spPr>
          <a:xfrm>
            <a:off x="6803975" y="3894832"/>
            <a:ext cx="4728790" cy="3238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2F7A6F"/>
                </a:solidFill>
                <a:latin typeface="Courier New" pitchFamily="34" charset="0"/>
                <a:ea typeface="Courier New" pitchFamily="34" charset="-122"/>
                <a:cs typeface="Courier New" pitchFamily="34" charset="-120"/>
              </a:rPr>
              <a:t>COMPUTE</a:t>
            </a:r>
            <a:endParaRPr lang="en-US" sz="1725" dirty="0"/>
          </a:p>
        </p:txBody>
      </p:sp>
      <p:sp>
        <p:nvSpPr>
          <p:cNvPr id="10" name="Text 8"/>
          <p:cNvSpPr/>
          <p:nvPr/>
        </p:nvSpPr>
        <p:spPr>
          <a:xfrm>
            <a:off x="6803975" y="4332982"/>
            <a:ext cx="4728790" cy="47625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20262D"/>
                </a:solidFill>
                <a:latin typeface="Georgia" pitchFamily="34" charset="0"/>
                <a:ea typeface="Georgia" pitchFamily="34" charset="-122"/>
                <a:cs typeface="Georgia" pitchFamily="34" charset="-120"/>
              </a:rPr>
              <a:t>Cloud training pipeline</a:t>
            </a:r>
            <a:endParaRPr lang="en-US" sz="3000" dirty="0"/>
          </a:p>
        </p:txBody>
      </p:sp>
      <p:sp>
        <p:nvSpPr>
          <p:cNvPr id="11" name="Text 9"/>
          <p:cNvSpPr/>
          <p:nvPr/>
        </p:nvSpPr>
        <p:spPr>
          <a:xfrm>
            <a:off x="6803975" y="4942582"/>
            <a:ext cx="4427867" cy="1115020"/>
          </a:xfrm>
          <a:prstGeom prst="rect">
            <a:avLst/>
          </a:prstGeom>
          <a:noFill/>
          <a:ln/>
        </p:spPr>
        <p:txBody>
          <a:bodyPr wrap="square" lIns="25400" tIns="25400" rIns="25400" bIns="25400" rtlCol="0" anchor="t">
            <a:normAutofit/>
          </a:bodyPr>
          <a:lstStyle/>
          <a:p>
            <a:pPr algn="l" indent="0" marL="0">
              <a:lnSpc>
                <a:spcPct val="121613"/>
              </a:lnSpc>
              <a:buNone/>
            </a:pPr>
            <a:r>
              <a:rPr lang="en-US" sz="1950" dirty="0">
                <a:solidFill>
                  <a:srgbClr val="6F6A5F"/>
                </a:solidFill>
                <a:latin typeface="Arial" pitchFamily="34" charset="0"/>
                <a:ea typeface="Arial" pitchFamily="34" charset="-122"/>
                <a:cs typeface="Arial" pitchFamily="34" charset="-120"/>
              </a:rPr>
              <a:t>Lift the local CPU-featurization and batch-size ceiling; the cloud variant already exists.</a:t>
            </a:r>
            <a:endParaRPr lang="en-US" sz="1950" dirty="0"/>
          </a:p>
        </p:txBody>
      </p:sp>
      <p:sp>
        <p:nvSpPr>
          <p:cNvPr id="12" name="Shape 10"/>
          <p:cNvSpPr/>
          <p:nvPr/>
        </p:nvSpPr>
        <p:spPr>
          <a:xfrm>
            <a:off x="11779151" y="3504307"/>
            <a:ext cx="5079950" cy="2984897"/>
          </a:xfrm>
          <a:prstGeom prst="roundRect">
            <a:avLst>
              <a:gd name="adj" fmla="val 2553"/>
            </a:avLst>
          </a:prstGeom>
          <a:solidFill>
            <a:srgbClr val="20262D"/>
          </a:solidFill>
          <a:ln/>
        </p:spPr>
      </p:sp>
      <p:sp>
        <p:nvSpPr>
          <p:cNvPr id="13" name="Text 11"/>
          <p:cNvSpPr/>
          <p:nvPr/>
        </p:nvSpPr>
        <p:spPr>
          <a:xfrm>
            <a:off x="12160151" y="3885307"/>
            <a:ext cx="4749745" cy="32385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C08A3E"/>
                </a:solidFill>
                <a:latin typeface="Courier New" pitchFamily="34" charset="0"/>
                <a:ea typeface="Courier New" pitchFamily="34" charset="-122"/>
                <a:cs typeface="Courier New" pitchFamily="34" charset="-120"/>
              </a:rPr>
              <a:t>MODEL</a:t>
            </a:r>
            <a:endParaRPr lang="en-US" sz="1725" dirty="0"/>
          </a:p>
        </p:txBody>
      </p:sp>
      <p:sp>
        <p:nvSpPr>
          <p:cNvPr id="14" name="Text 12"/>
          <p:cNvSpPr/>
          <p:nvPr/>
        </p:nvSpPr>
        <p:spPr>
          <a:xfrm>
            <a:off x="12160151" y="4323457"/>
            <a:ext cx="4447489" cy="9144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F2EDE1"/>
                </a:solidFill>
                <a:latin typeface="Georgia" pitchFamily="34" charset="0"/>
                <a:ea typeface="Georgia" pitchFamily="34" charset="-122"/>
                <a:cs typeface="Georgia" pitchFamily="34" charset="-120"/>
              </a:rPr>
              <a:t>Swarm mixture-of-experts</a:t>
            </a:r>
            <a:endParaRPr lang="en-US" sz="3000" dirty="0"/>
          </a:p>
        </p:txBody>
      </p:sp>
      <p:sp>
        <p:nvSpPr>
          <p:cNvPr id="15" name="Text 13"/>
          <p:cNvSpPr/>
          <p:nvPr/>
        </p:nvSpPr>
        <p:spPr>
          <a:xfrm>
            <a:off x="12160151" y="5371207"/>
            <a:ext cx="4447489" cy="756047"/>
          </a:xfrm>
          <a:prstGeom prst="rect">
            <a:avLst/>
          </a:prstGeom>
          <a:noFill/>
          <a:ln/>
        </p:spPr>
        <p:txBody>
          <a:bodyPr wrap="square" lIns="25400" tIns="25400" rIns="25400" bIns="25400" rtlCol="0" anchor="t">
            <a:normAutofit/>
          </a:bodyPr>
          <a:lstStyle/>
          <a:p>
            <a:pPr algn="l" indent="0" marL="0">
              <a:lnSpc>
                <a:spcPct val="121613"/>
              </a:lnSpc>
              <a:buNone/>
            </a:pPr>
            <a:r>
              <a:rPr lang="en-US" sz="1950" dirty="0">
                <a:solidFill>
                  <a:srgbClr val="A9A396"/>
                </a:solidFill>
                <a:latin typeface="Arial" pitchFamily="34" charset="0"/>
                <a:ea typeface="Arial" pitchFamily="34" charset="-122"/>
                <a:cs typeface="Arial" pitchFamily="34" charset="-120"/>
              </a:rPr>
              <a:t>Specialize experts per reaction family to attack the hard classes directly.</a:t>
            </a:r>
            <a:endParaRPr lang="en-US" sz="1950" dirty="0"/>
          </a:p>
        </p:txBody>
      </p:sp>
      <p:sp>
        <p:nvSpPr>
          <p:cNvPr id="16" name="Text 14"/>
          <p:cNvSpPr/>
          <p:nvPr/>
        </p:nvSpPr>
        <p:spPr>
          <a:xfrm>
            <a:off x="1047750" y="9686925"/>
            <a:ext cx="5117276" cy="295275"/>
          </a:xfrm>
          <a:prstGeom prst="rect">
            <a:avLst/>
          </a:prstGeom>
          <a:noFill/>
          <a:ln/>
        </p:spPr>
        <p:txBody>
          <a:bodyPr wrap="square" lIns="25400" tIns="25400" rIns="25400" bIns="25400" rtlCol="0" anchor="t">
            <a:normAutofit/>
          </a:bodyPr>
          <a:lstStyle/>
          <a:p>
            <a:pPr algn="l" indent="0" marL="0">
              <a:buNone/>
            </a:pPr>
            <a:r>
              <a:rPr lang="en-US" sz="1500" spc="210" kern="0" dirty="0">
                <a:solidFill>
                  <a:srgbClr val="6F6A5F"/>
                </a:solidFill>
                <a:latin typeface="Courier New" pitchFamily="34" charset="0"/>
                <a:ea typeface="Courier New" pitchFamily="34" charset="-122"/>
                <a:cs typeface="Courier New" pitchFamily="34" charset="-120"/>
              </a:rPr>
              <a:t>PSI · TRANSITION-STATE PREDICTION</a:t>
            </a:r>
            <a:endParaRPr lang="en-US" sz="1500" dirty="0"/>
          </a:p>
        </p:txBody>
      </p:sp>
      <p:sp>
        <p:nvSpPr>
          <p:cNvPr id="17" name="Text 15"/>
          <p:cNvSpPr/>
          <p:nvPr/>
        </p:nvSpPr>
        <p:spPr>
          <a:xfrm>
            <a:off x="16973550" y="9686925"/>
            <a:ext cx="3429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6F6A5F"/>
                </a:solidFill>
                <a:latin typeface="Courier New" pitchFamily="34" charset="0"/>
                <a:ea typeface="Courier New" pitchFamily="34" charset="-122"/>
                <a:cs typeface="Courier New" pitchFamily="34" charset="-120"/>
              </a:rPr>
              <a:t>27</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2026-07-17T02:03:49Z</dcterms:created>
  <dcterms:modified xsi:type="dcterms:W3CDTF">2026-07-17T02:03:49Z</dcterms:modified>
</cp:coreProperties>
</file>